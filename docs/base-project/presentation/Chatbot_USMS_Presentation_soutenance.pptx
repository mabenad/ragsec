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Calibri (MS)" charset="1" panose="020F0502020204030204"/>
      <p:regular r:id="rId45"/>
    </p:embeddedFont>
    <p:embeddedFont>
      <p:font typeface="Calibri (MS) Bold" charset="1" panose="020F0702030404030204"/>
      <p:regular r:id="rId46"/>
    </p:embeddedFont>
    <p:embeddedFont>
      <p:font typeface="Open Sans" charset="1" panose="020B0606030504020204"/>
      <p:regular r:id="rId49"/>
    </p:embeddedFont>
    <p:embeddedFont>
      <p:font typeface="Calibri (MS) Italics" charset="1" panose="020F05020202040A0204"/>
      <p:regular r:id="rId52"/>
    </p:embeddedFont>
    <p:embeddedFont>
      <p:font typeface="Consolas Bold" charset="1" panose="020B0709020204030204"/>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notesMaster" Target="notesMasters/notesMaster1.xml"/><Relationship Id="rId43" Type="http://schemas.openxmlformats.org/officeDocument/2006/relationships/theme" Target="theme/theme2.xml"/><Relationship Id="rId44" Type="http://schemas.openxmlformats.org/officeDocument/2006/relationships/notesSlide" Target="notesSlides/notesSlide1.xml"/><Relationship Id="rId45" Type="http://schemas.openxmlformats.org/officeDocument/2006/relationships/font" Target="fonts/font45.fntdata"/><Relationship Id="rId46" Type="http://schemas.openxmlformats.org/officeDocument/2006/relationships/font" Target="fonts/font46.fntdata"/><Relationship Id="rId47" Type="http://schemas.openxmlformats.org/officeDocument/2006/relationships/notesSlide" Target="notesSlides/notesSlide2.xml"/><Relationship Id="rId48" Type="http://schemas.openxmlformats.org/officeDocument/2006/relationships/notesSlide" Target="notesSlides/notesSlide3.xml"/><Relationship Id="rId49" Type="http://schemas.openxmlformats.org/officeDocument/2006/relationships/font" Target="fonts/font49.fntdata"/><Relationship Id="rId50" Type="http://schemas.openxmlformats.org/officeDocument/2006/relationships/notesSlide" Target="notesSlides/notesSlide4.xml"/><Relationship Id="rId51" Type="http://schemas.openxmlformats.org/officeDocument/2006/relationships/notesSlide" Target="notesSlides/notesSlide5.xml"/><Relationship Id="rId52" Type="http://schemas.openxmlformats.org/officeDocument/2006/relationships/font" Target="fonts/font52.fntdata"/><Relationship Id="rId53" Type="http://schemas.openxmlformats.org/officeDocument/2006/relationships/notesSlide" Target="notesSlides/notesSlide6.xml"/><Relationship Id="rId54" Type="http://schemas.openxmlformats.org/officeDocument/2006/relationships/notesSlide" Target="notesSlides/notesSlide7.xml"/><Relationship Id="rId55" Type="http://schemas.openxmlformats.org/officeDocument/2006/relationships/notesSlide" Target="notesSlides/notesSlide8.xml"/><Relationship Id="rId56" Type="http://schemas.openxmlformats.org/officeDocument/2006/relationships/notesSlide" Target="notesSlides/notesSlide9.xml"/><Relationship Id="rId57" Type="http://schemas.openxmlformats.org/officeDocument/2006/relationships/notesSlide" Target="notesSlides/notesSlide10.xml"/><Relationship Id="rId58" Type="http://schemas.openxmlformats.org/officeDocument/2006/relationships/notesSlide" Target="notesSlides/notesSlide11.xml"/><Relationship Id="rId59" Type="http://schemas.openxmlformats.org/officeDocument/2006/relationships/notesSlide" Target="notesSlides/notesSlide12.xml"/><Relationship Id="rId60" Type="http://schemas.openxmlformats.org/officeDocument/2006/relationships/notesSlide" Target="notesSlides/notesSlide13.xml"/><Relationship Id="rId61" Type="http://schemas.openxmlformats.org/officeDocument/2006/relationships/notesSlide" Target="notesSlides/notesSlide14.xml"/><Relationship Id="rId62" Type="http://schemas.openxmlformats.org/officeDocument/2006/relationships/notesSlide" Target="notesSlides/notesSlide15.xml"/><Relationship Id="rId63" Type="http://schemas.openxmlformats.org/officeDocument/2006/relationships/notesSlide" Target="notesSlides/notesSlide16.xml"/><Relationship Id="rId64" Type="http://schemas.openxmlformats.org/officeDocument/2006/relationships/font" Target="fonts/font64.fntdata"/><Relationship Id="rId65" Type="http://schemas.openxmlformats.org/officeDocument/2006/relationships/notesSlide" Target="notesSlides/notesSlide17.xml"/><Relationship Id="rId66" Type="http://schemas.openxmlformats.org/officeDocument/2006/relationships/notesSlide" Target="notesSlides/notesSlide18.xml"/><Relationship Id="rId67" Type="http://schemas.openxmlformats.org/officeDocument/2006/relationships/notesSlide" Target="notesSlides/notesSlide19.xml"/><Relationship Id="rId68" Type="http://schemas.openxmlformats.org/officeDocument/2006/relationships/notesSlide" Target="notesSlides/notesSlide20.xml"/><Relationship Id="rId69" Type="http://schemas.openxmlformats.org/officeDocument/2006/relationships/notesSlide" Target="notesSlides/notesSlide21.xml"/><Relationship Id="rId70" Type="http://schemas.openxmlformats.org/officeDocument/2006/relationships/notesSlide" Target="notesSlides/notesSlide22.xml"/><Relationship Id="rId71" Type="http://schemas.openxmlformats.org/officeDocument/2006/relationships/notesSlide" Target="notesSlides/notesSlide23.xml"/><Relationship Id="rId72" Type="http://schemas.openxmlformats.org/officeDocument/2006/relationships/notesSlide" Target="notesSlides/notesSlide24.xml"/><Relationship Id="rId73" Type="http://schemas.openxmlformats.org/officeDocument/2006/relationships/notesSlide" Target="notesSlides/notesSlide25.xml"/><Relationship Id="rId74" Type="http://schemas.openxmlformats.org/officeDocument/2006/relationships/notesSlide" Target="notesSlides/notesSlide26.xml"/><Relationship Id="rId75" Type="http://schemas.openxmlformats.org/officeDocument/2006/relationships/notesSlide" Target="notesSlides/notesSlide27.xml"/><Relationship Id="rId76" Type="http://schemas.openxmlformats.org/officeDocument/2006/relationships/notesSlide" Target="notesSlides/notesSlide28.xml"/><Relationship Id="rId77" Type="http://schemas.openxmlformats.org/officeDocument/2006/relationships/notesSlide" Target="notesSlides/notesSlide29.xml"/><Relationship Id="rId78" Type="http://schemas.openxmlformats.org/officeDocument/2006/relationships/notesSlide" Target="notesSlides/notesSlide30.xml"/><Relationship Id="rId79" Type="http://schemas.openxmlformats.org/officeDocument/2006/relationships/notesSlide" Target="notesSlides/notesSlide31.xml"/><Relationship Id="rId80" Type="http://schemas.openxmlformats.org/officeDocument/2006/relationships/notesSlide" Target="notesSlides/notesSlide32.xml"/><Relationship Id="rId81" Type="http://schemas.openxmlformats.org/officeDocument/2006/relationships/notesSlide" Target="notesSlides/notesSlide33.xml"/><Relationship Id="rId82" Type="http://schemas.openxmlformats.org/officeDocument/2006/relationships/notesSlide" Target="notesSlides/notesSlide34.xml"/><Relationship Id="rId83" Type="http://schemas.openxmlformats.org/officeDocument/2006/relationships/notesSlide" Target="notesSlides/notesSlide35.xml"/><Relationship Id="rId84" Type="http://schemas.openxmlformats.org/officeDocument/2006/relationships/notesSlide" Target="notesSlides/not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de titre. Saluez le jury, présentez-vous (Richard &amp; Marius-Ben), nommez l'encadrant Prof. ELBAGHAZAOUI, et annoncez le sujet : un chatbot universitaire intelligent réalisé dans le cadre du PFA de la filière IACS à l'ENSA Béni Mellal.</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Présentez brièvement les 7 grandes parties. Annoncez que vous allez du contexte au déploiement en passant par l'architecture, le RAG et la sécurité.</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projet s'inscrit dans la digitalisation des services universitaires. Il combine deux axes phares de la filière IACS : l'IA et la cybersécurité. C'est un cas concret pour mettre en pratique nos acquis.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L'information existe mais elle est dispersée. Les étudiants posent les mêmes questions, les services y répondent à chaque fois. Notre objectif : un point d'entrée unique et intelligent.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Six objectifs principaux. Insistez sur la dualité IA (RAG, chatbot, multilingue) et cybersécurité (RBAC, JWT, RGPD) en cohérence avec la filière IACS.</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Deux acteurs : l'étudiant qui consomme l'information et l'admin qui la pilote. Chacun a un espace dédié avec des permissions strictes (RBAC).</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L'utilisateur passe par Next.js qui communique avec FastAPI. Le backend orchestre PostgreSQL (données), Redis (cache), Qdrant (vecteurs) et Groq Cloud (LLM). Tout est conteneurisé.</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frontend : Next.js avec App Router pour le SSR, TypeScript pour la fiabilité, Tailwind pour le style et le support RTL, Zustand pour l'état global, et i18next pour les trois langues.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backend : FastAPI en async, PostgreSQL pour la persistance, Redis pour le cache, Qdrant pour la recherche vectorielle, et Groq Cloud pour le LLM. Cinq briques bien séparées.</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Quelques chiffres pour donner l'échelle. 6 000 lignes de code, 56 tests automatisés validés en CI, 5 services Docker, 3 langues. C'est un projet de taille consistante.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RAG résout deux problèmes du LLM seul : les hallucinations et l'obsolescence. En injectant des extraits documentaires dans le prompt, on garde le contrôle du contenu généré.</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Cinq étapes pour traiter une question. La traduction vers le français est importante car le corpus FAQ est en français. La classification permet de pondérer les résultats. La recherche se replie sur du lexical si Qdrant tombe.</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Trois niveaux de confiance basés sur la similarité cosinus. Le score est affiché à l'étudiant pour qu'il sache à quel point la réponse est sûre. C'est une bonne pratique de transparence.</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cache est crucial pour la performance. L1 détecte la même question reformulée à l'identique. L2 détecte les paraphrases via vecteurs. Le cache est contourné quand la réponse doit être fraîche (emploi du temps, conversation contextuelle).</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Point important : les emplois du temps ne passent jamais par le LLM en mode génératif. On extrait les créneaux depuis PostgreSQL et on demande seulement au LLM de reformuler joliment. Zéro risque d'horaire inventé.</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Quatre mesures pour l'authentification. Insistez sur les JWT à courte durée et le cookie HttpOnly qui empêche le vol par XSS. Le verrouillage protège contre les attaques par force brute.</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Quatre catégories de menaces traitées. L'injection de prompt est spécifique au LLM : on filtre les motifs malveillants. Le RBAC est appliqué côté backend pour chaque route. SlowAPI limite le débit pour éviter les abus.</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Six articles RGPD traités. Insistez sur le masquage des PII avant envoi à Groq (cloud externe) : les emails et téléphones sont remplacés par [EMAIL] et [PHONE]. C'est une vraie protection.</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backend est découpé en services. Chacun a une responsabilité unique : auth, base, routage, RAG, LLM, cache. Cela facilite les tests et la maintenance.</a:t>
            </a:r>
          </a:p>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frontend offre une expérience proche d'un chatbot commercial : streaming, historique, feedback. La gestion du RTL pour l'arabe est complète (alignement, sens de lecture).</a:t>
            </a:r>
          </a:p>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L'admin pilote tout depuis un dashboard : statistiques, contenu FAQ, emplois du temps, gestion des utilisateurs, maintenance. Aucune intervention sur le code pour mettre à jour le contenu.</a:t>
            </a:r>
          </a:p>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56 tests automatisés répartis sur 6 modules. La suite tourne sur SQLite en mémoire pour être indépendante de l'environnement. Chaque push GitHub déclenche le pipeline complet.</a:t>
            </a:r>
          </a:p>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pipeline garantit la non-régression. Toutes les modifications du code source sont validées automatiquement avant intégration. C'est une pratique professionnelle.</a:t>
            </a:r>
          </a:p>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déploiement se résume à une seule commande Docker. Cinq services orchestrés. Les données PostgreSQL et Qdrant sont persistées dans des volumes nommés. Reproductible sur n'importe quelle machine.</a:t>
            </a:r>
          </a:p>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Tous les objectifs fonctionnels initiaux sont atteints. La qualité des réponses dépend bien sûr du corpus FAQ : plus il est riche, meilleures sont les réponses.</a:t>
            </a:r>
          </a:p>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Soyez honnête sur les limites. Ce sont des points connus, documentés, qui correspondent à un projet académique et non à une mise en production institutionnelle.</a:t>
            </a:r>
          </a:p>
          <a:p>
            <a:r>
              <a:rPr lang="en-US"/>
              <a:t>33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 perspectives concrètes pour faire évoluer le projet vers une vraie mise en production. Cela montre que vous avez une vision claire de la suite.</a:t>
            </a:r>
          </a:p>
          <a:p>
            <a:r>
              <a:rPr lang="en-US"/>
              <a:t>34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Conclusion. Reprenez les 5 réalisations clés. Remerciez le jury pour l'attention et l'encadrant pour l'accompagnement. Invitez les questions.</a:t>
            </a:r>
          </a:p>
          <a:p>
            <a:r>
              <a:rPr lang="en-US"/>
              <a:t>35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Dernière slide. Indiquez que toutes les sources sont des documentations officielles consultées en mai 2026.</a:t>
            </a:r>
          </a:p>
          <a:p>
            <a:r>
              <a:rPr lang="en-US"/>
              <a:t>36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e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jpe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7.png"/><Relationship Id="rId8"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jpe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jpe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jpeg"/><Relationship Id="rId4" Type="http://schemas.openxmlformats.org/officeDocument/2006/relationships/image" Target="../media/image24.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jpe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25.png"/><Relationship Id="rId7" Type="http://schemas.openxmlformats.org/officeDocument/2006/relationships/image" Target="../media/image9.png"/><Relationship Id="rId8"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jpe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jpe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jpeg"/><Relationship Id="rId4" Type="http://schemas.openxmlformats.org/officeDocument/2006/relationships/image" Target="../media/image29.png"/><Relationship Id="rId5" Type="http://schemas.openxmlformats.org/officeDocument/2006/relationships/image" Target="../media/image16.png"/><Relationship Id="rId6" Type="http://schemas.openxmlformats.org/officeDocument/2006/relationships/image" Target="../media/image12.png"/><Relationship Id="rId7"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jpe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jpe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00584"/>
          </a:xfrm>
          <a:prstGeom prst="rect">
            <a:avLst/>
          </a:prstGeom>
          <a:solidFill>
            <a:srgbClr val="2D6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10287000"/>
          </a:xfrm>
          <a:prstGeom prst="rect">
            <a:avLst/>
          </a:prstGeom>
          <a:solidFill>
            <a:srgbClr val="10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93808"/>
            <a:ext cx="18288000" cy="393192"/>
          </a:xfrm>
          <a:prstGeom prst="rect">
            <a:avLst/>
          </a:prstGeom>
          <a:solidFill>
            <a:srgbClr val="0A1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93040" y="1152144"/>
            <a:ext cx="4480560" cy="4480560"/>
          </a:xfrm>
          <a:prstGeom prst="ellipse">
            <a:avLst/>
          </a:prstGeom>
          <a:solidFill>
            <a:srgbClr val="EBF3FF"/>
          </a:solidFill>
          <a:ln w="20320">
            <a:solidFill>
              <a:srgbClr val="2D6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2417552" y="5138928"/>
            <a:ext cx="1188720" cy="804672"/>
          </a:xfrm>
          <a:prstGeom prst="arc">
            <a:avLst/>
          </a:prstGeom>
          <a:solidFill>
            <a:srgbClr val="EBF3FF"/>
          </a:solidFill>
          <a:ln w="20320">
            <a:solidFill>
              <a:srgbClr val="2D6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9802368"/>
            <a:ext cx="18123408" cy="484632"/>
          </a:xfrm>
          <a:prstGeom prst="rect">
            <a:avLst/>
          </a:prstGeom>
          <a:solidFill>
            <a:srgbClr val="2D6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310896"/>
            <a:ext cx="4526280" cy="786384"/>
          </a:xfrm>
          <a:prstGeom prst="roundRect">
            <a:avLst/>
          </a:prstGeom>
          <a:solidFill>
            <a:srgbClr val="FFFFFF"/>
          </a:solidFill>
          <a:ln w="12700">
            <a:solidFill>
              <a:srgbClr val="D4E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6"/>
          <a:stretch>
            <a:fillRect/>
          </a:stretch>
        </p:blipFill>
        <p:spPr>
          <a:xfrm>
            <a:off x="822960" y="393192"/>
            <a:ext cx="4160520" cy="603504"/>
          </a:xfrm>
          <a:prstGeom prst="rect">
            <a:avLst/>
          </a:prstGeom>
        </p:spPr>
      </p:pic>
      <p:sp>
        <p:nvSpPr>
          <p:cNvPr id="11" name="TextBox 10"/>
          <p:cNvSpPr txBox="1"/>
          <p:nvPr/>
        </p:nvSpPr>
        <p:spPr>
          <a:xfrm>
            <a:off x="5577840" y="502920"/>
            <a:ext cx="6492240" cy="201168"/>
          </a:xfrm>
          <a:prstGeom prst="rect">
            <a:avLst/>
          </a:prstGeom>
          <a:noFill/>
        </p:spPr>
        <p:txBody>
          <a:bodyPr wrap="square" anchor="t" lIns="0" rIns="0" tIns="0" bIns="0">
            <a:spAutoFit/>
          </a:bodyPr>
          <a:lstStyle/>
          <a:p>
            <a:pPr algn="l"/>
            <a:r>
              <a:rPr sz="1300" b="0" i="0">
                <a:solidFill>
                  <a:srgbClr val="5B6982"/>
                </a:solidFill>
                <a:latin typeface="Aptos"/>
              </a:rPr>
              <a:t>Filière IACS - Intelligence Artificielle et Cybersécurité</a:t>
            </a:r>
          </a:p>
        </p:txBody>
      </p:sp>
      <p:sp>
        <p:nvSpPr>
          <p:cNvPr id="12" name="Rounded Rectangle 11"/>
          <p:cNvSpPr/>
          <p:nvPr/>
        </p:nvSpPr>
        <p:spPr>
          <a:xfrm>
            <a:off x="13761720" y="329184"/>
            <a:ext cx="3520440" cy="493776"/>
          </a:xfrm>
          <a:prstGeom prst="roundRect">
            <a:avLst/>
          </a:prstGeom>
          <a:solidFill>
            <a:srgbClr val="2D6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61720" y="457200"/>
            <a:ext cx="3520440" cy="109728"/>
          </a:xfrm>
          <a:prstGeom prst="rect">
            <a:avLst/>
          </a:prstGeom>
          <a:noFill/>
        </p:spPr>
        <p:txBody>
          <a:bodyPr wrap="square" anchor="t" lIns="0" rIns="0" tIns="0" bIns="0">
            <a:spAutoFit/>
          </a:bodyPr>
          <a:lstStyle/>
          <a:p>
            <a:pPr algn="ctr"/>
            <a:r>
              <a:rPr sz="1300" b="1" i="0">
                <a:solidFill>
                  <a:srgbClr val="FFFFFF"/>
                </a:solidFill>
                <a:latin typeface="Aptos"/>
              </a:rPr>
              <a:t>Projet de Fin d'Année 2025 - 2026</a:t>
            </a:r>
          </a:p>
        </p:txBody>
      </p:sp>
      <p:sp>
        <p:nvSpPr>
          <p:cNvPr id="14" name="TextBox 13"/>
          <p:cNvSpPr txBox="1"/>
          <p:nvPr/>
        </p:nvSpPr>
        <p:spPr>
          <a:xfrm>
            <a:off x="1005840" y="1874519"/>
            <a:ext cx="10789920" cy="896112"/>
          </a:xfrm>
          <a:prstGeom prst="rect">
            <a:avLst/>
          </a:prstGeom>
          <a:noFill/>
        </p:spPr>
        <p:txBody>
          <a:bodyPr wrap="square" anchor="t" lIns="0" rIns="0" tIns="0" bIns="0">
            <a:spAutoFit/>
          </a:bodyPr>
          <a:lstStyle/>
          <a:p>
            <a:pPr algn="l"/>
            <a:r>
              <a:rPr sz="6200" b="1" i="0">
                <a:solidFill>
                  <a:srgbClr val="0A1D4A"/>
                </a:solidFill>
                <a:latin typeface="Aptos"/>
              </a:rPr>
              <a:t>Chatbot USMS</a:t>
            </a:r>
          </a:p>
        </p:txBody>
      </p:sp>
      <p:sp>
        <p:nvSpPr>
          <p:cNvPr id="15" name="Rectangle 14"/>
          <p:cNvSpPr/>
          <p:nvPr/>
        </p:nvSpPr>
        <p:spPr>
          <a:xfrm>
            <a:off x="1042415" y="3044952"/>
            <a:ext cx="1783080" cy="73152"/>
          </a:xfrm>
          <a:prstGeom prst="rect">
            <a:avLst/>
          </a:prstGeom>
          <a:solidFill>
            <a:srgbClr val="10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61488" y="3044952"/>
            <a:ext cx="8778240" cy="73152"/>
          </a:xfrm>
          <a:prstGeom prst="rect">
            <a:avLst/>
          </a:prstGeom>
          <a:solidFill>
            <a:srgbClr val="2D6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5" y="3328416"/>
            <a:ext cx="8915400" cy="566928"/>
          </a:xfrm>
          <a:prstGeom prst="rect">
            <a:avLst/>
          </a:prstGeom>
          <a:noFill/>
        </p:spPr>
        <p:txBody>
          <a:bodyPr wrap="square" anchor="t" lIns="0" rIns="0" tIns="0" bIns="0">
            <a:spAutoFit/>
          </a:bodyPr>
          <a:lstStyle/>
          <a:p>
            <a:pPr algn="l"/>
            <a:r>
              <a:rPr sz="1600" b="0" i="1">
                <a:solidFill>
                  <a:srgbClr val="11244A"/>
                </a:solidFill>
                <a:latin typeface="Aptos"/>
              </a:rPr>
              <a:t>Conception et réalisation d'un assistant conversationnel intelligent
pour l'assistance universitaire à l'ENSA Béni Mellal</a:t>
            </a:r>
          </a:p>
        </p:txBody>
      </p:sp>
      <p:sp>
        <p:nvSpPr>
          <p:cNvPr id="18" name="Rounded Rectangle 17"/>
          <p:cNvSpPr/>
          <p:nvPr/>
        </p:nvSpPr>
        <p:spPr>
          <a:xfrm>
            <a:off x="1042415" y="4315968"/>
            <a:ext cx="10287000" cy="960120"/>
          </a:xfrm>
          <a:prstGeom prst="roundRect">
            <a:avLst/>
          </a:prstGeom>
          <a:solidFill>
            <a:srgbClr val="FFFFFF"/>
          </a:solidFill>
          <a:ln w="12700">
            <a:solidFill>
              <a:srgbClr val="D4E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42415" y="4315968"/>
            <a:ext cx="91440" cy="960120"/>
          </a:xfrm>
          <a:prstGeom prst="rect">
            <a:avLst/>
          </a:prstGeom>
          <a:solidFill>
            <a:srgbClr val="10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89888" y="4517136"/>
            <a:ext cx="1280160" cy="128016"/>
          </a:xfrm>
          <a:prstGeom prst="rect">
            <a:avLst/>
          </a:prstGeom>
          <a:noFill/>
        </p:spPr>
        <p:txBody>
          <a:bodyPr wrap="square" anchor="t" lIns="0" rIns="0" tIns="0" bIns="0">
            <a:spAutoFit/>
          </a:bodyPr>
          <a:lstStyle/>
          <a:p>
            <a:pPr algn="l"/>
            <a:r>
              <a:rPr sz="900" b="1" i="0">
                <a:solidFill>
                  <a:srgbClr val="5B6982"/>
                </a:solidFill>
                <a:latin typeface="Aptos"/>
              </a:rPr>
              <a:t>THÈME</a:t>
            </a:r>
          </a:p>
        </p:txBody>
      </p:sp>
      <p:sp>
        <p:nvSpPr>
          <p:cNvPr id="21" name="TextBox 20"/>
          <p:cNvSpPr txBox="1"/>
          <p:nvPr/>
        </p:nvSpPr>
        <p:spPr>
          <a:xfrm>
            <a:off x="1389888" y="4800600"/>
            <a:ext cx="8961120" cy="274320"/>
          </a:xfrm>
          <a:prstGeom prst="rect">
            <a:avLst/>
          </a:prstGeom>
          <a:noFill/>
        </p:spPr>
        <p:txBody>
          <a:bodyPr wrap="square" anchor="t" lIns="0" rIns="0" tIns="0" bIns="0">
            <a:spAutoFit/>
          </a:bodyPr>
          <a:lstStyle/>
          <a:p>
            <a:pPr algn="l"/>
            <a:r>
              <a:rPr sz="1500" b="1" i="0">
                <a:solidFill>
                  <a:srgbClr val="11244A"/>
                </a:solidFill>
                <a:latin typeface="Aptos"/>
              </a:rPr>
              <a:t>Assistant universitaire intelligent pour centraliser les informations académiques et accompagner les étudiants</a:t>
            </a:r>
          </a:p>
        </p:txBody>
      </p:sp>
      <p:sp>
        <p:nvSpPr>
          <p:cNvPr id="22" name="Rounded Rectangle 21"/>
          <p:cNvSpPr/>
          <p:nvPr/>
        </p:nvSpPr>
        <p:spPr>
          <a:xfrm>
            <a:off x="13898880" y="2395728"/>
            <a:ext cx="2331720" cy="1225296"/>
          </a:xfrm>
          <a:prstGeom prst="roundRect">
            <a:avLst/>
          </a:prstGeom>
          <a:solidFill>
            <a:srgbClr val="ECF3FC"/>
          </a:solidFill>
          <a:ln w="19050">
            <a:solidFill>
              <a:srgbClr val="B8C6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4246352" y="2688336"/>
            <a:ext cx="1627632" cy="566928"/>
          </a:xfrm>
          <a:prstGeom prst="roundRect">
            <a:avLst/>
          </a:prstGeom>
          <a:solidFill>
            <a:srgbClr val="0A1D4A"/>
          </a:solidFill>
          <a:ln w="12700">
            <a:solidFill>
              <a:srgbClr val="0A1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4529816" y="2862072"/>
            <a:ext cx="201168" cy="146304"/>
          </a:xfrm>
          <a:prstGeom prst="ellipse">
            <a:avLst/>
          </a:prstGeom>
          <a:solidFill>
            <a:srgbClr val="10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380208" y="2862072"/>
            <a:ext cx="201168" cy="146304"/>
          </a:xfrm>
          <a:prstGeom prst="ellipse">
            <a:avLst/>
          </a:prstGeom>
          <a:solidFill>
            <a:srgbClr val="10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rc 25"/>
          <p:cNvSpPr/>
          <p:nvPr/>
        </p:nvSpPr>
        <p:spPr>
          <a:xfrm>
            <a:off x="14849855" y="3063240"/>
            <a:ext cx="384048" cy="201168"/>
          </a:xfrm>
          <a:prstGeom prst="arc">
            <a:avLst/>
          </a:prstGeom>
          <a:solidFill>
            <a:srgbClr val="10B5C6"/>
          </a:solidFill>
          <a:ln w="15240">
            <a:solidFill>
              <a:srgbClr val="10B5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959584" y="2057400"/>
            <a:ext cx="109728" cy="329184"/>
          </a:xfrm>
          <a:prstGeom prst="rect">
            <a:avLst/>
          </a:prstGeom>
          <a:solidFill>
            <a:srgbClr val="B8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822424" y="1847088"/>
            <a:ext cx="393192" cy="246888"/>
          </a:xfrm>
          <a:prstGeom prst="ellipse">
            <a:avLst/>
          </a:prstGeom>
          <a:solidFill>
            <a:srgbClr val="10B5C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4410944" y="3611880"/>
            <a:ext cx="1371600" cy="960120"/>
          </a:xfrm>
          <a:prstGeom prst="roundRect">
            <a:avLst/>
          </a:prstGeom>
          <a:solidFill>
            <a:srgbClr val="DFE8F3"/>
          </a:solidFill>
          <a:ln w="12700">
            <a:solidFill>
              <a:srgbClr val="DFE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831567" y="4059936"/>
            <a:ext cx="502920" cy="128016"/>
          </a:xfrm>
          <a:prstGeom prst="rect">
            <a:avLst/>
          </a:prstGeom>
          <a:noFill/>
        </p:spPr>
        <p:txBody>
          <a:bodyPr wrap="square" anchor="t" lIns="0" rIns="0" tIns="0" bIns="0">
            <a:spAutoFit/>
          </a:bodyPr>
          <a:lstStyle/>
          <a:p>
            <a:pPr algn="ctr"/>
            <a:r>
              <a:rPr sz="1000" b="1" i="0">
                <a:solidFill>
                  <a:srgbClr val="5B6982"/>
                </a:solidFill>
                <a:latin typeface="Aptos"/>
              </a:rPr>
              <a:t>AI</a:t>
            </a:r>
          </a:p>
        </p:txBody>
      </p:sp>
      <p:sp>
        <p:nvSpPr>
          <p:cNvPr id="31" name="Rounded Rectangle 30"/>
          <p:cNvSpPr/>
          <p:nvPr/>
        </p:nvSpPr>
        <p:spPr>
          <a:xfrm>
            <a:off x="1042415" y="5989320"/>
            <a:ext cx="4983480" cy="2148840"/>
          </a:xfrm>
          <a:prstGeom prst="roundRect">
            <a:avLst/>
          </a:prstGeom>
          <a:solidFill>
            <a:srgbClr val="FFFFFF"/>
          </a:solidFill>
          <a:ln w="12700">
            <a:solidFill>
              <a:srgbClr val="D4E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415" y="5989320"/>
            <a:ext cx="91440" cy="2148840"/>
          </a:xfrm>
          <a:prstGeom prst="rect">
            <a:avLst/>
          </a:prstGeom>
          <a:solidFill>
            <a:srgbClr val="2D6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89888" y="6236208"/>
            <a:ext cx="1828800" cy="128016"/>
          </a:xfrm>
          <a:prstGeom prst="rect">
            <a:avLst/>
          </a:prstGeom>
          <a:noFill/>
        </p:spPr>
        <p:txBody>
          <a:bodyPr wrap="square" anchor="t" lIns="0" rIns="0" tIns="0" bIns="0">
            <a:spAutoFit/>
          </a:bodyPr>
          <a:lstStyle/>
          <a:p>
            <a:pPr algn="l"/>
            <a:r>
              <a:rPr sz="900" b="1" i="0">
                <a:solidFill>
                  <a:srgbClr val="5B6982"/>
                </a:solidFill>
                <a:latin typeface="Aptos"/>
              </a:rPr>
              <a:t>RÉALISÉ PAR</a:t>
            </a:r>
          </a:p>
        </p:txBody>
      </p:sp>
      <p:sp>
        <p:nvSpPr>
          <p:cNvPr id="34" name="TextBox 33"/>
          <p:cNvSpPr txBox="1"/>
          <p:nvPr/>
        </p:nvSpPr>
        <p:spPr>
          <a:xfrm>
            <a:off x="1389888" y="6647688"/>
            <a:ext cx="3886200" cy="502920"/>
          </a:xfrm>
          <a:prstGeom prst="rect">
            <a:avLst/>
          </a:prstGeom>
          <a:noFill/>
        </p:spPr>
        <p:txBody>
          <a:bodyPr wrap="square" anchor="t" lIns="0" rIns="0" tIns="0" bIns="0">
            <a:spAutoFit/>
          </a:bodyPr>
          <a:lstStyle/>
          <a:p>
            <a:pPr algn="l"/>
            <a:r>
              <a:rPr sz="1350" b="1" i="0">
                <a:solidFill>
                  <a:srgbClr val="11244A"/>
                </a:solidFill>
                <a:latin typeface="Aptos"/>
              </a:rPr>
              <a:t>ALLADO KOSSI RICHARD
ADJEVI KODJO MARIUS</a:t>
            </a:r>
          </a:p>
        </p:txBody>
      </p:sp>
      <p:sp>
        <p:nvSpPr>
          <p:cNvPr id="35" name="Rectangle 34"/>
          <p:cNvSpPr/>
          <p:nvPr/>
        </p:nvSpPr>
        <p:spPr>
          <a:xfrm>
            <a:off x="1389888" y="7388352"/>
            <a:ext cx="4023360" cy="22860"/>
          </a:xfrm>
          <a:prstGeom prst="rect">
            <a:avLst/>
          </a:prstGeom>
          <a:solidFill>
            <a:srgbClr val="D4E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89888" y="7607808"/>
            <a:ext cx="1828800" cy="128016"/>
          </a:xfrm>
          <a:prstGeom prst="rect">
            <a:avLst/>
          </a:prstGeom>
          <a:noFill/>
        </p:spPr>
        <p:txBody>
          <a:bodyPr wrap="square" anchor="t" lIns="0" rIns="0" tIns="0" bIns="0">
            <a:spAutoFit/>
          </a:bodyPr>
          <a:lstStyle/>
          <a:p>
            <a:pPr algn="l"/>
            <a:r>
              <a:rPr sz="900" b="1" i="0">
                <a:solidFill>
                  <a:srgbClr val="5B6982"/>
                </a:solidFill>
                <a:latin typeface="Aptos"/>
              </a:rPr>
              <a:t>ENCADRANT</a:t>
            </a:r>
          </a:p>
        </p:txBody>
      </p:sp>
      <p:sp>
        <p:nvSpPr>
          <p:cNvPr id="37" name="TextBox 36"/>
          <p:cNvSpPr txBox="1"/>
          <p:nvPr/>
        </p:nvSpPr>
        <p:spPr>
          <a:xfrm>
            <a:off x="1389888" y="7882127"/>
            <a:ext cx="3886200" cy="219456"/>
          </a:xfrm>
          <a:prstGeom prst="rect">
            <a:avLst/>
          </a:prstGeom>
          <a:noFill/>
        </p:spPr>
        <p:txBody>
          <a:bodyPr wrap="square" anchor="t" lIns="0" rIns="0" tIns="0" bIns="0">
            <a:spAutoFit/>
          </a:bodyPr>
          <a:lstStyle/>
          <a:p>
            <a:pPr algn="l"/>
            <a:r>
              <a:rPr sz="1300" b="1" i="0">
                <a:solidFill>
                  <a:srgbClr val="11244A"/>
                </a:solidFill>
                <a:latin typeface="Aptos"/>
              </a:rPr>
              <a:t>Prof. ELBAGHAZAOUI</a:t>
            </a:r>
          </a:p>
        </p:txBody>
      </p:sp>
      <p:sp>
        <p:nvSpPr>
          <p:cNvPr id="38" name="Rounded Rectangle 37"/>
          <p:cNvSpPr/>
          <p:nvPr/>
        </p:nvSpPr>
        <p:spPr>
          <a:xfrm>
            <a:off x="6446520" y="5989320"/>
            <a:ext cx="4800600" cy="2148840"/>
          </a:xfrm>
          <a:prstGeom prst="roundRect">
            <a:avLst/>
          </a:prstGeom>
          <a:solidFill>
            <a:srgbClr val="FFFFFF"/>
          </a:solidFill>
          <a:ln w="12700">
            <a:solidFill>
              <a:srgbClr val="D4E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46520" y="5989320"/>
            <a:ext cx="91440" cy="2148840"/>
          </a:xfrm>
          <a:prstGeom prst="rect">
            <a:avLst/>
          </a:prstGeom>
          <a:solidFill>
            <a:srgbClr val="009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93992" y="6236208"/>
            <a:ext cx="1828800" cy="128016"/>
          </a:xfrm>
          <a:prstGeom prst="rect">
            <a:avLst/>
          </a:prstGeom>
          <a:noFill/>
        </p:spPr>
        <p:txBody>
          <a:bodyPr wrap="square" anchor="t" lIns="0" rIns="0" tIns="0" bIns="0">
            <a:spAutoFit/>
          </a:bodyPr>
          <a:lstStyle/>
          <a:p>
            <a:pPr algn="l"/>
            <a:r>
              <a:rPr sz="900" b="1" i="0">
                <a:solidFill>
                  <a:srgbClr val="5B6982"/>
                </a:solidFill>
                <a:latin typeface="Aptos"/>
              </a:rPr>
              <a:t>SOUTENANCE</a:t>
            </a:r>
          </a:p>
        </p:txBody>
      </p:sp>
      <p:sp>
        <p:nvSpPr>
          <p:cNvPr id="41" name="TextBox 40"/>
          <p:cNvSpPr txBox="1"/>
          <p:nvPr/>
        </p:nvSpPr>
        <p:spPr>
          <a:xfrm>
            <a:off x="6793992" y="6629400"/>
            <a:ext cx="2560320" cy="219456"/>
          </a:xfrm>
          <a:prstGeom prst="rect">
            <a:avLst/>
          </a:prstGeom>
          <a:noFill/>
        </p:spPr>
        <p:txBody>
          <a:bodyPr wrap="square" anchor="t" lIns="0" rIns="0" tIns="0" bIns="0">
            <a:spAutoFit/>
          </a:bodyPr>
          <a:lstStyle/>
          <a:p>
            <a:pPr algn="l"/>
            <a:r>
              <a:rPr sz="1700" b="1" i="0">
                <a:solidFill>
                  <a:srgbClr val="11244A"/>
                </a:solidFill>
                <a:latin typeface="Aptos"/>
              </a:rPr>
              <a:t>22 Mai 2026</a:t>
            </a:r>
          </a:p>
        </p:txBody>
      </p:sp>
      <p:sp>
        <p:nvSpPr>
          <p:cNvPr id="42" name="TextBox 41"/>
          <p:cNvSpPr txBox="1"/>
          <p:nvPr/>
        </p:nvSpPr>
        <p:spPr>
          <a:xfrm>
            <a:off x="6793992" y="7040880"/>
            <a:ext cx="1828800" cy="164592"/>
          </a:xfrm>
          <a:prstGeom prst="rect">
            <a:avLst/>
          </a:prstGeom>
          <a:noFill/>
        </p:spPr>
        <p:txBody>
          <a:bodyPr wrap="square" anchor="t" lIns="0" rIns="0" tIns="0" bIns="0">
            <a:spAutoFit/>
          </a:bodyPr>
          <a:lstStyle/>
          <a:p>
            <a:pPr algn="l"/>
            <a:r>
              <a:rPr sz="1200" b="1" i="0">
                <a:solidFill>
                  <a:srgbClr val="5B6982"/>
                </a:solidFill>
                <a:latin typeface="Aptos"/>
              </a:rPr>
              <a:t>Salle A05</a:t>
            </a:r>
          </a:p>
        </p:txBody>
      </p:sp>
      <p:sp>
        <p:nvSpPr>
          <p:cNvPr id="43" name="Rectangle 42"/>
          <p:cNvSpPr/>
          <p:nvPr/>
        </p:nvSpPr>
        <p:spPr>
          <a:xfrm>
            <a:off x="6793992" y="7388352"/>
            <a:ext cx="3703320" cy="22860"/>
          </a:xfrm>
          <a:prstGeom prst="rect">
            <a:avLst/>
          </a:prstGeom>
          <a:solidFill>
            <a:srgbClr val="D4E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93992" y="7607808"/>
            <a:ext cx="2377440" cy="128016"/>
          </a:xfrm>
          <a:prstGeom prst="rect">
            <a:avLst/>
          </a:prstGeom>
          <a:noFill/>
        </p:spPr>
        <p:txBody>
          <a:bodyPr wrap="square" anchor="t" lIns="0" rIns="0" tIns="0" bIns="0">
            <a:spAutoFit/>
          </a:bodyPr>
          <a:lstStyle/>
          <a:p>
            <a:pPr algn="l"/>
            <a:r>
              <a:rPr sz="900" b="1" i="0">
                <a:solidFill>
                  <a:srgbClr val="5B6982"/>
                </a:solidFill>
                <a:latin typeface="Aptos"/>
              </a:rPr>
              <a:t>ANNÉE UNIVERSITAIRE</a:t>
            </a:r>
          </a:p>
        </p:txBody>
      </p:sp>
      <p:sp>
        <p:nvSpPr>
          <p:cNvPr id="45" name="TextBox 44"/>
          <p:cNvSpPr txBox="1"/>
          <p:nvPr/>
        </p:nvSpPr>
        <p:spPr>
          <a:xfrm>
            <a:off x="6793992" y="7882127"/>
            <a:ext cx="2011680" cy="219456"/>
          </a:xfrm>
          <a:prstGeom prst="rect">
            <a:avLst/>
          </a:prstGeom>
          <a:noFill/>
        </p:spPr>
        <p:txBody>
          <a:bodyPr wrap="square" anchor="t" lIns="0" rIns="0" tIns="0" bIns="0">
            <a:spAutoFit/>
          </a:bodyPr>
          <a:lstStyle/>
          <a:p>
            <a:pPr algn="l"/>
            <a:r>
              <a:rPr sz="1300" b="1" i="0">
                <a:solidFill>
                  <a:srgbClr val="11244A"/>
                </a:solidFill>
                <a:latin typeface="Aptos"/>
              </a:rPr>
              <a:t>2025 - 2026</a:t>
            </a:r>
          </a:p>
        </p:txBody>
      </p:sp>
      <p:sp>
        <p:nvSpPr>
          <p:cNvPr id="46" name="Rounded Rectangle 45"/>
          <p:cNvSpPr/>
          <p:nvPr/>
        </p:nvSpPr>
        <p:spPr>
          <a:xfrm>
            <a:off x="11667744" y="5989320"/>
            <a:ext cx="5303520" cy="2148840"/>
          </a:xfrm>
          <a:prstGeom prst="roundRect">
            <a:avLst/>
          </a:prstGeom>
          <a:solidFill>
            <a:srgbClr val="FFFFFF"/>
          </a:solidFill>
          <a:ln w="12700">
            <a:solidFill>
              <a:srgbClr val="D4E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667744" y="5989320"/>
            <a:ext cx="91440" cy="2148840"/>
          </a:xfrm>
          <a:prstGeom prst="rect">
            <a:avLst/>
          </a:prstGeom>
          <a:solidFill>
            <a:srgbClr val="10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015216" y="6236208"/>
            <a:ext cx="2926080" cy="128016"/>
          </a:xfrm>
          <a:prstGeom prst="rect">
            <a:avLst/>
          </a:prstGeom>
          <a:noFill/>
        </p:spPr>
        <p:txBody>
          <a:bodyPr wrap="square" anchor="t" lIns="0" rIns="0" tIns="0" bIns="0">
            <a:spAutoFit/>
          </a:bodyPr>
          <a:lstStyle/>
          <a:p>
            <a:pPr algn="l"/>
            <a:r>
              <a:rPr sz="900" b="1" i="0">
                <a:solidFill>
                  <a:srgbClr val="5B6982"/>
                </a:solidFill>
                <a:latin typeface="Aptos"/>
              </a:rPr>
              <a:t>JURY DE SOUTENANCE</a:t>
            </a:r>
          </a:p>
        </p:txBody>
      </p:sp>
      <p:sp>
        <p:nvSpPr>
          <p:cNvPr id="49" name="TextBox 48"/>
          <p:cNvSpPr txBox="1"/>
          <p:nvPr/>
        </p:nvSpPr>
        <p:spPr>
          <a:xfrm>
            <a:off x="12015216" y="6647688"/>
            <a:ext cx="2743200" cy="438912"/>
          </a:xfrm>
          <a:prstGeom prst="rect">
            <a:avLst/>
          </a:prstGeom>
          <a:noFill/>
        </p:spPr>
        <p:txBody>
          <a:bodyPr wrap="square" anchor="t" lIns="0" rIns="0" tIns="0" bIns="0">
            <a:spAutoFit/>
          </a:bodyPr>
          <a:lstStyle/>
          <a:p>
            <a:pPr algn="l"/>
            <a:r>
              <a:rPr sz="1350" b="1" i="0">
                <a:solidFill>
                  <a:srgbClr val="11244A"/>
                </a:solidFill>
                <a:latin typeface="Aptos"/>
              </a:rPr>
              <a:t>Pr. TOUIL
Pr. ESSWIDI</a:t>
            </a:r>
          </a:p>
        </p:txBody>
      </p:sp>
      <p:sp>
        <p:nvSpPr>
          <p:cNvPr id="50" name="Rectangle 49"/>
          <p:cNvSpPr/>
          <p:nvPr/>
        </p:nvSpPr>
        <p:spPr>
          <a:xfrm>
            <a:off x="12015216" y="7388352"/>
            <a:ext cx="4251960" cy="22860"/>
          </a:xfrm>
          <a:prstGeom prst="rect">
            <a:avLst/>
          </a:prstGeom>
          <a:solidFill>
            <a:srgbClr val="D4E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015216" y="7607808"/>
            <a:ext cx="1828800" cy="128016"/>
          </a:xfrm>
          <a:prstGeom prst="rect">
            <a:avLst/>
          </a:prstGeom>
          <a:noFill/>
        </p:spPr>
        <p:txBody>
          <a:bodyPr wrap="square" anchor="t" lIns="0" rIns="0" tIns="0" bIns="0">
            <a:spAutoFit/>
          </a:bodyPr>
          <a:lstStyle/>
          <a:p>
            <a:pPr algn="l"/>
            <a:r>
              <a:rPr sz="900" b="1" i="0">
                <a:solidFill>
                  <a:srgbClr val="5B6982"/>
                </a:solidFill>
                <a:latin typeface="Aptos"/>
              </a:rPr>
              <a:t>ENCADRANT</a:t>
            </a:r>
          </a:p>
        </p:txBody>
      </p:sp>
      <p:sp>
        <p:nvSpPr>
          <p:cNvPr id="52" name="TextBox 51"/>
          <p:cNvSpPr txBox="1"/>
          <p:nvPr/>
        </p:nvSpPr>
        <p:spPr>
          <a:xfrm>
            <a:off x="12015216" y="7882127"/>
            <a:ext cx="3200400" cy="219456"/>
          </a:xfrm>
          <a:prstGeom prst="rect">
            <a:avLst/>
          </a:prstGeom>
          <a:noFill/>
        </p:spPr>
        <p:txBody>
          <a:bodyPr wrap="square" anchor="t" lIns="0" rIns="0" tIns="0" bIns="0">
            <a:spAutoFit/>
          </a:bodyPr>
          <a:lstStyle/>
          <a:p>
            <a:pPr algn="l"/>
            <a:r>
              <a:rPr sz="1300" b="1" i="0">
                <a:solidFill>
                  <a:srgbClr val="11244A"/>
                </a:solidFill>
                <a:latin typeface="Aptos"/>
              </a:rPr>
              <a:t>Prof. ELBAGHAZAOUI</a:t>
            </a:r>
          </a:p>
        </p:txBody>
      </p:sp>
      <p:sp>
        <p:nvSpPr>
          <p:cNvPr id="53" name="TextBox 52"/>
          <p:cNvSpPr txBox="1"/>
          <p:nvPr/>
        </p:nvSpPr>
        <p:spPr>
          <a:xfrm>
            <a:off x="4023360" y="9994392"/>
            <a:ext cx="10515600" cy="109728"/>
          </a:xfrm>
          <a:prstGeom prst="rect">
            <a:avLst/>
          </a:prstGeom>
          <a:noFill/>
        </p:spPr>
        <p:txBody>
          <a:bodyPr wrap="square" anchor="t" lIns="0" rIns="0" tIns="0" bIns="0">
            <a:spAutoFit/>
          </a:bodyPr>
          <a:lstStyle/>
          <a:p>
            <a:pPr algn="ctr"/>
            <a:r>
              <a:rPr sz="880" b="0" i="0">
                <a:solidFill>
                  <a:srgbClr val="B4C7EB"/>
                </a:solidFill>
                <a:latin typeface="Aptos"/>
              </a:rPr>
              <a:t>Université Sultan Moulay Slimane - ENSA Béni Mellal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Plan</a:t>
              </a:r>
            </a:p>
          </p:txBody>
        </p:sp>
      </p:grpSp>
      <p:grpSp>
        <p:nvGrpSpPr>
          <p:cNvPr name="Group 7" id="7"/>
          <p:cNvGrpSpPr/>
          <p:nvPr/>
        </p:nvGrpSpPr>
        <p:grpSpPr>
          <a:xfrm rot="0">
            <a:off x="2743200" y="2286000"/>
            <a:ext cx="1645920" cy="731520"/>
            <a:chOff x="0" y="0"/>
            <a:chExt cx="2194560" cy="975360"/>
          </a:xfrm>
        </p:grpSpPr>
        <p:sp>
          <p:nvSpPr>
            <p:cNvPr name="Freeform 8" id="8"/>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solidFill>
              <a:srgbClr val="2563EB"/>
            </a:solidFill>
          </p:spPr>
          <p:txBody>
            <a:bodyPr/>
            <a:p/>
          </p:txBody>
        </p:sp>
      </p:grpSp>
      <p:grpSp>
        <p:nvGrpSpPr>
          <p:cNvPr name="Group 9" id="9"/>
          <p:cNvGrpSpPr/>
          <p:nvPr/>
        </p:nvGrpSpPr>
        <p:grpSpPr>
          <a:xfrm rot="0">
            <a:off x="2743200" y="2286000"/>
            <a:ext cx="1645920" cy="731520"/>
            <a:chOff x="0" y="0"/>
            <a:chExt cx="2194560" cy="975360"/>
          </a:xfrm>
        </p:grpSpPr>
        <p:sp>
          <p:nvSpPr>
            <p:cNvPr name="Freeform 10" id="10"/>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blipFill>
              <a:blip r:embed="rId3">
                <a:alphaModFix amt="0"/>
              </a:blip>
              <a:stretch>
                <a:fillRect l="-7023" t="0" r="-7023" b="0"/>
              </a:stretch>
            </a:blipFill>
          </p:spPr>
          <p:txBody>
            <a:bodyPr/>
            <a:p/>
          </p:txBody>
        </p:sp>
        <p:sp>
          <p:nvSpPr>
            <p:cNvPr name="TextBox 11" id="11"/>
            <p:cNvSpPr txBox="true"/>
            <p:nvPr/>
          </p:nvSpPr>
          <p:spPr>
            <a:xfrm>
              <a:off x="0" y="-47625"/>
              <a:ext cx="219456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01</a:t>
              </a:r>
            </a:p>
          </p:txBody>
        </p:sp>
      </p:grpSp>
      <p:grpSp>
        <p:nvGrpSpPr>
          <p:cNvPr name="Group 12" id="12"/>
          <p:cNvGrpSpPr/>
          <p:nvPr/>
        </p:nvGrpSpPr>
        <p:grpSpPr>
          <a:xfrm rot="0">
            <a:off x="4846320" y="2286000"/>
            <a:ext cx="11887200" cy="731520"/>
            <a:chOff x="0" y="0"/>
            <a:chExt cx="15849600" cy="975360"/>
          </a:xfrm>
        </p:grpSpPr>
        <p:sp>
          <p:nvSpPr>
            <p:cNvPr name="Freeform 13" id="13"/>
            <p:cNvSpPr/>
            <p:nvPr/>
          </p:nvSpPr>
          <p:spPr>
            <a:xfrm flipH="false" flipV="false" rot="0">
              <a:off x="0" y="0"/>
              <a:ext cx="15849600" cy="975360"/>
            </a:xfrm>
            <a:custGeom>
              <a:avLst/>
              <a:gdLst/>
              <a:ahLst/>
              <a:cxnLst/>
              <a:rect r="r" b="b" t="t" l="l"/>
              <a:pathLst>
                <a:path h="975360" w="15849600">
                  <a:moveTo>
                    <a:pt x="0" y="0"/>
                  </a:moveTo>
                  <a:lnTo>
                    <a:pt x="15849600" y="0"/>
                  </a:lnTo>
                  <a:lnTo>
                    <a:pt x="15849600" y="975360"/>
                  </a:lnTo>
                  <a:lnTo>
                    <a:pt x="0" y="975360"/>
                  </a:lnTo>
                  <a:close/>
                </a:path>
              </a:pathLst>
            </a:custGeom>
            <a:blipFill>
              <a:blip r:embed="rId3">
                <a:alphaModFix amt="0"/>
              </a:blip>
              <a:stretch>
                <a:fillRect l="0" t="-266631" r="0" b="-266631"/>
              </a:stretch>
            </a:blipFill>
          </p:spPr>
          <p:txBody>
            <a:bodyPr/>
            <a:p/>
          </p:txBody>
        </p:sp>
        <p:sp>
          <p:nvSpPr>
            <p:cNvPr name="TextBox 14" id="14"/>
            <p:cNvSpPr txBox="true"/>
            <p:nvPr/>
          </p:nvSpPr>
          <p:spPr>
            <a:xfrm>
              <a:off x="0" y="-66675"/>
              <a:ext cx="15849600" cy="1042035"/>
            </a:xfrm>
            <a:prstGeom prst="rect">
              <a:avLst/>
            </a:prstGeom>
          </p:spPr>
          <p:txBody>
            <a:bodyPr anchor="ctr" rtlCol="false" tIns="0" lIns="0" bIns="0" rIns="0"/>
            <a:lstStyle/>
            <a:p>
              <a:pPr algn="l">
                <a:lnSpc>
                  <a:spcPts val="4320"/>
                </a:lnSpc>
              </a:pPr>
              <a:r>
                <a:rPr lang="en-US" sz="3600">
                  <a:solidFill>
                    <a:srgbClr val="1E293B"/>
                  </a:solidFill>
                  <a:latin typeface="Calibri (MS)"/>
                  <a:ea typeface="Calibri (MS)"/>
                  <a:cs typeface="Calibri (MS)"/>
                  <a:sym typeface="Calibri (MS)"/>
                </a:rPr>
                <a:t>Contexte &amp; objectifs</a:t>
              </a:r>
            </a:p>
          </p:txBody>
        </p:sp>
      </p:grpSp>
      <p:grpSp>
        <p:nvGrpSpPr>
          <p:cNvPr name="Group 15" id="15"/>
          <p:cNvGrpSpPr/>
          <p:nvPr/>
        </p:nvGrpSpPr>
        <p:grpSpPr>
          <a:xfrm rot="0">
            <a:off x="2743200" y="3291840"/>
            <a:ext cx="1645920" cy="731520"/>
            <a:chOff x="0" y="0"/>
            <a:chExt cx="2194560" cy="975360"/>
          </a:xfrm>
        </p:grpSpPr>
        <p:sp>
          <p:nvSpPr>
            <p:cNvPr name="Freeform 16" id="16"/>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solidFill>
              <a:srgbClr val="2563EB"/>
            </a:solidFill>
          </p:spPr>
          <p:txBody>
            <a:bodyPr/>
            <a:p/>
          </p:txBody>
        </p:sp>
      </p:grpSp>
      <p:grpSp>
        <p:nvGrpSpPr>
          <p:cNvPr name="Group 17" id="17"/>
          <p:cNvGrpSpPr/>
          <p:nvPr/>
        </p:nvGrpSpPr>
        <p:grpSpPr>
          <a:xfrm rot="0">
            <a:off x="2743200" y="3291840"/>
            <a:ext cx="1645920" cy="731520"/>
            <a:chOff x="0" y="0"/>
            <a:chExt cx="2194560" cy="975360"/>
          </a:xfrm>
        </p:grpSpPr>
        <p:sp>
          <p:nvSpPr>
            <p:cNvPr name="Freeform 18" id="18"/>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blipFill>
              <a:blip r:embed="rId3">
                <a:alphaModFix amt="0"/>
              </a:blip>
              <a:stretch>
                <a:fillRect l="-7023" t="0" r="-7023" b="0"/>
              </a:stretch>
            </a:blipFill>
          </p:spPr>
          <p:txBody>
            <a:bodyPr/>
            <a:p/>
          </p:txBody>
        </p:sp>
        <p:sp>
          <p:nvSpPr>
            <p:cNvPr name="TextBox 19" id="19"/>
            <p:cNvSpPr txBox="true"/>
            <p:nvPr/>
          </p:nvSpPr>
          <p:spPr>
            <a:xfrm>
              <a:off x="0" y="-47625"/>
              <a:ext cx="219456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02</a:t>
              </a:r>
            </a:p>
          </p:txBody>
        </p:sp>
      </p:grpSp>
      <p:grpSp>
        <p:nvGrpSpPr>
          <p:cNvPr name="Group 20" id="20"/>
          <p:cNvGrpSpPr/>
          <p:nvPr/>
        </p:nvGrpSpPr>
        <p:grpSpPr>
          <a:xfrm rot="0">
            <a:off x="4846320" y="3291840"/>
            <a:ext cx="11887200" cy="731520"/>
            <a:chOff x="0" y="0"/>
            <a:chExt cx="15849600" cy="975360"/>
          </a:xfrm>
        </p:grpSpPr>
        <p:sp>
          <p:nvSpPr>
            <p:cNvPr name="Freeform 21" id="21"/>
            <p:cNvSpPr/>
            <p:nvPr/>
          </p:nvSpPr>
          <p:spPr>
            <a:xfrm flipH="false" flipV="false" rot="0">
              <a:off x="0" y="0"/>
              <a:ext cx="15849600" cy="975360"/>
            </a:xfrm>
            <a:custGeom>
              <a:avLst/>
              <a:gdLst/>
              <a:ahLst/>
              <a:cxnLst/>
              <a:rect r="r" b="b" t="t" l="l"/>
              <a:pathLst>
                <a:path h="975360" w="15849600">
                  <a:moveTo>
                    <a:pt x="0" y="0"/>
                  </a:moveTo>
                  <a:lnTo>
                    <a:pt x="15849600" y="0"/>
                  </a:lnTo>
                  <a:lnTo>
                    <a:pt x="15849600" y="975360"/>
                  </a:lnTo>
                  <a:lnTo>
                    <a:pt x="0" y="975360"/>
                  </a:lnTo>
                  <a:close/>
                </a:path>
              </a:pathLst>
            </a:custGeom>
            <a:blipFill>
              <a:blip r:embed="rId3">
                <a:alphaModFix amt="0"/>
              </a:blip>
              <a:stretch>
                <a:fillRect l="0" t="-266631" r="0" b="-266631"/>
              </a:stretch>
            </a:blipFill>
          </p:spPr>
          <p:txBody>
            <a:bodyPr/>
            <a:p/>
          </p:txBody>
        </p:sp>
        <p:sp>
          <p:nvSpPr>
            <p:cNvPr name="TextBox 22" id="22"/>
            <p:cNvSpPr txBox="true"/>
            <p:nvPr/>
          </p:nvSpPr>
          <p:spPr>
            <a:xfrm>
              <a:off x="0" y="-66675"/>
              <a:ext cx="15849600" cy="1042035"/>
            </a:xfrm>
            <a:prstGeom prst="rect">
              <a:avLst/>
            </a:prstGeom>
          </p:spPr>
          <p:txBody>
            <a:bodyPr anchor="ctr" rtlCol="false" tIns="0" lIns="0" bIns="0" rIns="0"/>
            <a:lstStyle/>
            <a:p>
              <a:pPr algn="l">
                <a:lnSpc>
                  <a:spcPts val="4320"/>
                </a:lnSpc>
              </a:pPr>
              <a:r>
                <a:rPr lang="en-US" sz="3600">
                  <a:solidFill>
                    <a:srgbClr val="1E293B"/>
                  </a:solidFill>
                  <a:latin typeface="Calibri (MS)"/>
                  <a:ea typeface="Calibri (MS)"/>
                  <a:cs typeface="Calibri (MS)"/>
                  <a:sym typeface="Calibri (MS)"/>
                </a:rPr>
                <a:t>Architecture de la solution</a:t>
              </a:r>
            </a:p>
          </p:txBody>
        </p:sp>
      </p:grpSp>
      <p:grpSp>
        <p:nvGrpSpPr>
          <p:cNvPr name="Group 23" id="23"/>
          <p:cNvGrpSpPr/>
          <p:nvPr/>
        </p:nvGrpSpPr>
        <p:grpSpPr>
          <a:xfrm rot="0">
            <a:off x="2743200" y="4297680"/>
            <a:ext cx="1645920" cy="731520"/>
            <a:chOff x="0" y="0"/>
            <a:chExt cx="2194560" cy="975360"/>
          </a:xfrm>
        </p:grpSpPr>
        <p:sp>
          <p:nvSpPr>
            <p:cNvPr name="Freeform 24" id="24"/>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solidFill>
              <a:srgbClr val="06B6D4"/>
            </a:solidFill>
          </p:spPr>
          <p:txBody>
            <a:bodyPr/>
            <a:p/>
          </p:txBody>
        </p:sp>
      </p:grpSp>
      <p:grpSp>
        <p:nvGrpSpPr>
          <p:cNvPr name="Group 25" id="25"/>
          <p:cNvGrpSpPr/>
          <p:nvPr/>
        </p:nvGrpSpPr>
        <p:grpSpPr>
          <a:xfrm rot="0">
            <a:off x="2743200" y="4297680"/>
            <a:ext cx="1645920" cy="731520"/>
            <a:chOff x="0" y="0"/>
            <a:chExt cx="2194560" cy="975360"/>
          </a:xfrm>
        </p:grpSpPr>
        <p:sp>
          <p:nvSpPr>
            <p:cNvPr name="Freeform 26" id="26"/>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blipFill>
              <a:blip r:embed="rId3">
                <a:alphaModFix amt="0"/>
              </a:blip>
              <a:stretch>
                <a:fillRect l="-7023" t="0" r="-7023" b="0"/>
              </a:stretch>
            </a:blipFill>
          </p:spPr>
          <p:txBody>
            <a:bodyPr/>
            <a:p/>
          </p:txBody>
        </p:sp>
        <p:sp>
          <p:nvSpPr>
            <p:cNvPr name="TextBox 27" id="27"/>
            <p:cNvSpPr txBox="true"/>
            <p:nvPr/>
          </p:nvSpPr>
          <p:spPr>
            <a:xfrm>
              <a:off x="0" y="-47625"/>
              <a:ext cx="219456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03</a:t>
              </a:r>
            </a:p>
          </p:txBody>
        </p:sp>
      </p:grpSp>
      <p:grpSp>
        <p:nvGrpSpPr>
          <p:cNvPr name="Group 28" id="28"/>
          <p:cNvGrpSpPr/>
          <p:nvPr/>
        </p:nvGrpSpPr>
        <p:grpSpPr>
          <a:xfrm rot="0">
            <a:off x="4846320" y="4297680"/>
            <a:ext cx="11887200" cy="731520"/>
            <a:chOff x="0" y="0"/>
            <a:chExt cx="15849600" cy="975360"/>
          </a:xfrm>
        </p:grpSpPr>
        <p:sp>
          <p:nvSpPr>
            <p:cNvPr name="Freeform 29" id="29"/>
            <p:cNvSpPr/>
            <p:nvPr/>
          </p:nvSpPr>
          <p:spPr>
            <a:xfrm flipH="false" flipV="false" rot="0">
              <a:off x="0" y="0"/>
              <a:ext cx="15849600" cy="975360"/>
            </a:xfrm>
            <a:custGeom>
              <a:avLst/>
              <a:gdLst/>
              <a:ahLst/>
              <a:cxnLst/>
              <a:rect r="r" b="b" t="t" l="l"/>
              <a:pathLst>
                <a:path h="975360" w="15849600">
                  <a:moveTo>
                    <a:pt x="0" y="0"/>
                  </a:moveTo>
                  <a:lnTo>
                    <a:pt x="15849600" y="0"/>
                  </a:lnTo>
                  <a:lnTo>
                    <a:pt x="15849600" y="975360"/>
                  </a:lnTo>
                  <a:lnTo>
                    <a:pt x="0" y="975360"/>
                  </a:lnTo>
                  <a:close/>
                </a:path>
              </a:pathLst>
            </a:custGeom>
            <a:blipFill>
              <a:blip r:embed="rId3">
                <a:alphaModFix amt="0"/>
              </a:blip>
              <a:stretch>
                <a:fillRect l="0" t="-266631" r="0" b="-266631"/>
              </a:stretch>
            </a:blipFill>
          </p:spPr>
          <p:txBody>
            <a:bodyPr/>
            <a:p/>
          </p:txBody>
        </p:sp>
        <p:sp>
          <p:nvSpPr>
            <p:cNvPr name="TextBox 30" id="30"/>
            <p:cNvSpPr txBox="true"/>
            <p:nvPr/>
          </p:nvSpPr>
          <p:spPr>
            <a:xfrm>
              <a:off x="0" y="-66675"/>
              <a:ext cx="15849600" cy="1042035"/>
            </a:xfrm>
            <a:prstGeom prst="rect">
              <a:avLst/>
            </a:prstGeom>
          </p:spPr>
          <p:txBody>
            <a:bodyPr anchor="ctr" rtlCol="false" tIns="0" lIns="0" bIns="0" rIns="0"/>
            <a:lstStyle/>
            <a:p>
              <a:pPr algn="l">
                <a:lnSpc>
                  <a:spcPts val="4320"/>
                </a:lnSpc>
              </a:pPr>
              <a:r>
                <a:rPr lang="en-US" sz="3600">
                  <a:solidFill>
                    <a:srgbClr val="1E293B"/>
                  </a:solidFill>
                  <a:latin typeface="Calibri (MS)"/>
                  <a:ea typeface="Calibri (MS)"/>
                  <a:cs typeface="Calibri (MS)"/>
                  <a:sym typeface="Calibri (MS)"/>
                </a:rPr>
                <a:t>Moteur RAG &amp; LLM</a:t>
              </a:r>
            </a:p>
          </p:txBody>
        </p:sp>
      </p:grpSp>
      <p:grpSp>
        <p:nvGrpSpPr>
          <p:cNvPr name="Group 31" id="31"/>
          <p:cNvGrpSpPr/>
          <p:nvPr/>
        </p:nvGrpSpPr>
        <p:grpSpPr>
          <a:xfrm rot="0">
            <a:off x="2743200" y="5303520"/>
            <a:ext cx="1645920" cy="731520"/>
            <a:chOff x="0" y="0"/>
            <a:chExt cx="2194560" cy="975360"/>
          </a:xfrm>
        </p:grpSpPr>
        <p:sp>
          <p:nvSpPr>
            <p:cNvPr name="Freeform 32" id="32"/>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solidFill>
              <a:srgbClr val="06B6D4"/>
            </a:solidFill>
          </p:spPr>
          <p:txBody>
            <a:bodyPr/>
            <a:p/>
          </p:txBody>
        </p:sp>
      </p:grpSp>
      <p:grpSp>
        <p:nvGrpSpPr>
          <p:cNvPr name="Group 33" id="33"/>
          <p:cNvGrpSpPr/>
          <p:nvPr/>
        </p:nvGrpSpPr>
        <p:grpSpPr>
          <a:xfrm rot="0">
            <a:off x="2743200" y="5303520"/>
            <a:ext cx="1645920" cy="731520"/>
            <a:chOff x="0" y="0"/>
            <a:chExt cx="2194560" cy="975360"/>
          </a:xfrm>
        </p:grpSpPr>
        <p:sp>
          <p:nvSpPr>
            <p:cNvPr name="Freeform 34" id="34"/>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blipFill>
              <a:blip r:embed="rId3">
                <a:alphaModFix amt="0"/>
              </a:blip>
              <a:stretch>
                <a:fillRect l="-7023" t="0" r="-7023" b="0"/>
              </a:stretch>
            </a:blipFill>
          </p:spPr>
          <p:txBody>
            <a:bodyPr/>
            <a:p/>
          </p:txBody>
        </p:sp>
        <p:sp>
          <p:nvSpPr>
            <p:cNvPr name="TextBox 35" id="35"/>
            <p:cNvSpPr txBox="true"/>
            <p:nvPr/>
          </p:nvSpPr>
          <p:spPr>
            <a:xfrm>
              <a:off x="0" y="-47625"/>
              <a:ext cx="219456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04</a:t>
              </a:r>
            </a:p>
          </p:txBody>
        </p:sp>
      </p:grpSp>
      <p:grpSp>
        <p:nvGrpSpPr>
          <p:cNvPr name="Group 36" id="36"/>
          <p:cNvGrpSpPr/>
          <p:nvPr/>
        </p:nvGrpSpPr>
        <p:grpSpPr>
          <a:xfrm rot="0">
            <a:off x="4846320" y="5303520"/>
            <a:ext cx="11887200" cy="731520"/>
            <a:chOff x="0" y="0"/>
            <a:chExt cx="15849600" cy="975360"/>
          </a:xfrm>
        </p:grpSpPr>
        <p:sp>
          <p:nvSpPr>
            <p:cNvPr name="Freeform 37" id="37"/>
            <p:cNvSpPr/>
            <p:nvPr/>
          </p:nvSpPr>
          <p:spPr>
            <a:xfrm flipH="false" flipV="false" rot="0">
              <a:off x="0" y="0"/>
              <a:ext cx="15849600" cy="975360"/>
            </a:xfrm>
            <a:custGeom>
              <a:avLst/>
              <a:gdLst/>
              <a:ahLst/>
              <a:cxnLst/>
              <a:rect r="r" b="b" t="t" l="l"/>
              <a:pathLst>
                <a:path h="975360" w="15849600">
                  <a:moveTo>
                    <a:pt x="0" y="0"/>
                  </a:moveTo>
                  <a:lnTo>
                    <a:pt x="15849600" y="0"/>
                  </a:lnTo>
                  <a:lnTo>
                    <a:pt x="15849600" y="975360"/>
                  </a:lnTo>
                  <a:lnTo>
                    <a:pt x="0" y="975360"/>
                  </a:lnTo>
                  <a:close/>
                </a:path>
              </a:pathLst>
            </a:custGeom>
            <a:blipFill>
              <a:blip r:embed="rId3">
                <a:alphaModFix amt="0"/>
              </a:blip>
              <a:stretch>
                <a:fillRect l="0" t="-266631" r="0" b="-266631"/>
              </a:stretch>
            </a:blipFill>
          </p:spPr>
          <p:txBody>
            <a:bodyPr/>
            <a:p/>
          </p:txBody>
        </p:sp>
        <p:sp>
          <p:nvSpPr>
            <p:cNvPr name="TextBox 38" id="38"/>
            <p:cNvSpPr txBox="true"/>
            <p:nvPr/>
          </p:nvSpPr>
          <p:spPr>
            <a:xfrm>
              <a:off x="0" y="-66675"/>
              <a:ext cx="15849600" cy="1042035"/>
            </a:xfrm>
            <a:prstGeom prst="rect">
              <a:avLst/>
            </a:prstGeom>
          </p:spPr>
          <p:txBody>
            <a:bodyPr anchor="ctr" rtlCol="false" tIns="0" lIns="0" bIns="0" rIns="0"/>
            <a:lstStyle/>
            <a:p>
              <a:pPr algn="l">
                <a:lnSpc>
                  <a:spcPts val="4320"/>
                </a:lnSpc>
              </a:pPr>
              <a:r>
                <a:rPr lang="en-US" sz="3600">
                  <a:solidFill>
                    <a:srgbClr val="1E293B"/>
                  </a:solidFill>
                  <a:latin typeface="Calibri (MS)"/>
                  <a:ea typeface="Calibri (MS)"/>
                  <a:cs typeface="Calibri (MS)"/>
                  <a:sym typeface="Calibri (MS)"/>
                </a:rPr>
                <a:t>Cybersécurité &amp; RGPD</a:t>
              </a:r>
            </a:p>
          </p:txBody>
        </p:sp>
      </p:grpSp>
      <p:grpSp>
        <p:nvGrpSpPr>
          <p:cNvPr name="Group 39" id="39"/>
          <p:cNvGrpSpPr/>
          <p:nvPr/>
        </p:nvGrpSpPr>
        <p:grpSpPr>
          <a:xfrm rot="0">
            <a:off x="2743200" y="6309360"/>
            <a:ext cx="1645920" cy="731520"/>
            <a:chOff x="0" y="0"/>
            <a:chExt cx="2194560" cy="975360"/>
          </a:xfrm>
        </p:grpSpPr>
        <p:sp>
          <p:nvSpPr>
            <p:cNvPr name="Freeform 40" id="40"/>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solidFill>
              <a:srgbClr val="0F766E"/>
            </a:solidFill>
          </p:spPr>
          <p:txBody>
            <a:bodyPr/>
            <a:p/>
          </p:txBody>
        </p:sp>
      </p:grpSp>
      <p:grpSp>
        <p:nvGrpSpPr>
          <p:cNvPr name="Group 41" id="41"/>
          <p:cNvGrpSpPr/>
          <p:nvPr/>
        </p:nvGrpSpPr>
        <p:grpSpPr>
          <a:xfrm rot="0">
            <a:off x="2743200" y="6309360"/>
            <a:ext cx="1645920" cy="731520"/>
            <a:chOff x="0" y="0"/>
            <a:chExt cx="2194560" cy="975360"/>
          </a:xfrm>
        </p:grpSpPr>
        <p:sp>
          <p:nvSpPr>
            <p:cNvPr name="Freeform 42" id="42"/>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blipFill>
              <a:blip r:embed="rId3">
                <a:alphaModFix amt="0"/>
              </a:blip>
              <a:stretch>
                <a:fillRect l="-7023" t="0" r="-7023" b="0"/>
              </a:stretch>
            </a:blipFill>
          </p:spPr>
          <p:txBody>
            <a:bodyPr/>
            <a:p/>
          </p:txBody>
        </p:sp>
        <p:sp>
          <p:nvSpPr>
            <p:cNvPr name="TextBox 43" id="43"/>
            <p:cNvSpPr txBox="true"/>
            <p:nvPr/>
          </p:nvSpPr>
          <p:spPr>
            <a:xfrm>
              <a:off x="0" y="-47625"/>
              <a:ext cx="219456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05</a:t>
              </a:r>
            </a:p>
          </p:txBody>
        </p:sp>
      </p:grpSp>
      <p:grpSp>
        <p:nvGrpSpPr>
          <p:cNvPr name="Group 44" id="44"/>
          <p:cNvGrpSpPr/>
          <p:nvPr/>
        </p:nvGrpSpPr>
        <p:grpSpPr>
          <a:xfrm rot="0">
            <a:off x="4846320" y="6309360"/>
            <a:ext cx="11887200" cy="731520"/>
            <a:chOff x="0" y="0"/>
            <a:chExt cx="15849600" cy="975360"/>
          </a:xfrm>
        </p:grpSpPr>
        <p:sp>
          <p:nvSpPr>
            <p:cNvPr name="Freeform 45" id="45"/>
            <p:cNvSpPr/>
            <p:nvPr/>
          </p:nvSpPr>
          <p:spPr>
            <a:xfrm flipH="false" flipV="false" rot="0">
              <a:off x="0" y="0"/>
              <a:ext cx="15849600" cy="975360"/>
            </a:xfrm>
            <a:custGeom>
              <a:avLst/>
              <a:gdLst/>
              <a:ahLst/>
              <a:cxnLst/>
              <a:rect r="r" b="b" t="t" l="l"/>
              <a:pathLst>
                <a:path h="975360" w="15849600">
                  <a:moveTo>
                    <a:pt x="0" y="0"/>
                  </a:moveTo>
                  <a:lnTo>
                    <a:pt x="15849600" y="0"/>
                  </a:lnTo>
                  <a:lnTo>
                    <a:pt x="15849600" y="975360"/>
                  </a:lnTo>
                  <a:lnTo>
                    <a:pt x="0" y="975360"/>
                  </a:lnTo>
                  <a:close/>
                </a:path>
              </a:pathLst>
            </a:custGeom>
            <a:blipFill>
              <a:blip r:embed="rId3">
                <a:alphaModFix amt="0"/>
              </a:blip>
              <a:stretch>
                <a:fillRect l="0" t="-266631" r="0" b="-266631"/>
              </a:stretch>
            </a:blipFill>
          </p:spPr>
          <p:txBody>
            <a:bodyPr/>
            <a:p/>
          </p:txBody>
        </p:sp>
        <p:sp>
          <p:nvSpPr>
            <p:cNvPr name="TextBox 46" id="46"/>
            <p:cNvSpPr txBox="true"/>
            <p:nvPr/>
          </p:nvSpPr>
          <p:spPr>
            <a:xfrm>
              <a:off x="0" y="-66675"/>
              <a:ext cx="15849600" cy="1042035"/>
            </a:xfrm>
            <a:prstGeom prst="rect">
              <a:avLst/>
            </a:prstGeom>
          </p:spPr>
          <p:txBody>
            <a:bodyPr anchor="ctr" rtlCol="false" tIns="0" lIns="0" bIns="0" rIns="0"/>
            <a:lstStyle/>
            <a:p>
              <a:pPr algn="l">
                <a:lnSpc>
                  <a:spcPts val="4320"/>
                </a:lnSpc>
              </a:pPr>
              <a:r>
                <a:rPr lang="en-US" sz="3600">
                  <a:solidFill>
                    <a:srgbClr val="1E293B"/>
                  </a:solidFill>
                  <a:latin typeface="Calibri (MS)"/>
                  <a:ea typeface="Calibri (MS)"/>
                  <a:cs typeface="Calibri (MS)"/>
                  <a:sym typeface="Calibri (MS)"/>
                </a:rPr>
                <a:t>Implémentation</a:t>
              </a:r>
            </a:p>
          </p:txBody>
        </p:sp>
      </p:grpSp>
      <p:grpSp>
        <p:nvGrpSpPr>
          <p:cNvPr name="Group 47" id="47"/>
          <p:cNvGrpSpPr/>
          <p:nvPr/>
        </p:nvGrpSpPr>
        <p:grpSpPr>
          <a:xfrm rot="0">
            <a:off x="2743200" y="7315200"/>
            <a:ext cx="1645920" cy="731520"/>
            <a:chOff x="0" y="0"/>
            <a:chExt cx="2194560" cy="975360"/>
          </a:xfrm>
        </p:grpSpPr>
        <p:sp>
          <p:nvSpPr>
            <p:cNvPr name="Freeform 48" id="48"/>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solidFill>
              <a:srgbClr val="0F766E"/>
            </a:solidFill>
          </p:spPr>
          <p:txBody>
            <a:bodyPr/>
            <a:p/>
          </p:txBody>
        </p:sp>
      </p:grpSp>
      <p:grpSp>
        <p:nvGrpSpPr>
          <p:cNvPr name="Group 49" id="49"/>
          <p:cNvGrpSpPr/>
          <p:nvPr/>
        </p:nvGrpSpPr>
        <p:grpSpPr>
          <a:xfrm rot="0">
            <a:off x="2743200" y="7315200"/>
            <a:ext cx="1645920" cy="731520"/>
            <a:chOff x="0" y="0"/>
            <a:chExt cx="2194560" cy="975360"/>
          </a:xfrm>
        </p:grpSpPr>
        <p:sp>
          <p:nvSpPr>
            <p:cNvPr name="Freeform 50" id="50"/>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blipFill>
              <a:blip r:embed="rId3">
                <a:alphaModFix amt="0"/>
              </a:blip>
              <a:stretch>
                <a:fillRect l="-7023" t="0" r="-7023" b="0"/>
              </a:stretch>
            </a:blipFill>
          </p:spPr>
          <p:txBody>
            <a:bodyPr/>
            <a:p/>
          </p:txBody>
        </p:sp>
        <p:sp>
          <p:nvSpPr>
            <p:cNvPr name="TextBox 51" id="51"/>
            <p:cNvSpPr txBox="true"/>
            <p:nvPr/>
          </p:nvSpPr>
          <p:spPr>
            <a:xfrm>
              <a:off x="0" y="-47625"/>
              <a:ext cx="219456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06</a:t>
              </a:r>
            </a:p>
          </p:txBody>
        </p:sp>
      </p:grpSp>
      <p:grpSp>
        <p:nvGrpSpPr>
          <p:cNvPr name="Group 52" id="52"/>
          <p:cNvGrpSpPr/>
          <p:nvPr/>
        </p:nvGrpSpPr>
        <p:grpSpPr>
          <a:xfrm rot="0">
            <a:off x="4846320" y="7315200"/>
            <a:ext cx="11887200" cy="731520"/>
            <a:chOff x="0" y="0"/>
            <a:chExt cx="15849600" cy="975360"/>
          </a:xfrm>
        </p:grpSpPr>
        <p:sp>
          <p:nvSpPr>
            <p:cNvPr name="Freeform 53" id="53"/>
            <p:cNvSpPr/>
            <p:nvPr/>
          </p:nvSpPr>
          <p:spPr>
            <a:xfrm flipH="false" flipV="false" rot="0">
              <a:off x="0" y="0"/>
              <a:ext cx="15849600" cy="975360"/>
            </a:xfrm>
            <a:custGeom>
              <a:avLst/>
              <a:gdLst/>
              <a:ahLst/>
              <a:cxnLst/>
              <a:rect r="r" b="b" t="t" l="l"/>
              <a:pathLst>
                <a:path h="975360" w="15849600">
                  <a:moveTo>
                    <a:pt x="0" y="0"/>
                  </a:moveTo>
                  <a:lnTo>
                    <a:pt x="15849600" y="0"/>
                  </a:lnTo>
                  <a:lnTo>
                    <a:pt x="15849600" y="975360"/>
                  </a:lnTo>
                  <a:lnTo>
                    <a:pt x="0" y="975360"/>
                  </a:lnTo>
                  <a:close/>
                </a:path>
              </a:pathLst>
            </a:custGeom>
            <a:blipFill>
              <a:blip r:embed="rId3">
                <a:alphaModFix amt="0"/>
              </a:blip>
              <a:stretch>
                <a:fillRect l="0" t="-266631" r="0" b="-266631"/>
              </a:stretch>
            </a:blipFill>
          </p:spPr>
          <p:txBody>
            <a:bodyPr/>
            <a:p/>
          </p:txBody>
        </p:sp>
        <p:sp>
          <p:nvSpPr>
            <p:cNvPr name="TextBox 54" id="54"/>
            <p:cNvSpPr txBox="true"/>
            <p:nvPr/>
          </p:nvSpPr>
          <p:spPr>
            <a:xfrm>
              <a:off x="0" y="-66675"/>
              <a:ext cx="15849600" cy="1042035"/>
            </a:xfrm>
            <a:prstGeom prst="rect">
              <a:avLst/>
            </a:prstGeom>
          </p:spPr>
          <p:txBody>
            <a:bodyPr anchor="ctr" rtlCol="false" tIns="0" lIns="0" bIns="0" rIns="0"/>
            <a:lstStyle/>
            <a:p>
              <a:pPr algn="l">
                <a:lnSpc>
                  <a:spcPts val="4320"/>
                </a:lnSpc>
              </a:pPr>
              <a:r>
                <a:rPr lang="en-US" sz="3600">
                  <a:solidFill>
                    <a:srgbClr val="1E293B"/>
                  </a:solidFill>
                  <a:latin typeface="Calibri (MS)"/>
                  <a:ea typeface="Calibri (MS)"/>
                  <a:cs typeface="Calibri (MS)"/>
                  <a:sym typeface="Calibri (MS)"/>
                </a:rPr>
                <a:t>Tests &amp; déploiement</a:t>
              </a:r>
            </a:p>
          </p:txBody>
        </p:sp>
      </p:grpSp>
      <p:grpSp>
        <p:nvGrpSpPr>
          <p:cNvPr name="Group 55" id="55"/>
          <p:cNvGrpSpPr/>
          <p:nvPr/>
        </p:nvGrpSpPr>
        <p:grpSpPr>
          <a:xfrm rot="0">
            <a:off x="2743200" y="8321040"/>
            <a:ext cx="1645920" cy="731520"/>
            <a:chOff x="0" y="0"/>
            <a:chExt cx="2194560" cy="975360"/>
          </a:xfrm>
        </p:grpSpPr>
        <p:sp>
          <p:nvSpPr>
            <p:cNvPr name="Freeform 56" id="56"/>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solidFill>
              <a:srgbClr val="6D28D9"/>
            </a:solidFill>
          </p:spPr>
          <p:txBody>
            <a:bodyPr/>
            <a:p/>
          </p:txBody>
        </p:sp>
      </p:grpSp>
      <p:grpSp>
        <p:nvGrpSpPr>
          <p:cNvPr name="Group 57" id="57"/>
          <p:cNvGrpSpPr/>
          <p:nvPr/>
        </p:nvGrpSpPr>
        <p:grpSpPr>
          <a:xfrm rot="0">
            <a:off x="2743200" y="8321040"/>
            <a:ext cx="1645920" cy="731520"/>
            <a:chOff x="0" y="0"/>
            <a:chExt cx="2194560" cy="975360"/>
          </a:xfrm>
        </p:grpSpPr>
        <p:sp>
          <p:nvSpPr>
            <p:cNvPr name="Freeform 58" id="58"/>
            <p:cNvSpPr/>
            <p:nvPr/>
          </p:nvSpPr>
          <p:spPr>
            <a:xfrm flipH="false" flipV="false" rot="0">
              <a:off x="0" y="0"/>
              <a:ext cx="2194560" cy="975360"/>
            </a:xfrm>
            <a:custGeom>
              <a:avLst/>
              <a:gdLst/>
              <a:ahLst/>
              <a:cxnLst/>
              <a:rect r="r" b="b" t="t" l="l"/>
              <a:pathLst>
                <a:path h="975360" w="2194560">
                  <a:moveTo>
                    <a:pt x="0" y="0"/>
                  </a:moveTo>
                  <a:lnTo>
                    <a:pt x="2194560" y="0"/>
                  </a:lnTo>
                  <a:lnTo>
                    <a:pt x="2194560" y="975360"/>
                  </a:lnTo>
                  <a:lnTo>
                    <a:pt x="0" y="975360"/>
                  </a:lnTo>
                  <a:close/>
                </a:path>
              </a:pathLst>
            </a:custGeom>
            <a:blipFill>
              <a:blip r:embed="rId3">
                <a:alphaModFix amt="0"/>
              </a:blip>
              <a:stretch>
                <a:fillRect l="-7023" t="0" r="-7023" b="0"/>
              </a:stretch>
            </a:blipFill>
          </p:spPr>
          <p:txBody>
            <a:bodyPr/>
            <a:p/>
          </p:txBody>
        </p:sp>
        <p:sp>
          <p:nvSpPr>
            <p:cNvPr name="TextBox 59" id="59"/>
            <p:cNvSpPr txBox="true"/>
            <p:nvPr/>
          </p:nvSpPr>
          <p:spPr>
            <a:xfrm>
              <a:off x="0" y="-47625"/>
              <a:ext cx="219456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07</a:t>
              </a:r>
            </a:p>
          </p:txBody>
        </p:sp>
      </p:grpSp>
      <p:grpSp>
        <p:nvGrpSpPr>
          <p:cNvPr name="Group 60" id="60"/>
          <p:cNvGrpSpPr/>
          <p:nvPr/>
        </p:nvGrpSpPr>
        <p:grpSpPr>
          <a:xfrm rot="0">
            <a:off x="4846320" y="8321040"/>
            <a:ext cx="11887200" cy="731520"/>
            <a:chOff x="0" y="0"/>
            <a:chExt cx="15849600" cy="975360"/>
          </a:xfrm>
        </p:grpSpPr>
        <p:sp>
          <p:nvSpPr>
            <p:cNvPr name="Freeform 61" id="61"/>
            <p:cNvSpPr/>
            <p:nvPr/>
          </p:nvSpPr>
          <p:spPr>
            <a:xfrm flipH="false" flipV="false" rot="0">
              <a:off x="0" y="0"/>
              <a:ext cx="15849600" cy="975360"/>
            </a:xfrm>
            <a:custGeom>
              <a:avLst/>
              <a:gdLst/>
              <a:ahLst/>
              <a:cxnLst/>
              <a:rect r="r" b="b" t="t" l="l"/>
              <a:pathLst>
                <a:path h="975360" w="15849600">
                  <a:moveTo>
                    <a:pt x="0" y="0"/>
                  </a:moveTo>
                  <a:lnTo>
                    <a:pt x="15849600" y="0"/>
                  </a:lnTo>
                  <a:lnTo>
                    <a:pt x="15849600" y="975360"/>
                  </a:lnTo>
                  <a:lnTo>
                    <a:pt x="0" y="975360"/>
                  </a:lnTo>
                  <a:close/>
                </a:path>
              </a:pathLst>
            </a:custGeom>
            <a:blipFill>
              <a:blip r:embed="rId3">
                <a:alphaModFix amt="0"/>
              </a:blip>
              <a:stretch>
                <a:fillRect l="0" t="-266631" r="0" b="-266631"/>
              </a:stretch>
            </a:blipFill>
          </p:spPr>
          <p:txBody>
            <a:bodyPr/>
            <a:p/>
          </p:txBody>
        </p:sp>
        <p:sp>
          <p:nvSpPr>
            <p:cNvPr name="TextBox 62" id="62"/>
            <p:cNvSpPr txBox="true"/>
            <p:nvPr/>
          </p:nvSpPr>
          <p:spPr>
            <a:xfrm>
              <a:off x="0" y="-66675"/>
              <a:ext cx="15849600" cy="1042035"/>
            </a:xfrm>
            <a:prstGeom prst="rect">
              <a:avLst/>
            </a:prstGeom>
          </p:spPr>
          <p:txBody>
            <a:bodyPr anchor="ctr" rtlCol="false" tIns="0" lIns="0" bIns="0" rIns="0"/>
            <a:lstStyle/>
            <a:p>
              <a:pPr algn="l">
                <a:lnSpc>
                  <a:spcPts val="4320"/>
                </a:lnSpc>
              </a:pPr>
              <a:r>
                <a:rPr lang="en-US" sz="3600">
                  <a:solidFill>
                    <a:srgbClr val="1E293B"/>
                  </a:solidFill>
                  <a:latin typeface="Calibri (MS)"/>
                  <a:ea typeface="Calibri (MS)"/>
                  <a:cs typeface="Calibri (MS)"/>
                  <a:sym typeface="Calibri (MS)"/>
                </a:rPr>
                <a:t>Bilan &amp; perspectives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2926080"/>
            <a:ext cx="16093440" cy="914400"/>
            <a:chOff x="0" y="0"/>
            <a:chExt cx="21457920" cy="1219200"/>
          </a:xfrm>
        </p:grpSpPr>
        <p:sp>
          <p:nvSpPr>
            <p:cNvPr name="Freeform 5" id="5"/>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6" id="6"/>
            <p:cNvSpPr txBox="true"/>
            <p:nvPr/>
          </p:nvSpPr>
          <p:spPr>
            <a:xfrm>
              <a:off x="0" y="-47625"/>
              <a:ext cx="21457920" cy="1266825"/>
            </a:xfrm>
            <a:prstGeom prst="rect">
              <a:avLst/>
            </a:prstGeom>
          </p:spPr>
          <p:txBody>
            <a:bodyPr anchor="ctr" rtlCol="false" tIns="0" lIns="0" bIns="0" rIns="0"/>
            <a:lstStyle/>
            <a:p>
              <a:pPr algn="l">
                <a:lnSpc>
                  <a:spcPts val="3359"/>
                </a:lnSpc>
              </a:pPr>
              <a:r>
                <a:rPr lang="en-US" sz="2799" b="true">
                  <a:solidFill>
                    <a:srgbClr val="06B6D4"/>
                  </a:solidFill>
                  <a:latin typeface="Calibri (MS) Bold"/>
                  <a:ea typeface="Calibri (MS) Bold"/>
                  <a:cs typeface="Calibri (MS) Bold"/>
                  <a:sym typeface="Calibri (MS) Bold"/>
                </a:rPr>
                <a:t>01</a:t>
              </a:r>
            </a:p>
          </p:txBody>
        </p:sp>
      </p:grpSp>
      <p:grpSp>
        <p:nvGrpSpPr>
          <p:cNvPr name="Group 7" id="7"/>
          <p:cNvGrpSpPr/>
          <p:nvPr/>
        </p:nvGrpSpPr>
        <p:grpSpPr>
          <a:xfrm rot="0">
            <a:off x="1097280" y="3749040"/>
            <a:ext cx="16093440" cy="2011680"/>
            <a:chOff x="0" y="0"/>
            <a:chExt cx="21457920" cy="2682240"/>
          </a:xfrm>
        </p:grpSpPr>
        <p:sp>
          <p:nvSpPr>
            <p:cNvPr name="Freeform 8" id="8"/>
            <p:cNvSpPr/>
            <p:nvPr/>
          </p:nvSpPr>
          <p:spPr>
            <a:xfrm flipH="false" flipV="false" rot="0">
              <a:off x="0" y="0"/>
              <a:ext cx="21457920" cy="2682240"/>
            </a:xfrm>
            <a:custGeom>
              <a:avLst/>
              <a:gdLst/>
              <a:ahLst/>
              <a:cxnLst/>
              <a:rect r="r" b="b" t="t" l="l"/>
              <a:pathLst>
                <a:path h="2682240" w="21457920">
                  <a:moveTo>
                    <a:pt x="0" y="0"/>
                  </a:moveTo>
                  <a:lnTo>
                    <a:pt x="21457920" y="0"/>
                  </a:lnTo>
                  <a:lnTo>
                    <a:pt x="21457920" y="2682240"/>
                  </a:lnTo>
                  <a:lnTo>
                    <a:pt x="0" y="2682240"/>
                  </a:lnTo>
                  <a:close/>
                </a:path>
              </a:pathLst>
            </a:custGeom>
            <a:blipFill>
              <a:blip r:embed="rId3">
                <a:alphaModFix amt="0"/>
              </a:blip>
              <a:stretch>
                <a:fillRect l="0" t="-105880" r="0" b="-105880"/>
              </a:stretch>
            </a:blipFill>
          </p:spPr>
          <p:txBody>
            <a:bodyPr/>
            <a:p/>
          </p:txBody>
        </p:sp>
        <p:sp>
          <p:nvSpPr>
            <p:cNvPr name="TextBox 9" id="9"/>
            <p:cNvSpPr txBox="true"/>
            <p:nvPr/>
          </p:nvSpPr>
          <p:spPr>
            <a:xfrm>
              <a:off x="0" y="-161925"/>
              <a:ext cx="21457920" cy="284416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Contexte &amp; objectifs</a:t>
              </a:r>
            </a:p>
          </p:txBody>
        </p:sp>
      </p:gr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Contexte</a:t>
              </a:r>
            </a:p>
          </p:txBody>
        </p:sp>
      </p:grpSp>
      <p:grpSp>
        <p:nvGrpSpPr>
          <p:cNvPr name="Group 7" id="7"/>
          <p:cNvGrpSpPr/>
          <p:nvPr/>
        </p:nvGrpSpPr>
        <p:grpSpPr>
          <a:xfrm rot="0">
            <a:off x="1816103" y="2639063"/>
            <a:ext cx="14655803" cy="1762763"/>
            <a:chOff x="0" y="0"/>
            <a:chExt cx="19541071" cy="2350351"/>
          </a:xfrm>
        </p:grpSpPr>
        <p:sp>
          <p:nvSpPr>
            <p:cNvPr name="Freeform 8" id="8"/>
            <p:cNvSpPr/>
            <p:nvPr/>
          </p:nvSpPr>
          <p:spPr>
            <a:xfrm flipH="false" flipV="false" rot="0">
              <a:off x="16891" y="16891"/>
              <a:ext cx="19507199" cy="2316480"/>
            </a:xfrm>
            <a:custGeom>
              <a:avLst/>
              <a:gdLst/>
              <a:ahLst/>
              <a:cxnLst/>
              <a:rect r="r" b="b" t="t" l="l"/>
              <a:pathLst>
                <a:path h="2316480" w="19507199">
                  <a:moveTo>
                    <a:pt x="0" y="0"/>
                  </a:moveTo>
                  <a:lnTo>
                    <a:pt x="19507199" y="0"/>
                  </a:lnTo>
                  <a:lnTo>
                    <a:pt x="19507199" y="2316480"/>
                  </a:lnTo>
                  <a:lnTo>
                    <a:pt x="0" y="2316480"/>
                  </a:lnTo>
                  <a:close/>
                </a:path>
              </a:pathLst>
            </a:custGeom>
            <a:solidFill>
              <a:srgbClr val="FFFFFF"/>
            </a:solidFill>
          </p:spPr>
          <p:txBody>
            <a:bodyPr/>
            <a:p/>
          </p:txBody>
        </p:sp>
        <p:sp>
          <p:nvSpPr>
            <p:cNvPr name="Freeform 9" id="9"/>
            <p:cNvSpPr/>
            <p:nvPr/>
          </p:nvSpPr>
          <p:spPr>
            <a:xfrm flipH="false" flipV="false" rot="0">
              <a:off x="0" y="0"/>
              <a:ext cx="19540982" cy="2350262"/>
            </a:xfrm>
            <a:custGeom>
              <a:avLst/>
              <a:gdLst/>
              <a:ahLst/>
              <a:cxnLst/>
              <a:rect r="r" b="b" t="t" l="l"/>
              <a:pathLst>
                <a:path h="2350262" w="19540982">
                  <a:moveTo>
                    <a:pt x="16891" y="0"/>
                  </a:moveTo>
                  <a:lnTo>
                    <a:pt x="19524090" y="0"/>
                  </a:lnTo>
                  <a:cubicBezTo>
                    <a:pt x="19533490" y="0"/>
                    <a:pt x="19540982" y="7620"/>
                    <a:pt x="19540982" y="16891"/>
                  </a:cubicBezTo>
                  <a:lnTo>
                    <a:pt x="19540982" y="2333371"/>
                  </a:lnTo>
                  <a:cubicBezTo>
                    <a:pt x="19540982" y="2342769"/>
                    <a:pt x="19533363" y="2350262"/>
                    <a:pt x="19524090"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9524090" y="2316480"/>
                  </a:lnTo>
                  <a:lnTo>
                    <a:pt x="19524090" y="2333371"/>
                  </a:lnTo>
                  <a:lnTo>
                    <a:pt x="19507200" y="2333371"/>
                  </a:lnTo>
                  <a:lnTo>
                    <a:pt x="19507200" y="16891"/>
                  </a:lnTo>
                  <a:lnTo>
                    <a:pt x="19524090" y="16891"/>
                  </a:lnTo>
                  <a:lnTo>
                    <a:pt x="19524090" y="33909"/>
                  </a:lnTo>
                  <a:lnTo>
                    <a:pt x="16891" y="33909"/>
                  </a:lnTo>
                  <a:close/>
                </a:path>
              </a:pathLst>
            </a:custGeom>
            <a:solidFill>
              <a:srgbClr val="E2E8F0"/>
            </a:solidFill>
          </p:spPr>
          <p:txBody>
            <a:bodyPr/>
            <a:p/>
          </p:txBody>
        </p:sp>
      </p:grpSp>
      <p:grpSp>
        <p:nvGrpSpPr>
          <p:cNvPr name="Group 10" id="10"/>
          <p:cNvGrpSpPr/>
          <p:nvPr/>
        </p:nvGrpSpPr>
        <p:grpSpPr>
          <a:xfrm rot="0">
            <a:off x="2286000" y="3054096"/>
            <a:ext cx="914400" cy="914400"/>
            <a:chOff x="0" y="0"/>
            <a:chExt cx="1219200" cy="1219200"/>
          </a:xfrm>
        </p:grpSpPr>
        <p:sp>
          <p:nvSpPr>
            <p:cNvPr name="Freeform 11" id="11" descr="preencoded.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3657600" y="2871216"/>
            <a:ext cx="12435840" cy="694944"/>
            <a:chOff x="0" y="0"/>
            <a:chExt cx="16581120" cy="926592"/>
          </a:xfrm>
        </p:grpSpPr>
        <p:sp>
          <p:nvSpPr>
            <p:cNvPr name="Freeform 13" id="13"/>
            <p:cNvSpPr/>
            <p:nvPr/>
          </p:nvSpPr>
          <p:spPr>
            <a:xfrm flipH="false" flipV="false" rot="0">
              <a:off x="0" y="0"/>
              <a:ext cx="16581120" cy="926592"/>
            </a:xfrm>
            <a:custGeom>
              <a:avLst/>
              <a:gdLst/>
              <a:ahLst/>
              <a:cxnLst/>
              <a:rect r="r" b="b" t="t" l="l"/>
              <a:pathLst>
                <a:path h="926592" w="16581120">
                  <a:moveTo>
                    <a:pt x="0" y="0"/>
                  </a:moveTo>
                  <a:lnTo>
                    <a:pt x="16581120" y="0"/>
                  </a:lnTo>
                  <a:lnTo>
                    <a:pt x="16581120" y="926592"/>
                  </a:lnTo>
                  <a:lnTo>
                    <a:pt x="0" y="926592"/>
                  </a:lnTo>
                  <a:close/>
                </a:path>
              </a:pathLst>
            </a:custGeom>
            <a:blipFill>
              <a:blip r:embed="rId3">
                <a:alphaModFix amt="0"/>
              </a:blip>
              <a:stretch>
                <a:fillRect l="0" t="-298679" r="0" b="-298679"/>
              </a:stretch>
            </a:blipFill>
          </p:spPr>
          <p:txBody>
            <a:bodyPr/>
            <a:p/>
          </p:txBody>
        </p:sp>
        <p:sp>
          <p:nvSpPr>
            <p:cNvPr name="TextBox 14" id="14"/>
            <p:cNvSpPr txBox="true"/>
            <p:nvPr/>
          </p:nvSpPr>
          <p:spPr>
            <a:xfrm>
              <a:off x="0" y="-57150"/>
              <a:ext cx="16581120" cy="983742"/>
            </a:xfrm>
            <a:prstGeom prst="rect">
              <a:avLst/>
            </a:prstGeom>
          </p:spPr>
          <p:txBody>
            <a:bodyPr anchor="ctr" rtlCol="false" tIns="0" lIns="0" bIns="0" rIns="0"/>
            <a:lstStyle/>
            <a:p>
              <a:pPr algn="l">
                <a:lnSpc>
                  <a:spcPts val="3840"/>
                </a:lnSpc>
              </a:pPr>
              <a:r>
                <a:rPr lang="en-US" sz="3200" b="true">
                  <a:solidFill>
                    <a:srgbClr val="1E3A5F"/>
                  </a:solidFill>
                  <a:latin typeface="Calibri (MS) Bold"/>
                  <a:ea typeface="Calibri (MS) Bold"/>
                  <a:cs typeface="Calibri (MS) Bold"/>
                  <a:sym typeface="Calibri (MS) Bold"/>
                </a:rPr>
                <a:t>ENSA Béni Mellal</a:t>
              </a:r>
            </a:p>
          </p:txBody>
        </p:sp>
      </p:grpSp>
      <p:grpSp>
        <p:nvGrpSpPr>
          <p:cNvPr name="Group 15" id="15"/>
          <p:cNvGrpSpPr/>
          <p:nvPr/>
        </p:nvGrpSpPr>
        <p:grpSpPr>
          <a:xfrm rot="0">
            <a:off x="3657600" y="3566160"/>
            <a:ext cx="12435840" cy="731520"/>
            <a:chOff x="0" y="0"/>
            <a:chExt cx="16581120" cy="975360"/>
          </a:xfrm>
        </p:grpSpPr>
        <p:sp>
          <p:nvSpPr>
            <p:cNvPr name="Freeform 16" id="16"/>
            <p:cNvSpPr/>
            <p:nvPr/>
          </p:nvSpPr>
          <p:spPr>
            <a:xfrm flipH="false" flipV="false" rot="0">
              <a:off x="0" y="0"/>
              <a:ext cx="16581120" cy="975360"/>
            </a:xfrm>
            <a:custGeom>
              <a:avLst/>
              <a:gdLst/>
              <a:ahLst/>
              <a:cxnLst/>
              <a:rect r="r" b="b" t="t" l="l"/>
              <a:pathLst>
                <a:path h="975360" w="16581120">
                  <a:moveTo>
                    <a:pt x="0" y="0"/>
                  </a:moveTo>
                  <a:lnTo>
                    <a:pt x="16581120" y="0"/>
                  </a:lnTo>
                  <a:lnTo>
                    <a:pt x="16581120" y="975360"/>
                  </a:lnTo>
                  <a:lnTo>
                    <a:pt x="0" y="975360"/>
                  </a:lnTo>
                  <a:close/>
                </a:path>
              </a:pathLst>
            </a:custGeom>
            <a:blipFill>
              <a:blip r:embed="rId3">
                <a:alphaModFix amt="0"/>
              </a:blip>
              <a:stretch>
                <a:fillRect l="0" t="-281245" r="0" b="-281245"/>
              </a:stretch>
            </a:blipFill>
          </p:spPr>
          <p:txBody>
            <a:bodyPr/>
            <a:p/>
          </p:txBody>
        </p:sp>
        <p:sp>
          <p:nvSpPr>
            <p:cNvPr name="TextBox 17" id="17"/>
            <p:cNvSpPr txBox="true"/>
            <p:nvPr/>
          </p:nvSpPr>
          <p:spPr>
            <a:xfrm>
              <a:off x="0" y="-57150"/>
              <a:ext cx="16581120" cy="103251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Filière IACS — Intelligence Artificielle &amp; Cybersécurité</a:t>
              </a:r>
            </a:p>
          </p:txBody>
        </p:sp>
      </p:grpSp>
      <p:grpSp>
        <p:nvGrpSpPr>
          <p:cNvPr name="Group 18" id="18"/>
          <p:cNvGrpSpPr/>
          <p:nvPr/>
        </p:nvGrpSpPr>
        <p:grpSpPr>
          <a:xfrm rot="0">
            <a:off x="1816103" y="4742183"/>
            <a:ext cx="14655803" cy="1762763"/>
            <a:chOff x="0" y="0"/>
            <a:chExt cx="19541071" cy="2350351"/>
          </a:xfrm>
        </p:grpSpPr>
        <p:sp>
          <p:nvSpPr>
            <p:cNvPr name="Freeform 19" id="19"/>
            <p:cNvSpPr/>
            <p:nvPr/>
          </p:nvSpPr>
          <p:spPr>
            <a:xfrm flipH="false" flipV="false" rot="0">
              <a:off x="16891" y="16891"/>
              <a:ext cx="19507199" cy="2316480"/>
            </a:xfrm>
            <a:custGeom>
              <a:avLst/>
              <a:gdLst/>
              <a:ahLst/>
              <a:cxnLst/>
              <a:rect r="r" b="b" t="t" l="l"/>
              <a:pathLst>
                <a:path h="2316480" w="19507199">
                  <a:moveTo>
                    <a:pt x="0" y="0"/>
                  </a:moveTo>
                  <a:lnTo>
                    <a:pt x="19507199" y="0"/>
                  </a:lnTo>
                  <a:lnTo>
                    <a:pt x="19507199" y="2316480"/>
                  </a:lnTo>
                  <a:lnTo>
                    <a:pt x="0" y="2316480"/>
                  </a:lnTo>
                  <a:close/>
                </a:path>
              </a:pathLst>
            </a:custGeom>
            <a:solidFill>
              <a:srgbClr val="FFFFFF"/>
            </a:solidFill>
          </p:spPr>
          <p:txBody>
            <a:bodyPr/>
            <a:p/>
          </p:txBody>
        </p:sp>
        <p:sp>
          <p:nvSpPr>
            <p:cNvPr name="Freeform 20" id="20"/>
            <p:cNvSpPr/>
            <p:nvPr/>
          </p:nvSpPr>
          <p:spPr>
            <a:xfrm flipH="false" flipV="false" rot="0">
              <a:off x="0" y="0"/>
              <a:ext cx="19540982" cy="2350262"/>
            </a:xfrm>
            <a:custGeom>
              <a:avLst/>
              <a:gdLst/>
              <a:ahLst/>
              <a:cxnLst/>
              <a:rect r="r" b="b" t="t" l="l"/>
              <a:pathLst>
                <a:path h="2350262" w="19540982">
                  <a:moveTo>
                    <a:pt x="16891" y="0"/>
                  </a:moveTo>
                  <a:lnTo>
                    <a:pt x="19524090" y="0"/>
                  </a:lnTo>
                  <a:cubicBezTo>
                    <a:pt x="19533490" y="0"/>
                    <a:pt x="19540982" y="7620"/>
                    <a:pt x="19540982" y="16891"/>
                  </a:cubicBezTo>
                  <a:lnTo>
                    <a:pt x="19540982" y="2333371"/>
                  </a:lnTo>
                  <a:cubicBezTo>
                    <a:pt x="19540982" y="2342769"/>
                    <a:pt x="19533363" y="2350262"/>
                    <a:pt x="19524090"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9524090" y="2316480"/>
                  </a:lnTo>
                  <a:lnTo>
                    <a:pt x="19524090" y="2333371"/>
                  </a:lnTo>
                  <a:lnTo>
                    <a:pt x="19507200" y="2333371"/>
                  </a:lnTo>
                  <a:lnTo>
                    <a:pt x="19507200" y="16891"/>
                  </a:lnTo>
                  <a:lnTo>
                    <a:pt x="19524090" y="16891"/>
                  </a:lnTo>
                  <a:lnTo>
                    <a:pt x="19524090" y="33909"/>
                  </a:lnTo>
                  <a:lnTo>
                    <a:pt x="16891" y="33909"/>
                  </a:lnTo>
                  <a:close/>
                </a:path>
              </a:pathLst>
            </a:custGeom>
            <a:solidFill>
              <a:srgbClr val="E2E8F0"/>
            </a:solidFill>
          </p:spPr>
          <p:txBody>
            <a:bodyPr/>
            <a:p/>
          </p:txBody>
        </p:sp>
      </p:grpSp>
      <p:grpSp>
        <p:nvGrpSpPr>
          <p:cNvPr name="Group 21" id="21"/>
          <p:cNvGrpSpPr/>
          <p:nvPr/>
        </p:nvGrpSpPr>
        <p:grpSpPr>
          <a:xfrm rot="0">
            <a:off x="2286000" y="5157216"/>
            <a:ext cx="914400" cy="914400"/>
            <a:chOff x="0" y="0"/>
            <a:chExt cx="1219200" cy="1219200"/>
          </a:xfrm>
        </p:grpSpPr>
        <p:sp>
          <p:nvSpPr>
            <p:cNvPr name="Freeform 22" id="22" descr="preencoded.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3657600" y="4974336"/>
            <a:ext cx="12435840" cy="694944"/>
            <a:chOff x="0" y="0"/>
            <a:chExt cx="16581120" cy="926592"/>
          </a:xfrm>
        </p:grpSpPr>
        <p:sp>
          <p:nvSpPr>
            <p:cNvPr name="Freeform 24" id="24"/>
            <p:cNvSpPr/>
            <p:nvPr/>
          </p:nvSpPr>
          <p:spPr>
            <a:xfrm flipH="false" flipV="false" rot="0">
              <a:off x="0" y="0"/>
              <a:ext cx="16581120" cy="926592"/>
            </a:xfrm>
            <a:custGeom>
              <a:avLst/>
              <a:gdLst/>
              <a:ahLst/>
              <a:cxnLst/>
              <a:rect r="r" b="b" t="t" l="l"/>
              <a:pathLst>
                <a:path h="926592" w="16581120">
                  <a:moveTo>
                    <a:pt x="0" y="0"/>
                  </a:moveTo>
                  <a:lnTo>
                    <a:pt x="16581120" y="0"/>
                  </a:lnTo>
                  <a:lnTo>
                    <a:pt x="16581120" y="926592"/>
                  </a:lnTo>
                  <a:lnTo>
                    <a:pt x="0" y="926592"/>
                  </a:lnTo>
                  <a:close/>
                </a:path>
              </a:pathLst>
            </a:custGeom>
            <a:blipFill>
              <a:blip r:embed="rId3">
                <a:alphaModFix amt="0"/>
              </a:blip>
              <a:stretch>
                <a:fillRect l="0" t="-298679" r="0" b="-298679"/>
              </a:stretch>
            </a:blipFill>
          </p:spPr>
          <p:txBody>
            <a:bodyPr/>
            <a:p/>
          </p:txBody>
        </p:sp>
        <p:sp>
          <p:nvSpPr>
            <p:cNvPr name="TextBox 25" id="25"/>
            <p:cNvSpPr txBox="true"/>
            <p:nvPr/>
          </p:nvSpPr>
          <p:spPr>
            <a:xfrm>
              <a:off x="0" y="-57150"/>
              <a:ext cx="16581120" cy="983742"/>
            </a:xfrm>
            <a:prstGeom prst="rect">
              <a:avLst/>
            </a:prstGeom>
          </p:spPr>
          <p:txBody>
            <a:bodyPr anchor="ctr" rtlCol="false" tIns="0" lIns="0" bIns="0" rIns="0"/>
            <a:lstStyle/>
            <a:p>
              <a:pPr algn="l">
                <a:lnSpc>
                  <a:spcPts val="3840"/>
                </a:lnSpc>
              </a:pPr>
              <a:r>
                <a:rPr lang="en-US" sz="3200" b="true">
                  <a:solidFill>
                    <a:srgbClr val="1E3A5F"/>
                  </a:solidFill>
                  <a:latin typeface="Calibri (MS) Bold"/>
                  <a:ea typeface="Calibri (MS) Bold"/>
                  <a:cs typeface="Calibri (MS) Bold"/>
                  <a:sym typeface="Calibri (MS) Bold"/>
                </a:rPr>
                <a:t>Digitalisation</a:t>
              </a:r>
            </a:p>
          </p:txBody>
        </p:sp>
      </p:grpSp>
      <p:grpSp>
        <p:nvGrpSpPr>
          <p:cNvPr name="Group 26" id="26"/>
          <p:cNvGrpSpPr/>
          <p:nvPr/>
        </p:nvGrpSpPr>
        <p:grpSpPr>
          <a:xfrm rot="0">
            <a:off x="3657600" y="5669280"/>
            <a:ext cx="12435840" cy="731520"/>
            <a:chOff x="0" y="0"/>
            <a:chExt cx="16581120" cy="975360"/>
          </a:xfrm>
        </p:grpSpPr>
        <p:sp>
          <p:nvSpPr>
            <p:cNvPr name="Freeform 27" id="27"/>
            <p:cNvSpPr/>
            <p:nvPr/>
          </p:nvSpPr>
          <p:spPr>
            <a:xfrm flipH="false" flipV="false" rot="0">
              <a:off x="0" y="0"/>
              <a:ext cx="16581120" cy="975360"/>
            </a:xfrm>
            <a:custGeom>
              <a:avLst/>
              <a:gdLst/>
              <a:ahLst/>
              <a:cxnLst/>
              <a:rect r="r" b="b" t="t" l="l"/>
              <a:pathLst>
                <a:path h="975360" w="16581120">
                  <a:moveTo>
                    <a:pt x="0" y="0"/>
                  </a:moveTo>
                  <a:lnTo>
                    <a:pt x="16581120" y="0"/>
                  </a:lnTo>
                  <a:lnTo>
                    <a:pt x="16581120" y="975360"/>
                  </a:lnTo>
                  <a:lnTo>
                    <a:pt x="0" y="975360"/>
                  </a:lnTo>
                  <a:close/>
                </a:path>
              </a:pathLst>
            </a:custGeom>
            <a:blipFill>
              <a:blip r:embed="rId3">
                <a:alphaModFix amt="0"/>
              </a:blip>
              <a:stretch>
                <a:fillRect l="0" t="-281245" r="0" b="-281245"/>
              </a:stretch>
            </a:blipFill>
          </p:spPr>
          <p:txBody>
            <a:bodyPr/>
            <a:p/>
          </p:txBody>
        </p:sp>
        <p:sp>
          <p:nvSpPr>
            <p:cNvPr name="TextBox 28" id="28"/>
            <p:cNvSpPr txBox="true"/>
            <p:nvPr/>
          </p:nvSpPr>
          <p:spPr>
            <a:xfrm>
              <a:off x="0" y="-57150"/>
              <a:ext cx="16581120" cy="103251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Modernisation des services aux étudiants</a:t>
              </a:r>
            </a:p>
          </p:txBody>
        </p:sp>
      </p:grpSp>
      <p:grpSp>
        <p:nvGrpSpPr>
          <p:cNvPr name="Group 29" id="29"/>
          <p:cNvGrpSpPr/>
          <p:nvPr/>
        </p:nvGrpSpPr>
        <p:grpSpPr>
          <a:xfrm rot="0">
            <a:off x="1816103" y="6845303"/>
            <a:ext cx="14655803" cy="1762763"/>
            <a:chOff x="0" y="0"/>
            <a:chExt cx="19541071" cy="2350351"/>
          </a:xfrm>
        </p:grpSpPr>
        <p:sp>
          <p:nvSpPr>
            <p:cNvPr name="Freeform 30" id="30"/>
            <p:cNvSpPr/>
            <p:nvPr/>
          </p:nvSpPr>
          <p:spPr>
            <a:xfrm flipH="false" flipV="false" rot="0">
              <a:off x="16891" y="16891"/>
              <a:ext cx="19507199" cy="2316480"/>
            </a:xfrm>
            <a:custGeom>
              <a:avLst/>
              <a:gdLst/>
              <a:ahLst/>
              <a:cxnLst/>
              <a:rect r="r" b="b" t="t" l="l"/>
              <a:pathLst>
                <a:path h="2316480" w="19507199">
                  <a:moveTo>
                    <a:pt x="0" y="0"/>
                  </a:moveTo>
                  <a:lnTo>
                    <a:pt x="19507199" y="0"/>
                  </a:lnTo>
                  <a:lnTo>
                    <a:pt x="19507199" y="2316480"/>
                  </a:lnTo>
                  <a:lnTo>
                    <a:pt x="0" y="2316480"/>
                  </a:lnTo>
                  <a:close/>
                </a:path>
              </a:pathLst>
            </a:custGeom>
            <a:solidFill>
              <a:srgbClr val="FFFFFF"/>
            </a:solidFill>
          </p:spPr>
          <p:txBody>
            <a:bodyPr/>
            <a:p/>
          </p:txBody>
        </p:sp>
        <p:sp>
          <p:nvSpPr>
            <p:cNvPr name="Freeform 31" id="31"/>
            <p:cNvSpPr/>
            <p:nvPr/>
          </p:nvSpPr>
          <p:spPr>
            <a:xfrm flipH="false" flipV="false" rot="0">
              <a:off x="0" y="0"/>
              <a:ext cx="19540982" cy="2350262"/>
            </a:xfrm>
            <a:custGeom>
              <a:avLst/>
              <a:gdLst/>
              <a:ahLst/>
              <a:cxnLst/>
              <a:rect r="r" b="b" t="t" l="l"/>
              <a:pathLst>
                <a:path h="2350262" w="19540982">
                  <a:moveTo>
                    <a:pt x="16891" y="0"/>
                  </a:moveTo>
                  <a:lnTo>
                    <a:pt x="19524090" y="0"/>
                  </a:lnTo>
                  <a:cubicBezTo>
                    <a:pt x="19533490" y="0"/>
                    <a:pt x="19540982" y="7620"/>
                    <a:pt x="19540982" y="16891"/>
                  </a:cubicBezTo>
                  <a:lnTo>
                    <a:pt x="19540982" y="2333371"/>
                  </a:lnTo>
                  <a:cubicBezTo>
                    <a:pt x="19540982" y="2342769"/>
                    <a:pt x="19533363" y="2350262"/>
                    <a:pt x="19524090"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9524090" y="2316480"/>
                  </a:lnTo>
                  <a:lnTo>
                    <a:pt x="19524090" y="2333371"/>
                  </a:lnTo>
                  <a:lnTo>
                    <a:pt x="19507200" y="2333371"/>
                  </a:lnTo>
                  <a:lnTo>
                    <a:pt x="19507200" y="16891"/>
                  </a:lnTo>
                  <a:lnTo>
                    <a:pt x="19524090" y="16891"/>
                  </a:lnTo>
                  <a:lnTo>
                    <a:pt x="19524090" y="33909"/>
                  </a:lnTo>
                  <a:lnTo>
                    <a:pt x="16891" y="33909"/>
                  </a:lnTo>
                  <a:close/>
                </a:path>
              </a:pathLst>
            </a:custGeom>
            <a:solidFill>
              <a:srgbClr val="E2E8F0"/>
            </a:solidFill>
          </p:spPr>
          <p:txBody>
            <a:bodyPr/>
            <a:p/>
          </p:txBody>
        </p:sp>
      </p:grpSp>
      <p:grpSp>
        <p:nvGrpSpPr>
          <p:cNvPr name="Group 32" id="32"/>
          <p:cNvGrpSpPr/>
          <p:nvPr/>
        </p:nvGrpSpPr>
        <p:grpSpPr>
          <a:xfrm rot="0">
            <a:off x="2286000" y="7260336"/>
            <a:ext cx="914400" cy="914400"/>
            <a:chOff x="0" y="0"/>
            <a:chExt cx="1219200" cy="1219200"/>
          </a:xfrm>
        </p:grpSpPr>
        <p:sp>
          <p:nvSpPr>
            <p:cNvPr name="Freeform 33" id="33" descr="preencoded.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3657600" y="7077456"/>
            <a:ext cx="12435840" cy="694944"/>
            <a:chOff x="0" y="0"/>
            <a:chExt cx="16581120" cy="926592"/>
          </a:xfrm>
        </p:grpSpPr>
        <p:sp>
          <p:nvSpPr>
            <p:cNvPr name="Freeform 35" id="35"/>
            <p:cNvSpPr/>
            <p:nvPr/>
          </p:nvSpPr>
          <p:spPr>
            <a:xfrm flipH="false" flipV="false" rot="0">
              <a:off x="0" y="0"/>
              <a:ext cx="16581120" cy="926592"/>
            </a:xfrm>
            <a:custGeom>
              <a:avLst/>
              <a:gdLst/>
              <a:ahLst/>
              <a:cxnLst/>
              <a:rect r="r" b="b" t="t" l="l"/>
              <a:pathLst>
                <a:path h="926592" w="16581120">
                  <a:moveTo>
                    <a:pt x="0" y="0"/>
                  </a:moveTo>
                  <a:lnTo>
                    <a:pt x="16581120" y="0"/>
                  </a:lnTo>
                  <a:lnTo>
                    <a:pt x="16581120" y="926592"/>
                  </a:lnTo>
                  <a:lnTo>
                    <a:pt x="0" y="926592"/>
                  </a:lnTo>
                  <a:close/>
                </a:path>
              </a:pathLst>
            </a:custGeom>
            <a:blipFill>
              <a:blip r:embed="rId3">
                <a:alphaModFix amt="0"/>
              </a:blip>
              <a:stretch>
                <a:fillRect l="0" t="-298679" r="0" b="-298679"/>
              </a:stretch>
            </a:blipFill>
          </p:spPr>
          <p:txBody>
            <a:bodyPr/>
            <a:p/>
          </p:txBody>
        </p:sp>
        <p:sp>
          <p:nvSpPr>
            <p:cNvPr name="TextBox 36" id="36"/>
            <p:cNvSpPr txBox="true"/>
            <p:nvPr/>
          </p:nvSpPr>
          <p:spPr>
            <a:xfrm>
              <a:off x="0" y="-57150"/>
              <a:ext cx="16581120" cy="983742"/>
            </a:xfrm>
            <a:prstGeom prst="rect">
              <a:avLst/>
            </a:prstGeom>
          </p:spPr>
          <p:txBody>
            <a:bodyPr anchor="ctr" rtlCol="false" tIns="0" lIns="0" bIns="0" rIns="0"/>
            <a:lstStyle/>
            <a:p>
              <a:pPr algn="l">
                <a:lnSpc>
                  <a:spcPts val="3840"/>
                </a:lnSpc>
              </a:pPr>
              <a:r>
                <a:rPr lang="en-US" sz="3200" b="true">
                  <a:solidFill>
                    <a:srgbClr val="1E3A5F"/>
                  </a:solidFill>
                  <a:latin typeface="Calibri (MS) Bold"/>
                  <a:ea typeface="Calibri (MS) Bold"/>
                  <a:cs typeface="Calibri (MS) Bold"/>
                  <a:sym typeface="Calibri (MS) Bold"/>
                </a:rPr>
                <a:t>Cas d'usage</a:t>
              </a:r>
            </a:p>
          </p:txBody>
        </p:sp>
      </p:grpSp>
      <p:grpSp>
        <p:nvGrpSpPr>
          <p:cNvPr name="Group 37" id="37"/>
          <p:cNvGrpSpPr/>
          <p:nvPr/>
        </p:nvGrpSpPr>
        <p:grpSpPr>
          <a:xfrm rot="0">
            <a:off x="3657600" y="7772400"/>
            <a:ext cx="12435840" cy="731520"/>
            <a:chOff x="0" y="0"/>
            <a:chExt cx="16581120" cy="975360"/>
          </a:xfrm>
        </p:grpSpPr>
        <p:sp>
          <p:nvSpPr>
            <p:cNvPr name="Freeform 38" id="38"/>
            <p:cNvSpPr/>
            <p:nvPr/>
          </p:nvSpPr>
          <p:spPr>
            <a:xfrm flipH="false" flipV="false" rot="0">
              <a:off x="0" y="0"/>
              <a:ext cx="16581120" cy="975360"/>
            </a:xfrm>
            <a:custGeom>
              <a:avLst/>
              <a:gdLst/>
              <a:ahLst/>
              <a:cxnLst/>
              <a:rect r="r" b="b" t="t" l="l"/>
              <a:pathLst>
                <a:path h="975360" w="16581120">
                  <a:moveTo>
                    <a:pt x="0" y="0"/>
                  </a:moveTo>
                  <a:lnTo>
                    <a:pt x="16581120" y="0"/>
                  </a:lnTo>
                  <a:lnTo>
                    <a:pt x="16581120" y="975360"/>
                  </a:lnTo>
                  <a:lnTo>
                    <a:pt x="0" y="975360"/>
                  </a:lnTo>
                  <a:close/>
                </a:path>
              </a:pathLst>
            </a:custGeom>
            <a:blipFill>
              <a:blip r:embed="rId3">
                <a:alphaModFix amt="0"/>
              </a:blip>
              <a:stretch>
                <a:fillRect l="0" t="-281245" r="0" b="-281245"/>
              </a:stretch>
            </a:blipFill>
          </p:spPr>
          <p:txBody>
            <a:bodyPr/>
            <a:p/>
          </p:txBody>
        </p:sp>
        <p:sp>
          <p:nvSpPr>
            <p:cNvPr name="TextBox 39" id="39"/>
            <p:cNvSpPr txBox="true"/>
            <p:nvPr/>
          </p:nvSpPr>
          <p:spPr>
            <a:xfrm>
              <a:off x="0" y="-57150"/>
              <a:ext cx="16581120" cy="103251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Assistant conversationnel multilingue institutionnel</a:t>
              </a:r>
            </a:p>
          </p:txBody>
        </p:sp>
      </p:grpSp>
      <p:sp>
        <p:nvSpPr>
          <p:cNvPr name="TextBox 40" id="4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Problématique</a:t>
              </a:r>
            </a:p>
          </p:txBody>
        </p:sp>
      </p:grpSp>
      <p:grpSp>
        <p:nvGrpSpPr>
          <p:cNvPr name="Group 7" id="7"/>
          <p:cNvGrpSpPr/>
          <p:nvPr/>
        </p:nvGrpSpPr>
        <p:grpSpPr>
          <a:xfrm rot="0">
            <a:off x="914400" y="2103120"/>
            <a:ext cx="16459200" cy="731520"/>
            <a:chOff x="0" y="0"/>
            <a:chExt cx="21945600" cy="975360"/>
          </a:xfrm>
        </p:grpSpPr>
        <p:sp>
          <p:nvSpPr>
            <p:cNvPr name="Freeform 8" id="8"/>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txBody>
            <a:bodyPr/>
            <a:p/>
          </p:txBody>
        </p:sp>
        <p:sp>
          <p:nvSpPr>
            <p:cNvPr name="TextBox 9" id="9"/>
            <p:cNvSpPr txBox="true"/>
            <p:nvPr/>
          </p:nvSpPr>
          <p:spPr>
            <a:xfrm>
              <a:off x="0" y="-66675"/>
              <a:ext cx="21945600" cy="1042035"/>
            </a:xfrm>
            <a:prstGeom prst="rect">
              <a:avLst/>
            </a:prstGeom>
          </p:spPr>
          <p:txBody>
            <a:bodyPr anchor="ctr" rtlCol="false" tIns="0" lIns="0" bIns="0" rIns="0"/>
            <a:lstStyle/>
            <a:p>
              <a:pPr algn="l">
                <a:lnSpc>
                  <a:spcPts val="4079"/>
                </a:lnSpc>
              </a:pPr>
              <a:r>
                <a:rPr lang="en-US" sz="3400" i="true">
                  <a:solidFill>
                    <a:srgbClr val="64748B"/>
                  </a:solidFill>
                  <a:latin typeface="Calibri (MS) Italics"/>
                  <a:ea typeface="Calibri (MS) Italics"/>
                  <a:cs typeface="Calibri (MS) Italics"/>
                  <a:sym typeface="Calibri (MS) Italics"/>
                </a:rPr>
                <a:t>Comment centraliser l'accès à l'information universitaire ?</a:t>
              </a:r>
            </a:p>
          </p:txBody>
        </p:sp>
      </p:grpSp>
      <p:grpSp>
        <p:nvGrpSpPr>
          <p:cNvPr name="Group 10" id="10"/>
          <p:cNvGrpSpPr/>
          <p:nvPr/>
        </p:nvGrpSpPr>
        <p:grpSpPr>
          <a:xfrm rot="0">
            <a:off x="1084583" y="3370583"/>
            <a:ext cx="7889243" cy="2677163"/>
            <a:chOff x="0" y="0"/>
            <a:chExt cx="10518991" cy="3569551"/>
          </a:xfrm>
        </p:grpSpPr>
        <p:sp>
          <p:nvSpPr>
            <p:cNvPr name="Freeform 11" id="11"/>
            <p:cNvSpPr/>
            <p:nvPr/>
          </p:nvSpPr>
          <p:spPr>
            <a:xfrm flipH="false" flipV="false" rot="0">
              <a:off x="16891" y="16891"/>
              <a:ext cx="10485120" cy="3535680"/>
            </a:xfrm>
            <a:custGeom>
              <a:avLst/>
              <a:gdLst/>
              <a:ahLst/>
              <a:cxnLst/>
              <a:rect r="r" b="b" t="t" l="l"/>
              <a:pathLst>
                <a:path h="3535680" w="10485120">
                  <a:moveTo>
                    <a:pt x="0" y="0"/>
                  </a:moveTo>
                  <a:lnTo>
                    <a:pt x="10485120" y="0"/>
                  </a:lnTo>
                  <a:lnTo>
                    <a:pt x="10485120" y="3535680"/>
                  </a:lnTo>
                  <a:lnTo>
                    <a:pt x="0" y="3535680"/>
                  </a:lnTo>
                  <a:close/>
                </a:path>
              </a:pathLst>
            </a:custGeom>
            <a:solidFill>
              <a:srgbClr val="FFFFFF"/>
            </a:solidFill>
          </p:spPr>
          <p:txBody>
            <a:bodyPr/>
            <a:p/>
          </p:txBody>
        </p:sp>
        <p:sp>
          <p:nvSpPr>
            <p:cNvPr name="Freeform 12" id="12"/>
            <p:cNvSpPr/>
            <p:nvPr/>
          </p:nvSpPr>
          <p:spPr>
            <a:xfrm flipH="false" flipV="false" rot="0">
              <a:off x="0" y="0"/>
              <a:ext cx="10518901" cy="3569462"/>
            </a:xfrm>
            <a:custGeom>
              <a:avLst/>
              <a:gdLst/>
              <a:ahLst/>
              <a:cxnLst/>
              <a:rect r="r" b="b" t="t" l="l"/>
              <a:pathLst>
                <a:path h="3569462" w="10518901">
                  <a:moveTo>
                    <a:pt x="16891" y="0"/>
                  </a:moveTo>
                  <a:lnTo>
                    <a:pt x="10502011" y="0"/>
                  </a:lnTo>
                  <a:cubicBezTo>
                    <a:pt x="10511409" y="0"/>
                    <a:pt x="10518901" y="7620"/>
                    <a:pt x="10518901" y="16891"/>
                  </a:cubicBezTo>
                  <a:lnTo>
                    <a:pt x="10518901" y="3552571"/>
                  </a:lnTo>
                  <a:cubicBezTo>
                    <a:pt x="10518901" y="3561969"/>
                    <a:pt x="10511282" y="3569462"/>
                    <a:pt x="10502011"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10502011" y="3535680"/>
                  </a:lnTo>
                  <a:lnTo>
                    <a:pt x="10502011" y="3552571"/>
                  </a:lnTo>
                  <a:lnTo>
                    <a:pt x="10485120" y="3552571"/>
                  </a:lnTo>
                  <a:lnTo>
                    <a:pt x="10485120" y="16891"/>
                  </a:lnTo>
                  <a:lnTo>
                    <a:pt x="10502011" y="16891"/>
                  </a:lnTo>
                  <a:lnTo>
                    <a:pt x="10502011" y="33909"/>
                  </a:lnTo>
                  <a:lnTo>
                    <a:pt x="16891" y="33909"/>
                  </a:lnTo>
                  <a:close/>
                </a:path>
              </a:pathLst>
            </a:custGeom>
            <a:solidFill>
              <a:srgbClr val="E2E8F0"/>
            </a:solidFill>
          </p:spPr>
          <p:txBody>
            <a:bodyPr/>
            <a:p/>
          </p:txBody>
        </p:sp>
      </p:grpSp>
      <p:grpSp>
        <p:nvGrpSpPr>
          <p:cNvPr name="Group 13" id="13"/>
          <p:cNvGrpSpPr/>
          <p:nvPr/>
        </p:nvGrpSpPr>
        <p:grpSpPr>
          <a:xfrm rot="0">
            <a:off x="1554480" y="3840480"/>
            <a:ext cx="1005840" cy="1005840"/>
            <a:chOff x="0" y="0"/>
            <a:chExt cx="1341120" cy="1341120"/>
          </a:xfrm>
        </p:grpSpPr>
        <p:sp>
          <p:nvSpPr>
            <p:cNvPr name="Freeform 14" id="14"/>
            <p:cNvSpPr/>
            <p:nvPr/>
          </p:nvSpPr>
          <p:spPr>
            <a:xfrm flipH="false" flipV="false" rot="0">
              <a:off x="0" y="0"/>
              <a:ext cx="1341120" cy="1341120"/>
            </a:xfrm>
            <a:custGeom>
              <a:avLst/>
              <a:gdLst/>
              <a:ahLst/>
              <a:cxnLst/>
              <a:rect r="r" b="b" t="t" l="l"/>
              <a:pathLst>
                <a:path h="1341120" w="1341120">
                  <a:moveTo>
                    <a:pt x="0" y="670560"/>
                  </a:moveTo>
                  <a:cubicBezTo>
                    <a:pt x="0" y="300228"/>
                    <a:pt x="300228" y="0"/>
                    <a:pt x="670560" y="0"/>
                  </a:cubicBezTo>
                  <a:cubicBezTo>
                    <a:pt x="1040892" y="0"/>
                    <a:pt x="1341120" y="300228"/>
                    <a:pt x="1341120" y="670560"/>
                  </a:cubicBezTo>
                  <a:cubicBezTo>
                    <a:pt x="1341120" y="1040892"/>
                    <a:pt x="1040892" y="1341120"/>
                    <a:pt x="670560" y="1341120"/>
                  </a:cubicBezTo>
                  <a:cubicBezTo>
                    <a:pt x="300228" y="1341120"/>
                    <a:pt x="0" y="1040892"/>
                    <a:pt x="0" y="670560"/>
                  </a:cubicBezTo>
                  <a:close/>
                </a:path>
              </a:pathLst>
            </a:custGeom>
            <a:solidFill>
              <a:srgbClr val="2563EB"/>
            </a:solidFill>
          </p:spPr>
          <p:txBody>
            <a:bodyPr/>
            <a:p/>
          </p:txBody>
        </p:sp>
      </p:grpSp>
      <p:grpSp>
        <p:nvGrpSpPr>
          <p:cNvPr name="Group 15" id="15"/>
          <p:cNvGrpSpPr/>
          <p:nvPr/>
        </p:nvGrpSpPr>
        <p:grpSpPr>
          <a:xfrm rot="0">
            <a:off x="1554480" y="3840480"/>
            <a:ext cx="1005840" cy="1005840"/>
            <a:chOff x="0" y="0"/>
            <a:chExt cx="1341120" cy="1341120"/>
          </a:xfrm>
        </p:grpSpPr>
        <p:sp>
          <p:nvSpPr>
            <p:cNvPr name="Freeform 16" id="16"/>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txBody>
            <a:bodyPr/>
            <a:p/>
          </p:txBody>
        </p:sp>
        <p:sp>
          <p:nvSpPr>
            <p:cNvPr name="TextBox 17" id="17"/>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1</a:t>
              </a:r>
            </a:p>
          </p:txBody>
        </p:sp>
      </p:grpSp>
      <p:grpSp>
        <p:nvGrpSpPr>
          <p:cNvPr name="Group 18" id="18"/>
          <p:cNvGrpSpPr/>
          <p:nvPr/>
        </p:nvGrpSpPr>
        <p:grpSpPr>
          <a:xfrm rot="0">
            <a:off x="2834640" y="3785616"/>
            <a:ext cx="6035040" cy="731520"/>
            <a:chOff x="0" y="0"/>
            <a:chExt cx="8046720" cy="975360"/>
          </a:xfrm>
        </p:grpSpPr>
        <p:sp>
          <p:nvSpPr>
            <p:cNvPr name="Freeform 19" id="19"/>
            <p:cNvSpPr/>
            <p:nvPr/>
          </p:nvSpPr>
          <p:spPr>
            <a:xfrm flipH="false" flipV="false" rot="0">
              <a:off x="0" y="0"/>
              <a:ext cx="8046720" cy="975360"/>
            </a:xfrm>
            <a:custGeom>
              <a:avLst/>
              <a:gdLst/>
              <a:ahLst/>
              <a:cxnLst/>
              <a:rect r="r" b="b" t="t" l="l"/>
              <a:pathLst>
                <a:path h="975360" w="8046720">
                  <a:moveTo>
                    <a:pt x="0" y="0"/>
                  </a:moveTo>
                  <a:lnTo>
                    <a:pt x="8046720" y="0"/>
                  </a:lnTo>
                  <a:lnTo>
                    <a:pt x="8046720" y="975360"/>
                  </a:lnTo>
                  <a:lnTo>
                    <a:pt x="0" y="975360"/>
                  </a:lnTo>
                  <a:close/>
                </a:path>
              </a:pathLst>
            </a:custGeom>
            <a:blipFill>
              <a:blip r:embed="rId3">
                <a:alphaModFix amt="0"/>
              </a:blip>
              <a:stretch>
                <a:fillRect l="0" t="-110751" r="0" b="-110751"/>
              </a:stretch>
            </a:blipFill>
          </p:spPr>
          <p:txBody>
            <a:bodyPr/>
            <a:p/>
          </p:txBody>
        </p:sp>
        <p:sp>
          <p:nvSpPr>
            <p:cNvPr name="TextBox 20" id="20"/>
            <p:cNvSpPr txBox="true"/>
            <p:nvPr/>
          </p:nvSpPr>
          <p:spPr>
            <a:xfrm>
              <a:off x="0" y="-47625"/>
              <a:ext cx="8046720" cy="102298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Information dispersée</a:t>
              </a:r>
            </a:p>
          </p:txBody>
        </p:sp>
      </p:grpSp>
      <p:grpSp>
        <p:nvGrpSpPr>
          <p:cNvPr name="Group 21" id="21"/>
          <p:cNvGrpSpPr/>
          <p:nvPr/>
        </p:nvGrpSpPr>
        <p:grpSpPr>
          <a:xfrm rot="0">
            <a:off x="2834640" y="4517136"/>
            <a:ext cx="6035040" cy="1371600"/>
            <a:chOff x="0" y="0"/>
            <a:chExt cx="8046720" cy="1828800"/>
          </a:xfrm>
        </p:grpSpPr>
        <p:sp>
          <p:nvSpPr>
            <p:cNvPr name="Freeform 22" id="22"/>
            <p:cNvSpPr/>
            <p:nvPr/>
          </p:nvSpPr>
          <p:spPr>
            <a:xfrm flipH="false" flipV="false" rot="0">
              <a:off x="0" y="0"/>
              <a:ext cx="8046720" cy="1828800"/>
            </a:xfrm>
            <a:custGeom>
              <a:avLst/>
              <a:gdLst/>
              <a:ahLst/>
              <a:cxnLst/>
              <a:rect r="r" b="b" t="t" l="l"/>
              <a:pathLst>
                <a:path h="1828800" w="8046720">
                  <a:moveTo>
                    <a:pt x="0" y="0"/>
                  </a:moveTo>
                  <a:lnTo>
                    <a:pt x="8046720" y="0"/>
                  </a:lnTo>
                  <a:lnTo>
                    <a:pt x="8046720" y="1828800"/>
                  </a:lnTo>
                  <a:lnTo>
                    <a:pt x="0" y="1828800"/>
                  </a:lnTo>
                  <a:close/>
                </a:path>
              </a:pathLst>
            </a:custGeom>
            <a:blipFill>
              <a:blip r:embed="rId3">
                <a:alphaModFix amt="0"/>
              </a:blip>
              <a:stretch>
                <a:fillRect l="0" t="-35734" r="0" b="-35734"/>
              </a:stretch>
            </a:blipFill>
          </p:spPr>
          <p:txBody>
            <a:bodyPr/>
            <a:p/>
          </p:txBody>
        </p:sp>
        <p:sp>
          <p:nvSpPr>
            <p:cNvPr name="TextBox 23" id="23"/>
            <p:cNvSpPr txBox="true"/>
            <p:nvPr/>
          </p:nvSpPr>
          <p:spPr>
            <a:xfrm>
              <a:off x="0" y="-38100"/>
              <a:ext cx="8046720" cy="186690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FAQ, portails, fichiers, services administratifs</a:t>
              </a:r>
            </a:p>
          </p:txBody>
        </p:sp>
      </p:grpSp>
      <p:grpSp>
        <p:nvGrpSpPr>
          <p:cNvPr name="Group 24" id="24"/>
          <p:cNvGrpSpPr/>
          <p:nvPr/>
        </p:nvGrpSpPr>
        <p:grpSpPr>
          <a:xfrm rot="0">
            <a:off x="9314183" y="3370583"/>
            <a:ext cx="7889243" cy="2677163"/>
            <a:chOff x="0" y="0"/>
            <a:chExt cx="10518991" cy="3569551"/>
          </a:xfrm>
        </p:grpSpPr>
        <p:sp>
          <p:nvSpPr>
            <p:cNvPr name="Freeform 25" id="25"/>
            <p:cNvSpPr/>
            <p:nvPr/>
          </p:nvSpPr>
          <p:spPr>
            <a:xfrm flipH="false" flipV="false" rot="0">
              <a:off x="16891" y="16891"/>
              <a:ext cx="10485120" cy="3535680"/>
            </a:xfrm>
            <a:custGeom>
              <a:avLst/>
              <a:gdLst/>
              <a:ahLst/>
              <a:cxnLst/>
              <a:rect r="r" b="b" t="t" l="l"/>
              <a:pathLst>
                <a:path h="3535680" w="10485120">
                  <a:moveTo>
                    <a:pt x="0" y="0"/>
                  </a:moveTo>
                  <a:lnTo>
                    <a:pt x="10485120" y="0"/>
                  </a:lnTo>
                  <a:lnTo>
                    <a:pt x="10485120" y="3535680"/>
                  </a:lnTo>
                  <a:lnTo>
                    <a:pt x="0" y="3535680"/>
                  </a:lnTo>
                  <a:close/>
                </a:path>
              </a:pathLst>
            </a:custGeom>
            <a:solidFill>
              <a:srgbClr val="FFFFFF"/>
            </a:solidFill>
          </p:spPr>
          <p:txBody>
            <a:bodyPr/>
            <a:p/>
          </p:txBody>
        </p:sp>
        <p:sp>
          <p:nvSpPr>
            <p:cNvPr name="Freeform 26" id="26"/>
            <p:cNvSpPr/>
            <p:nvPr/>
          </p:nvSpPr>
          <p:spPr>
            <a:xfrm flipH="false" flipV="false" rot="0">
              <a:off x="0" y="0"/>
              <a:ext cx="10518901" cy="3569462"/>
            </a:xfrm>
            <a:custGeom>
              <a:avLst/>
              <a:gdLst/>
              <a:ahLst/>
              <a:cxnLst/>
              <a:rect r="r" b="b" t="t" l="l"/>
              <a:pathLst>
                <a:path h="3569462" w="10518901">
                  <a:moveTo>
                    <a:pt x="16891" y="0"/>
                  </a:moveTo>
                  <a:lnTo>
                    <a:pt x="10502011" y="0"/>
                  </a:lnTo>
                  <a:cubicBezTo>
                    <a:pt x="10511409" y="0"/>
                    <a:pt x="10518901" y="7620"/>
                    <a:pt x="10518901" y="16891"/>
                  </a:cubicBezTo>
                  <a:lnTo>
                    <a:pt x="10518901" y="3552571"/>
                  </a:lnTo>
                  <a:cubicBezTo>
                    <a:pt x="10518901" y="3561969"/>
                    <a:pt x="10511282" y="3569462"/>
                    <a:pt x="10502011"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10502011" y="3535680"/>
                  </a:lnTo>
                  <a:lnTo>
                    <a:pt x="10502011" y="3552571"/>
                  </a:lnTo>
                  <a:lnTo>
                    <a:pt x="10485120" y="3552571"/>
                  </a:lnTo>
                  <a:lnTo>
                    <a:pt x="10485120" y="16891"/>
                  </a:lnTo>
                  <a:lnTo>
                    <a:pt x="10502011" y="16891"/>
                  </a:lnTo>
                  <a:lnTo>
                    <a:pt x="10502011" y="33909"/>
                  </a:lnTo>
                  <a:lnTo>
                    <a:pt x="16891" y="33909"/>
                  </a:lnTo>
                  <a:close/>
                </a:path>
              </a:pathLst>
            </a:custGeom>
            <a:solidFill>
              <a:srgbClr val="E2E8F0"/>
            </a:solidFill>
          </p:spPr>
          <p:txBody>
            <a:bodyPr/>
            <a:p/>
          </p:txBody>
        </p:sp>
      </p:grpSp>
      <p:grpSp>
        <p:nvGrpSpPr>
          <p:cNvPr name="Group 27" id="27"/>
          <p:cNvGrpSpPr/>
          <p:nvPr/>
        </p:nvGrpSpPr>
        <p:grpSpPr>
          <a:xfrm rot="0">
            <a:off x="9784080" y="3840480"/>
            <a:ext cx="1005840" cy="1005840"/>
            <a:chOff x="0" y="0"/>
            <a:chExt cx="1341120" cy="1341120"/>
          </a:xfrm>
        </p:grpSpPr>
        <p:sp>
          <p:nvSpPr>
            <p:cNvPr name="Freeform 28" id="28"/>
            <p:cNvSpPr/>
            <p:nvPr/>
          </p:nvSpPr>
          <p:spPr>
            <a:xfrm flipH="false" flipV="false" rot="0">
              <a:off x="0" y="0"/>
              <a:ext cx="1341120" cy="1341120"/>
            </a:xfrm>
            <a:custGeom>
              <a:avLst/>
              <a:gdLst/>
              <a:ahLst/>
              <a:cxnLst/>
              <a:rect r="r" b="b" t="t" l="l"/>
              <a:pathLst>
                <a:path h="1341120" w="1341120">
                  <a:moveTo>
                    <a:pt x="0" y="670560"/>
                  </a:moveTo>
                  <a:cubicBezTo>
                    <a:pt x="0" y="300228"/>
                    <a:pt x="300228" y="0"/>
                    <a:pt x="670560" y="0"/>
                  </a:cubicBezTo>
                  <a:cubicBezTo>
                    <a:pt x="1040892" y="0"/>
                    <a:pt x="1341120" y="300228"/>
                    <a:pt x="1341120" y="670560"/>
                  </a:cubicBezTo>
                  <a:cubicBezTo>
                    <a:pt x="1341120" y="1040892"/>
                    <a:pt x="1040892" y="1341120"/>
                    <a:pt x="670560" y="1341120"/>
                  </a:cubicBezTo>
                  <a:cubicBezTo>
                    <a:pt x="300228" y="1341120"/>
                    <a:pt x="0" y="1040892"/>
                    <a:pt x="0" y="670560"/>
                  </a:cubicBezTo>
                  <a:close/>
                </a:path>
              </a:pathLst>
            </a:custGeom>
            <a:solidFill>
              <a:srgbClr val="2563EB"/>
            </a:solidFill>
          </p:spPr>
          <p:txBody>
            <a:bodyPr/>
            <a:p/>
          </p:txBody>
        </p:sp>
      </p:grpSp>
      <p:grpSp>
        <p:nvGrpSpPr>
          <p:cNvPr name="Group 29" id="29"/>
          <p:cNvGrpSpPr/>
          <p:nvPr/>
        </p:nvGrpSpPr>
        <p:grpSpPr>
          <a:xfrm rot="0">
            <a:off x="9784080" y="3840480"/>
            <a:ext cx="1005840" cy="1005840"/>
            <a:chOff x="0" y="0"/>
            <a:chExt cx="1341120" cy="1341120"/>
          </a:xfrm>
        </p:grpSpPr>
        <p:sp>
          <p:nvSpPr>
            <p:cNvPr name="Freeform 30" id="30"/>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txBody>
            <a:bodyPr/>
            <a:p/>
          </p:txBody>
        </p:sp>
        <p:sp>
          <p:nvSpPr>
            <p:cNvPr name="TextBox 31" id="31"/>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2</a:t>
              </a:r>
            </a:p>
          </p:txBody>
        </p:sp>
      </p:grpSp>
      <p:grpSp>
        <p:nvGrpSpPr>
          <p:cNvPr name="Group 32" id="32"/>
          <p:cNvGrpSpPr/>
          <p:nvPr/>
        </p:nvGrpSpPr>
        <p:grpSpPr>
          <a:xfrm rot="0">
            <a:off x="11064240" y="3785616"/>
            <a:ext cx="6035040" cy="731520"/>
            <a:chOff x="0" y="0"/>
            <a:chExt cx="8046720" cy="975360"/>
          </a:xfrm>
        </p:grpSpPr>
        <p:sp>
          <p:nvSpPr>
            <p:cNvPr name="Freeform 33" id="33"/>
            <p:cNvSpPr/>
            <p:nvPr/>
          </p:nvSpPr>
          <p:spPr>
            <a:xfrm flipH="false" flipV="false" rot="0">
              <a:off x="0" y="0"/>
              <a:ext cx="8046720" cy="975360"/>
            </a:xfrm>
            <a:custGeom>
              <a:avLst/>
              <a:gdLst/>
              <a:ahLst/>
              <a:cxnLst/>
              <a:rect r="r" b="b" t="t" l="l"/>
              <a:pathLst>
                <a:path h="975360" w="8046720">
                  <a:moveTo>
                    <a:pt x="0" y="0"/>
                  </a:moveTo>
                  <a:lnTo>
                    <a:pt x="8046720" y="0"/>
                  </a:lnTo>
                  <a:lnTo>
                    <a:pt x="8046720" y="975360"/>
                  </a:lnTo>
                  <a:lnTo>
                    <a:pt x="0" y="975360"/>
                  </a:lnTo>
                  <a:close/>
                </a:path>
              </a:pathLst>
            </a:custGeom>
            <a:blipFill>
              <a:blip r:embed="rId3">
                <a:alphaModFix amt="0"/>
              </a:blip>
              <a:stretch>
                <a:fillRect l="0" t="-110751" r="0" b="-110751"/>
              </a:stretch>
            </a:blipFill>
          </p:spPr>
          <p:txBody>
            <a:bodyPr/>
            <a:p/>
          </p:txBody>
        </p:sp>
        <p:sp>
          <p:nvSpPr>
            <p:cNvPr name="TextBox 34" id="34"/>
            <p:cNvSpPr txBox="true"/>
            <p:nvPr/>
          </p:nvSpPr>
          <p:spPr>
            <a:xfrm>
              <a:off x="0" y="-47625"/>
              <a:ext cx="8046720" cy="102298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Questions répétitives</a:t>
              </a:r>
            </a:p>
          </p:txBody>
        </p:sp>
      </p:grpSp>
      <p:grpSp>
        <p:nvGrpSpPr>
          <p:cNvPr name="Group 35" id="35"/>
          <p:cNvGrpSpPr/>
          <p:nvPr/>
        </p:nvGrpSpPr>
        <p:grpSpPr>
          <a:xfrm rot="0">
            <a:off x="11064240" y="4517136"/>
            <a:ext cx="6035040" cy="1371600"/>
            <a:chOff x="0" y="0"/>
            <a:chExt cx="8046720" cy="1828800"/>
          </a:xfrm>
        </p:grpSpPr>
        <p:sp>
          <p:nvSpPr>
            <p:cNvPr name="Freeform 36" id="36"/>
            <p:cNvSpPr/>
            <p:nvPr/>
          </p:nvSpPr>
          <p:spPr>
            <a:xfrm flipH="false" flipV="false" rot="0">
              <a:off x="0" y="0"/>
              <a:ext cx="8046720" cy="1828800"/>
            </a:xfrm>
            <a:custGeom>
              <a:avLst/>
              <a:gdLst/>
              <a:ahLst/>
              <a:cxnLst/>
              <a:rect r="r" b="b" t="t" l="l"/>
              <a:pathLst>
                <a:path h="1828800" w="8046720">
                  <a:moveTo>
                    <a:pt x="0" y="0"/>
                  </a:moveTo>
                  <a:lnTo>
                    <a:pt x="8046720" y="0"/>
                  </a:lnTo>
                  <a:lnTo>
                    <a:pt x="8046720" y="1828800"/>
                  </a:lnTo>
                  <a:lnTo>
                    <a:pt x="0" y="1828800"/>
                  </a:lnTo>
                  <a:close/>
                </a:path>
              </a:pathLst>
            </a:custGeom>
            <a:blipFill>
              <a:blip r:embed="rId3">
                <a:alphaModFix amt="0"/>
              </a:blip>
              <a:stretch>
                <a:fillRect l="0" t="-35734" r="0" b="-35734"/>
              </a:stretch>
            </a:blipFill>
          </p:spPr>
          <p:txBody>
            <a:bodyPr/>
            <a:p/>
          </p:txBody>
        </p:sp>
        <p:sp>
          <p:nvSpPr>
            <p:cNvPr name="TextBox 37" id="37"/>
            <p:cNvSpPr txBox="true"/>
            <p:nvPr/>
          </p:nvSpPr>
          <p:spPr>
            <a:xfrm>
              <a:off x="0" y="-38100"/>
              <a:ext cx="8046720" cy="186690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Charge importante sur le personnel universitaire</a:t>
              </a:r>
            </a:p>
          </p:txBody>
        </p:sp>
      </p:grpSp>
      <p:grpSp>
        <p:nvGrpSpPr>
          <p:cNvPr name="Group 38" id="38"/>
          <p:cNvGrpSpPr/>
          <p:nvPr/>
        </p:nvGrpSpPr>
        <p:grpSpPr>
          <a:xfrm rot="0">
            <a:off x="1084583" y="6388103"/>
            <a:ext cx="7889243" cy="2677163"/>
            <a:chOff x="0" y="0"/>
            <a:chExt cx="10518991" cy="3569551"/>
          </a:xfrm>
        </p:grpSpPr>
        <p:sp>
          <p:nvSpPr>
            <p:cNvPr name="Freeform 39" id="39"/>
            <p:cNvSpPr/>
            <p:nvPr/>
          </p:nvSpPr>
          <p:spPr>
            <a:xfrm flipH="false" flipV="false" rot="0">
              <a:off x="16891" y="16891"/>
              <a:ext cx="10485120" cy="3535680"/>
            </a:xfrm>
            <a:custGeom>
              <a:avLst/>
              <a:gdLst/>
              <a:ahLst/>
              <a:cxnLst/>
              <a:rect r="r" b="b" t="t" l="l"/>
              <a:pathLst>
                <a:path h="3535680" w="10485120">
                  <a:moveTo>
                    <a:pt x="0" y="0"/>
                  </a:moveTo>
                  <a:lnTo>
                    <a:pt x="10485120" y="0"/>
                  </a:lnTo>
                  <a:lnTo>
                    <a:pt x="10485120" y="3535680"/>
                  </a:lnTo>
                  <a:lnTo>
                    <a:pt x="0" y="3535680"/>
                  </a:lnTo>
                  <a:close/>
                </a:path>
              </a:pathLst>
            </a:custGeom>
            <a:solidFill>
              <a:srgbClr val="FFFFFF"/>
            </a:solidFill>
          </p:spPr>
          <p:txBody>
            <a:bodyPr/>
            <a:p/>
          </p:txBody>
        </p:sp>
        <p:sp>
          <p:nvSpPr>
            <p:cNvPr name="Freeform 40" id="40"/>
            <p:cNvSpPr/>
            <p:nvPr/>
          </p:nvSpPr>
          <p:spPr>
            <a:xfrm flipH="false" flipV="false" rot="0">
              <a:off x="0" y="0"/>
              <a:ext cx="10518901" cy="3569462"/>
            </a:xfrm>
            <a:custGeom>
              <a:avLst/>
              <a:gdLst/>
              <a:ahLst/>
              <a:cxnLst/>
              <a:rect r="r" b="b" t="t" l="l"/>
              <a:pathLst>
                <a:path h="3569462" w="10518901">
                  <a:moveTo>
                    <a:pt x="16891" y="0"/>
                  </a:moveTo>
                  <a:lnTo>
                    <a:pt x="10502011" y="0"/>
                  </a:lnTo>
                  <a:cubicBezTo>
                    <a:pt x="10511409" y="0"/>
                    <a:pt x="10518901" y="7620"/>
                    <a:pt x="10518901" y="16891"/>
                  </a:cubicBezTo>
                  <a:lnTo>
                    <a:pt x="10518901" y="3552571"/>
                  </a:lnTo>
                  <a:cubicBezTo>
                    <a:pt x="10518901" y="3561969"/>
                    <a:pt x="10511282" y="3569462"/>
                    <a:pt x="10502011"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10502011" y="3535680"/>
                  </a:lnTo>
                  <a:lnTo>
                    <a:pt x="10502011" y="3552571"/>
                  </a:lnTo>
                  <a:lnTo>
                    <a:pt x="10485120" y="3552571"/>
                  </a:lnTo>
                  <a:lnTo>
                    <a:pt x="10485120" y="16891"/>
                  </a:lnTo>
                  <a:lnTo>
                    <a:pt x="10502011" y="16891"/>
                  </a:lnTo>
                  <a:lnTo>
                    <a:pt x="10502011" y="33909"/>
                  </a:lnTo>
                  <a:lnTo>
                    <a:pt x="16891" y="33909"/>
                  </a:lnTo>
                  <a:close/>
                </a:path>
              </a:pathLst>
            </a:custGeom>
            <a:solidFill>
              <a:srgbClr val="E2E8F0"/>
            </a:solidFill>
          </p:spPr>
          <p:txBody>
            <a:bodyPr/>
            <a:p/>
          </p:txBody>
        </p:sp>
      </p:grpSp>
      <p:grpSp>
        <p:nvGrpSpPr>
          <p:cNvPr name="Group 41" id="41"/>
          <p:cNvGrpSpPr/>
          <p:nvPr/>
        </p:nvGrpSpPr>
        <p:grpSpPr>
          <a:xfrm rot="0">
            <a:off x="1554480" y="6858000"/>
            <a:ext cx="1005840" cy="1005840"/>
            <a:chOff x="0" y="0"/>
            <a:chExt cx="1341120" cy="1341120"/>
          </a:xfrm>
        </p:grpSpPr>
        <p:sp>
          <p:nvSpPr>
            <p:cNvPr name="Freeform 42" id="42"/>
            <p:cNvSpPr/>
            <p:nvPr/>
          </p:nvSpPr>
          <p:spPr>
            <a:xfrm flipH="false" flipV="false" rot="0">
              <a:off x="0" y="0"/>
              <a:ext cx="1341120" cy="1341120"/>
            </a:xfrm>
            <a:custGeom>
              <a:avLst/>
              <a:gdLst/>
              <a:ahLst/>
              <a:cxnLst/>
              <a:rect r="r" b="b" t="t" l="l"/>
              <a:pathLst>
                <a:path h="1341120" w="1341120">
                  <a:moveTo>
                    <a:pt x="0" y="670560"/>
                  </a:moveTo>
                  <a:cubicBezTo>
                    <a:pt x="0" y="300228"/>
                    <a:pt x="300228" y="0"/>
                    <a:pt x="670560" y="0"/>
                  </a:cubicBezTo>
                  <a:cubicBezTo>
                    <a:pt x="1040892" y="0"/>
                    <a:pt x="1341120" y="300228"/>
                    <a:pt x="1341120" y="670560"/>
                  </a:cubicBezTo>
                  <a:cubicBezTo>
                    <a:pt x="1341120" y="1040892"/>
                    <a:pt x="1040892" y="1341120"/>
                    <a:pt x="670560" y="1341120"/>
                  </a:cubicBezTo>
                  <a:cubicBezTo>
                    <a:pt x="300228" y="1341120"/>
                    <a:pt x="0" y="1040892"/>
                    <a:pt x="0" y="670560"/>
                  </a:cubicBezTo>
                  <a:close/>
                </a:path>
              </a:pathLst>
            </a:custGeom>
            <a:solidFill>
              <a:srgbClr val="2563EB"/>
            </a:solidFill>
          </p:spPr>
          <p:txBody>
            <a:bodyPr/>
            <a:p/>
          </p:txBody>
        </p:sp>
      </p:grpSp>
      <p:grpSp>
        <p:nvGrpSpPr>
          <p:cNvPr name="Group 43" id="43"/>
          <p:cNvGrpSpPr/>
          <p:nvPr/>
        </p:nvGrpSpPr>
        <p:grpSpPr>
          <a:xfrm rot="0">
            <a:off x="1554480" y="6858000"/>
            <a:ext cx="1005840" cy="1005840"/>
            <a:chOff x="0" y="0"/>
            <a:chExt cx="1341120" cy="1341120"/>
          </a:xfrm>
        </p:grpSpPr>
        <p:sp>
          <p:nvSpPr>
            <p:cNvPr name="Freeform 44" id="44"/>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txBody>
            <a:bodyPr/>
            <a:p/>
          </p:txBody>
        </p:sp>
        <p:sp>
          <p:nvSpPr>
            <p:cNvPr name="TextBox 45" id="45"/>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3</a:t>
              </a:r>
            </a:p>
          </p:txBody>
        </p:sp>
      </p:grpSp>
      <p:grpSp>
        <p:nvGrpSpPr>
          <p:cNvPr name="Group 46" id="46"/>
          <p:cNvGrpSpPr/>
          <p:nvPr/>
        </p:nvGrpSpPr>
        <p:grpSpPr>
          <a:xfrm rot="0">
            <a:off x="2834640" y="6803136"/>
            <a:ext cx="6035040" cy="731520"/>
            <a:chOff x="0" y="0"/>
            <a:chExt cx="8046720" cy="975360"/>
          </a:xfrm>
        </p:grpSpPr>
        <p:sp>
          <p:nvSpPr>
            <p:cNvPr name="Freeform 47" id="47"/>
            <p:cNvSpPr/>
            <p:nvPr/>
          </p:nvSpPr>
          <p:spPr>
            <a:xfrm flipH="false" flipV="false" rot="0">
              <a:off x="0" y="0"/>
              <a:ext cx="8046720" cy="975360"/>
            </a:xfrm>
            <a:custGeom>
              <a:avLst/>
              <a:gdLst/>
              <a:ahLst/>
              <a:cxnLst/>
              <a:rect r="r" b="b" t="t" l="l"/>
              <a:pathLst>
                <a:path h="975360" w="8046720">
                  <a:moveTo>
                    <a:pt x="0" y="0"/>
                  </a:moveTo>
                  <a:lnTo>
                    <a:pt x="8046720" y="0"/>
                  </a:lnTo>
                  <a:lnTo>
                    <a:pt x="8046720" y="975360"/>
                  </a:lnTo>
                  <a:lnTo>
                    <a:pt x="0" y="975360"/>
                  </a:lnTo>
                  <a:close/>
                </a:path>
              </a:pathLst>
            </a:custGeom>
            <a:blipFill>
              <a:blip r:embed="rId3">
                <a:alphaModFix amt="0"/>
              </a:blip>
              <a:stretch>
                <a:fillRect l="0" t="-110751" r="0" b="-110751"/>
              </a:stretch>
            </a:blipFill>
          </p:spPr>
          <p:txBody>
            <a:bodyPr/>
            <a:p/>
          </p:txBody>
        </p:sp>
        <p:sp>
          <p:nvSpPr>
            <p:cNvPr name="TextBox 48" id="48"/>
            <p:cNvSpPr txBox="true"/>
            <p:nvPr/>
          </p:nvSpPr>
          <p:spPr>
            <a:xfrm>
              <a:off x="0" y="-47625"/>
              <a:ext cx="8046720" cy="102298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Consultation manuelle</a:t>
              </a:r>
            </a:p>
          </p:txBody>
        </p:sp>
      </p:grpSp>
      <p:grpSp>
        <p:nvGrpSpPr>
          <p:cNvPr name="Group 49" id="49"/>
          <p:cNvGrpSpPr/>
          <p:nvPr/>
        </p:nvGrpSpPr>
        <p:grpSpPr>
          <a:xfrm rot="0">
            <a:off x="2834640" y="7534656"/>
            <a:ext cx="6035040" cy="1371600"/>
            <a:chOff x="0" y="0"/>
            <a:chExt cx="8046720" cy="1828800"/>
          </a:xfrm>
        </p:grpSpPr>
        <p:sp>
          <p:nvSpPr>
            <p:cNvPr name="Freeform 50" id="50"/>
            <p:cNvSpPr/>
            <p:nvPr/>
          </p:nvSpPr>
          <p:spPr>
            <a:xfrm flipH="false" flipV="false" rot="0">
              <a:off x="0" y="0"/>
              <a:ext cx="8046720" cy="1828800"/>
            </a:xfrm>
            <a:custGeom>
              <a:avLst/>
              <a:gdLst/>
              <a:ahLst/>
              <a:cxnLst/>
              <a:rect r="r" b="b" t="t" l="l"/>
              <a:pathLst>
                <a:path h="1828800" w="8046720">
                  <a:moveTo>
                    <a:pt x="0" y="0"/>
                  </a:moveTo>
                  <a:lnTo>
                    <a:pt x="8046720" y="0"/>
                  </a:lnTo>
                  <a:lnTo>
                    <a:pt x="8046720" y="1828800"/>
                  </a:lnTo>
                  <a:lnTo>
                    <a:pt x="0" y="1828800"/>
                  </a:lnTo>
                  <a:close/>
                </a:path>
              </a:pathLst>
            </a:custGeom>
            <a:blipFill>
              <a:blip r:embed="rId3">
                <a:alphaModFix amt="0"/>
              </a:blip>
              <a:stretch>
                <a:fillRect l="0" t="-35734" r="0" b="-35734"/>
              </a:stretch>
            </a:blipFill>
          </p:spPr>
          <p:txBody>
            <a:bodyPr/>
            <a:p/>
          </p:txBody>
        </p:sp>
        <p:sp>
          <p:nvSpPr>
            <p:cNvPr name="TextBox 51" id="51"/>
            <p:cNvSpPr txBox="true"/>
            <p:nvPr/>
          </p:nvSpPr>
          <p:spPr>
            <a:xfrm>
              <a:off x="0" y="-38100"/>
              <a:ext cx="8046720" cy="186690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Emplois du temps difficiles à interroger</a:t>
              </a:r>
            </a:p>
          </p:txBody>
        </p:sp>
      </p:grpSp>
      <p:grpSp>
        <p:nvGrpSpPr>
          <p:cNvPr name="Group 52" id="52"/>
          <p:cNvGrpSpPr/>
          <p:nvPr/>
        </p:nvGrpSpPr>
        <p:grpSpPr>
          <a:xfrm rot="0">
            <a:off x="9314183" y="6388103"/>
            <a:ext cx="7889243" cy="2677163"/>
            <a:chOff x="0" y="0"/>
            <a:chExt cx="10518991" cy="3569551"/>
          </a:xfrm>
        </p:grpSpPr>
        <p:sp>
          <p:nvSpPr>
            <p:cNvPr name="Freeform 53" id="53"/>
            <p:cNvSpPr/>
            <p:nvPr/>
          </p:nvSpPr>
          <p:spPr>
            <a:xfrm flipH="false" flipV="false" rot="0">
              <a:off x="16891" y="16891"/>
              <a:ext cx="10485120" cy="3535680"/>
            </a:xfrm>
            <a:custGeom>
              <a:avLst/>
              <a:gdLst/>
              <a:ahLst/>
              <a:cxnLst/>
              <a:rect r="r" b="b" t="t" l="l"/>
              <a:pathLst>
                <a:path h="3535680" w="10485120">
                  <a:moveTo>
                    <a:pt x="0" y="0"/>
                  </a:moveTo>
                  <a:lnTo>
                    <a:pt x="10485120" y="0"/>
                  </a:lnTo>
                  <a:lnTo>
                    <a:pt x="10485120" y="3535680"/>
                  </a:lnTo>
                  <a:lnTo>
                    <a:pt x="0" y="3535680"/>
                  </a:lnTo>
                  <a:close/>
                </a:path>
              </a:pathLst>
            </a:custGeom>
            <a:solidFill>
              <a:srgbClr val="FFFFFF"/>
            </a:solidFill>
          </p:spPr>
          <p:txBody>
            <a:bodyPr/>
            <a:p/>
          </p:txBody>
        </p:sp>
        <p:sp>
          <p:nvSpPr>
            <p:cNvPr name="Freeform 54" id="54"/>
            <p:cNvSpPr/>
            <p:nvPr/>
          </p:nvSpPr>
          <p:spPr>
            <a:xfrm flipH="false" flipV="false" rot="0">
              <a:off x="0" y="0"/>
              <a:ext cx="10518901" cy="3569462"/>
            </a:xfrm>
            <a:custGeom>
              <a:avLst/>
              <a:gdLst/>
              <a:ahLst/>
              <a:cxnLst/>
              <a:rect r="r" b="b" t="t" l="l"/>
              <a:pathLst>
                <a:path h="3569462" w="10518901">
                  <a:moveTo>
                    <a:pt x="16891" y="0"/>
                  </a:moveTo>
                  <a:lnTo>
                    <a:pt x="10502011" y="0"/>
                  </a:lnTo>
                  <a:cubicBezTo>
                    <a:pt x="10511409" y="0"/>
                    <a:pt x="10518901" y="7620"/>
                    <a:pt x="10518901" y="16891"/>
                  </a:cubicBezTo>
                  <a:lnTo>
                    <a:pt x="10518901" y="3552571"/>
                  </a:lnTo>
                  <a:cubicBezTo>
                    <a:pt x="10518901" y="3561969"/>
                    <a:pt x="10511282" y="3569462"/>
                    <a:pt x="10502011"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10502011" y="3535680"/>
                  </a:lnTo>
                  <a:lnTo>
                    <a:pt x="10502011" y="3552571"/>
                  </a:lnTo>
                  <a:lnTo>
                    <a:pt x="10485120" y="3552571"/>
                  </a:lnTo>
                  <a:lnTo>
                    <a:pt x="10485120" y="16891"/>
                  </a:lnTo>
                  <a:lnTo>
                    <a:pt x="10502011" y="16891"/>
                  </a:lnTo>
                  <a:lnTo>
                    <a:pt x="10502011" y="33909"/>
                  </a:lnTo>
                  <a:lnTo>
                    <a:pt x="16891" y="33909"/>
                  </a:lnTo>
                  <a:close/>
                </a:path>
              </a:pathLst>
            </a:custGeom>
            <a:solidFill>
              <a:srgbClr val="E2E8F0"/>
            </a:solidFill>
          </p:spPr>
          <p:txBody>
            <a:bodyPr/>
            <a:p/>
          </p:txBody>
        </p:sp>
      </p:grpSp>
      <p:grpSp>
        <p:nvGrpSpPr>
          <p:cNvPr name="Group 55" id="55"/>
          <p:cNvGrpSpPr/>
          <p:nvPr/>
        </p:nvGrpSpPr>
        <p:grpSpPr>
          <a:xfrm rot="0">
            <a:off x="9784080" y="6858000"/>
            <a:ext cx="1005840" cy="1005840"/>
            <a:chOff x="0" y="0"/>
            <a:chExt cx="1341120" cy="1341120"/>
          </a:xfrm>
        </p:grpSpPr>
        <p:sp>
          <p:nvSpPr>
            <p:cNvPr name="Freeform 56" id="56"/>
            <p:cNvSpPr/>
            <p:nvPr/>
          </p:nvSpPr>
          <p:spPr>
            <a:xfrm flipH="false" flipV="false" rot="0">
              <a:off x="0" y="0"/>
              <a:ext cx="1341120" cy="1341120"/>
            </a:xfrm>
            <a:custGeom>
              <a:avLst/>
              <a:gdLst/>
              <a:ahLst/>
              <a:cxnLst/>
              <a:rect r="r" b="b" t="t" l="l"/>
              <a:pathLst>
                <a:path h="1341120" w="1341120">
                  <a:moveTo>
                    <a:pt x="0" y="670560"/>
                  </a:moveTo>
                  <a:cubicBezTo>
                    <a:pt x="0" y="300228"/>
                    <a:pt x="300228" y="0"/>
                    <a:pt x="670560" y="0"/>
                  </a:cubicBezTo>
                  <a:cubicBezTo>
                    <a:pt x="1040892" y="0"/>
                    <a:pt x="1341120" y="300228"/>
                    <a:pt x="1341120" y="670560"/>
                  </a:cubicBezTo>
                  <a:cubicBezTo>
                    <a:pt x="1341120" y="1040892"/>
                    <a:pt x="1040892" y="1341120"/>
                    <a:pt x="670560" y="1341120"/>
                  </a:cubicBezTo>
                  <a:cubicBezTo>
                    <a:pt x="300228" y="1341120"/>
                    <a:pt x="0" y="1040892"/>
                    <a:pt x="0" y="670560"/>
                  </a:cubicBezTo>
                  <a:close/>
                </a:path>
              </a:pathLst>
            </a:custGeom>
            <a:solidFill>
              <a:srgbClr val="2563EB"/>
            </a:solidFill>
          </p:spPr>
          <p:txBody>
            <a:bodyPr/>
            <a:p/>
          </p:txBody>
        </p:sp>
      </p:grpSp>
      <p:grpSp>
        <p:nvGrpSpPr>
          <p:cNvPr name="Group 57" id="57"/>
          <p:cNvGrpSpPr/>
          <p:nvPr/>
        </p:nvGrpSpPr>
        <p:grpSpPr>
          <a:xfrm rot="0">
            <a:off x="9784080" y="6858000"/>
            <a:ext cx="1005840" cy="1005840"/>
            <a:chOff x="0" y="0"/>
            <a:chExt cx="1341120" cy="1341120"/>
          </a:xfrm>
        </p:grpSpPr>
        <p:sp>
          <p:nvSpPr>
            <p:cNvPr name="Freeform 58" id="58"/>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txBody>
            <a:bodyPr/>
            <a:p/>
          </p:txBody>
        </p:sp>
        <p:sp>
          <p:nvSpPr>
            <p:cNvPr name="TextBox 59" id="59"/>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4</a:t>
              </a:r>
            </a:p>
          </p:txBody>
        </p:sp>
      </p:grpSp>
      <p:grpSp>
        <p:nvGrpSpPr>
          <p:cNvPr name="Group 60" id="60"/>
          <p:cNvGrpSpPr/>
          <p:nvPr/>
        </p:nvGrpSpPr>
        <p:grpSpPr>
          <a:xfrm rot="0">
            <a:off x="11064240" y="6803136"/>
            <a:ext cx="6035040" cy="731520"/>
            <a:chOff x="0" y="0"/>
            <a:chExt cx="8046720" cy="975360"/>
          </a:xfrm>
        </p:grpSpPr>
        <p:sp>
          <p:nvSpPr>
            <p:cNvPr name="Freeform 61" id="61"/>
            <p:cNvSpPr/>
            <p:nvPr/>
          </p:nvSpPr>
          <p:spPr>
            <a:xfrm flipH="false" flipV="false" rot="0">
              <a:off x="0" y="0"/>
              <a:ext cx="8046720" cy="975360"/>
            </a:xfrm>
            <a:custGeom>
              <a:avLst/>
              <a:gdLst/>
              <a:ahLst/>
              <a:cxnLst/>
              <a:rect r="r" b="b" t="t" l="l"/>
              <a:pathLst>
                <a:path h="975360" w="8046720">
                  <a:moveTo>
                    <a:pt x="0" y="0"/>
                  </a:moveTo>
                  <a:lnTo>
                    <a:pt x="8046720" y="0"/>
                  </a:lnTo>
                  <a:lnTo>
                    <a:pt x="8046720" y="975360"/>
                  </a:lnTo>
                  <a:lnTo>
                    <a:pt x="0" y="975360"/>
                  </a:lnTo>
                  <a:close/>
                </a:path>
              </a:pathLst>
            </a:custGeom>
            <a:blipFill>
              <a:blip r:embed="rId3">
                <a:alphaModFix amt="0"/>
              </a:blip>
              <a:stretch>
                <a:fillRect l="0" t="-110751" r="0" b="-110751"/>
              </a:stretch>
            </a:blipFill>
          </p:spPr>
          <p:txBody>
            <a:bodyPr/>
            <a:p/>
          </p:txBody>
        </p:sp>
        <p:sp>
          <p:nvSpPr>
            <p:cNvPr name="TextBox 62" id="62"/>
            <p:cNvSpPr txBox="true"/>
            <p:nvPr/>
          </p:nvSpPr>
          <p:spPr>
            <a:xfrm>
              <a:off x="0" y="-47625"/>
              <a:ext cx="8046720" cy="102298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Mise à jour difficile</a:t>
              </a:r>
            </a:p>
          </p:txBody>
        </p:sp>
      </p:grpSp>
      <p:grpSp>
        <p:nvGrpSpPr>
          <p:cNvPr name="Group 63" id="63"/>
          <p:cNvGrpSpPr/>
          <p:nvPr/>
        </p:nvGrpSpPr>
        <p:grpSpPr>
          <a:xfrm rot="0">
            <a:off x="11064240" y="7534656"/>
            <a:ext cx="6035040" cy="1371600"/>
            <a:chOff x="0" y="0"/>
            <a:chExt cx="8046720" cy="1828800"/>
          </a:xfrm>
        </p:grpSpPr>
        <p:sp>
          <p:nvSpPr>
            <p:cNvPr name="Freeform 64" id="64"/>
            <p:cNvSpPr/>
            <p:nvPr/>
          </p:nvSpPr>
          <p:spPr>
            <a:xfrm flipH="false" flipV="false" rot="0">
              <a:off x="0" y="0"/>
              <a:ext cx="8046720" cy="1828800"/>
            </a:xfrm>
            <a:custGeom>
              <a:avLst/>
              <a:gdLst/>
              <a:ahLst/>
              <a:cxnLst/>
              <a:rect r="r" b="b" t="t" l="l"/>
              <a:pathLst>
                <a:path h="1828800" w="8046720">
                  <a:moveTo>
                    <a:pt x="0" y="0"/>
                  </a:moveTo>
                  <a:lnTo>
                    <a:pt x="8046720" y="0"/>
                  </a:lnTo>
                  <a:lnTo>
                    <a:pt x="8046720" y="1828800"/>
                  </a:lnTo>
                  <a:lnTo>
                    <a:pt x="0" y="1828800"/>
                  </a:lnTo>
                  <a:close/>
                </a:path>
              </a:pathLst>
            </a:custGeom>
            <a:blipFill>
              <a:blip r:embed="rId3">
                <a:alphaModFix amt="0"/>
              </a:blip>
              <a:stretch>
                <a:fillRect l="0" t="-35734" r="0" b="-35734"/>
              </a:stretch>
            </a:blipFill>
          </p:spPr>
          <p:txBody>
            <a:bodyPr/>
            <a:p/>
          </p:txBody>
        </p:sp>
        <p:sp>
          <p:nvSpPr>
            <p:cNvPr name="TextBox 65" id="65"/>
            <p:cNvSpPr txBox="true"/>
            <p:nvPr/>
          </p:nvSpPr>
          <p:spPr>
            <a:xfrm>
              <a:off x="0" y="-38100"/>
              <a:ext cx="8046720" cy="186690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Maintenance du contenu coûteuse en temps</a:t>
              </a:r>
            </a:p>
          </p:txBody>
        </p:sp>
      </p:grpSp>
      <p:grpSp>
        <p:nvGrpSpPr>
          <p:cNvPr name="Group 66" id="66"/>
          <p:cNvGrpSpPr/>
          <p:nvPr/>
        </p:nvGrpSpPr>
        <p:grpSpPr>
          <a:xfrm rot="0">
            <a:off x="914400" y="9418320"/>
            <a:ext cx="16459200" cy="640080"/>
            <a:chOff x="0" y="0"/>
            <a:chExt cx="21945600" cy="853440"/>
          </a:xfrm>
        </p:grpSpPr>
        <p:sp>
          <p:nvSpPr>
            <p:cNvPr name="Freeform 67" id="67"/>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txBody>
            <a:bodyPr/>
            <a:p/>
          </p:txBody>
        </p:sp>
        <p:sp>
          <p:nvSpPr>
            <p:cNvPr name="TextBox 68" id="68"/>
            <p:cNvSpPr txBox="true"/>
            <p:nvPr/>
          </p:nvSpPr>
          <p:spPr>
            <a:xfrm>
              <a:off x="0" y="-57150"/>
              <a:ext cx="21945600" cy="910590"/>
            </a:xfrm>
            <a:prstGeom prst="rect">
              <a:avLst/>
            </a:prstGeom>
          </p:spPr>
          <p:txBody>
            <a:bodyPr anchor="ctr" rtlCol="false" tIns="0" lIns="0" bIns="0" rIns="0"/>
            <a:lstStyle/>
            <a:p>
              <a:pPr algn="ctr">
                <a:lnSpc>
                  <a:spcPts val="3120"/>
                </a:lnSpc>
              </a:pPr>
              <a:r>
                <a:rPr lang="en-US" sz="2600" b="true">
                  <a:solidFill>
                    <a:srgbClr val="DC2626"/>
                  </a:solidFill>
                  <a:latin typeface="Calibri (MS) Bold"/>
                  <a:ea typeface="Calibri (MS) Bold"/>
                  <a:cs typeface="Calibri (MS) Bold"/>
                  <a:sym typeface="Calibri (MS) Bold"/>
                </a:rPr>
                <a:t>→ Perte de temps pour les étudiants  ·  Charge administrative répétitive</a:t>
              </a:r>
            </a:p>
          </p:txBody>
        </p:sp>
      </p:grpSp>
      <p:sp>
        <p:nvSpPr>
          <p:cNvPr name="TextBox 69" id="6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Objectifs</a:t>
              </a:r>
            </a:p>
          </p:txBody>
        </p:sp>
      </p:grpSp>
      <p:grpSp>
        <p:nvGrpSpPr>
          <p:cNvPr name="Group 7" id="7"/>
          <p:cNvGrpSpPr/>
          <p:nvPr/>
        </p:nvGrpSpPr>
        <p:grpSpPr>
          <a:xfrm rot="0">
            <a:off x="901703" y="2456183"/>
            <a:ext cx="5328923" cy="3225803"/>
            <a:chOff x="0" y="0"/>
            <a:chExt cx="7105231" cy="4301071"/>
          </a:xfrm>
        </p:grpSpPr>
        <p:sp>
          <p:nvSpPr>
            <p:cNvPr name="Freeform 8" id="8"/>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9" id="9"/>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10" id="10"/>
          <p:cNvGrpSpPr/>
          <p:nvPr/>
        </p:nvGrpSpPr>
        <p:grpSpPr>
          <a:xfrm rot="0">
            <a:off x="3017520" y="2926080"/>
            <a:ext cx="1097280" cy="1097280"/>
            <a:chOff x="0" y="0"/>
            <a:chExt cx="1463040" cy="1463040"/>
          </a:xfrm>
        </p:grpSpPr>
        <p:sp>
          <p:nvSpPr>
            <p:cNvPr name="Freeform 11" id="11"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1097280" y="4206240"/>
            <a:ext cx="4937760" cy="585216"/>
            <a:chOff x="0" y="0"/>
            <a:chExt cx="6583680" cy="780288"/>
          </a:xfrm>
        </p:grpSpPr>
        <p:sp>
          <p:nvSpPr>
            <p:cNvPr name="Freeform 13" id="13"/>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14" id="14"/>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3A5F"/>
                  </a:solidFill>
                  <a:latin typeface="Calibri (MS) Bold"/>
                  <a:ea typeface="Calibri (MS) Bold"/>
                  <a:cs typeface="Calibri (MS) Bold"/>
                  <a:sym typeface="Calibri (MS) Bold"/>
                </a:rPr>
                <a:t>Chatbot conversationnel</a:t>
              </a:r>
            </a:p>
          </p:txBody>
        </p:sp>
      </p:grpSp>
      <p:grpSp>
        <p:nvGrpSpPr>
          <p:cNvPr name="Group 15" id="15"/>
          <p:cNvGrpSpPr/>
          <p:nvPr/>
        </p:nvGrpSpPr>
        <p:grpSpPr>
          <a:xfrm rot="0">
            <a:off x="1097280" y="4809744"/>
            <a:ext cx="4937760" cy="731520"/>
            <a:chOff x="0" y="0"/>
            <a:chExt cx="6583680" cy="975360"/>
          </a:xfrm>
        </p:grpSpPr>
        <p:sp>
          <p:nvSpPr>
            <p:cNvPr name="Freeform 16" id="16"/>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txBody>
            <a:bodyPr/>
            <a:p/>
          </p:txBody>
        </p:sp>
        <p:sp>
          <p:nvSpPr>
            <p:cNvPr name="TextBox 17" id="17"/>
            <p:cNvSpPr txBox="true"/>
            <p:nvPr/>
          </p:nvSpPr>
          <p:spPr>
            <a:xfrm>
              <a:off x="0" y="-47625"/>
              <a:ext cx="6583680" cy="1022985"/>
            </a:xfrm>
            <a:prstGeom prst="rect">
              <a:avLst/>
            </a:prstGeom>
          </p:spPr>
          <p:txBody>
            <a:bodyPr anchor="ctr" rtlCol="false" tIns="0" lIns="0" bIns="0" rIns="0"/>
            <a:lstStyle/>
            <a:p>
              <a:pPr algn="ctr">
                <a:lnSpc>
                  <a:spcPts val="2640"/>
                </a:lnSpc>
              </a:pPr>
              <a:r>
                <a:rPr lang="en-US" sz="2200">
                  <a:solidFill>
                    <a:srgbClr val="1E293B"/>
                  </a:solidFill>
                  <a:latin typeface="Calibri (MS)"/>
                  <a:ea typeface="Calibri (MS)"/>
                  <a:cs typeface="Calibri (MS)"/>
                  <a:sym typeface="Calibri (MS)"/>
                </a:rPr>
                <a:t>Réponses en langage naturel</a:t>
              </a:r>
            </a:p>
          </p:txBody>
        </p:sp>
      </p:grpSp>
      <p:grpSp>
        <p:nvGrpSpPr>
          <p:cNvPr name="Group 18" id="18"/>
          <p:cNvGrpSpPr/>
          <p:nvPr/>
        </p:nvGrpSpPr>
        <p:grpSpPr>
          <a:xfrm rot="0">
            <a:off x="6479543" y="2456183"/>
            <a:ext cx="5328923" cy="3225803"/>
            <a:chOff x="0" y="0"/>
            <a:chExt cx="7105231" cy="4301071"/>
          </a:xfrm>
        </p:grpSpPr>
        <p:sp>
          <p:nvSpPr>
            <p:cNvPr name="Freeform 19" id="19"/>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20" id="20"/>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21" id="21"/>
          <p:cNvGrpSpPr/>
          <p:nvPr/>
        </p:nvGrpSpPr>
        <p:grpSpPr>
          <a:xfrm rot="0">
            <a:off x="8595360" y="2926080"/>
            <a:ext cx="1097280" cy="1097280"/>
            <a:chOff x="0" y="0"/>
            <a:chExt cx="1463040" cy="1463040"/>
          </a:xfrm>
        </p:grpSpPr>
        <p:sp>
          <p:nvSpPr>
            <p:cNvPr name="Freeform 22" id="22"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6675120" y="4206240"/>
            <a:ext cx="4937760" cy="585216"/>
            <a:chOff x="0" y="0"/>
            <a:chExt cx="6583680" cy="780288"/>
          </a:xfrm>
        </p:grpSpPr>
        <p:sp>
          <p:nvSpPr>
            <p:cNvPr name="Freeform 24" id="24"/>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25" id="25"/>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3A5F"/>
                  </a:solidFill>
                  <a:latin typeface="Calibri (MS) Bold"/>
                  <a:ea typeface="Calibri (MS) Bold"/>
                  <a:cs typeface="Calibri (MS) Bold"/>
                  <a:sym typeface="Calibri (MS) Bold"/>
                </a:rPr>
                <a:t>Multilingue</a:t>
              </a:r>
            </a:p>
          </p:txBody>
        </p:sp>
      </p:grpSp>
      <p:grpSp>
        <p:nvGrpSpPr>
          <p:cNvPr name="Group 26" id="26"/>
          <p:cNvGrpSpPr/>
          <p:nvPr/>
        </p:nvGrpSpPr>
        <p:grpSpPr>
          <a:xfrm rot="0">
            <a:off x="6675120" y="4809744"/>
            <a:ext cx="4937760" cy="731520"/>
            <a:chOff x="0" y="0"/>
            <a:chExt cx="6583680" cy="975360"/>
          </a:xfrm>
        </p:grpSpPr>
        <p:sp>
          <p:nvSpPr>
            <p:cNvPr name="Freeform 27" id="27"/>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txBody>
            <a:bodyPr/>
            <a:p/>
          </p:txBody>
        </p:sp>
        <p:sp>
          <p:nvSpPr>
            <p:cNvPr name="TextBox 28" id="28"/>
            <p:cNvSpPr txBox="true"/>
            <p:nvPr/>
          </p:nvSpPr>
          <p:spPr>
            <a:xfrm>
              <a:off x="0" y="-47625"/>
              <a:ext cx="6583680" cy="1022985"/>
            </a:xfrm>
            <a:prstGeom prst="rect">
              <a:avLst/>
            </a:prstGeom>
          </p:spPr>
          <p:txBody>
            <a:bodyPr anchor="ctr" rtlCol="false" tIns="0" lIns="0" bIns="0" rIns="0"/>
            <a:lstStyle/>
            <a:p>
              <a:pPr algn="ctr">
                <a:lnSpc>
                  <a:spcPts val="2640"/>
                </a:lnSpc>
              </a:pPr>
              <a:r>
                <a:rPr lang="en-US" sz="2200">
                  <a:solidFill>
                    <a:srgbClr val="1E293B"/>
                  </a:solidFill>
                  <a:latin typeface="Calibri (MS)"/>
                  <a:ea typeface="Calibri (MS)"/>
                  <a:cs typeface="Calibri (MS)"/>
                  <a:sym typeface="Calibri (MS)"/>
                </a:rPr>
                <a:t>Français, Anglais, Arabe (RTL)</a:t>
              </a:r>
            </a:p>
          </p:txBody>
        </p:sp>
      </p:grpSp>
      <p:grpSp>
        <p:nvGrpSpPr>
          <p:cNvPr name="Group 29" id="29"/>
          <p:cNvGrpSpPr/>
          <p:nvPr/>
        </p:nvGrpSpPr>
        <p:grpSpPr>
          <a:xfrm rot="0">
            <a:off x="12057383" y="2456183"/>
            <a:ext cx="5328923" cy="3225803"/>
            <a:chOff x="0" y="0"/>
            <a:chExt cx="7105231" cy="4301071"/>
          </a:xfrm>
        </p:grpSpPr>
        <p:sp>
          <p:nvSpPr>
            <p:cNvPr name="Freeform 30" id="30"/>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31" id="31"/>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32" id="32"/>
          <p:cNvGrpSpPr/>
          <p:nvPr/>
        </p:nvGrpSpPr>
        <p:grpSpPr>
          <a:xfrm rot="0">
            <a:off x="14173200" y="2926080"/>
            <a:ext cx="1097280" cy="1097280"/>
            <a:chOff x="0" y="0"/>
            <a:chExt cx="1463040" cy="1463040"/>
          </a:xfrm>
        </p:grpSpPr>
        <p:sp>
          <p:nvSpPr>
            <p:cNvPr name="Freeform 33" id="33"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12252960" y="4206240"/>
            <a:ext cx="4937760" cy="585216"/>
            <a:chOff x="0" y="0"/>
            <a:chExt cx="6583680" cy="780288"/>
          </a:xfrm>
        </p:grpSpPr>
        <p:sp>
          <p:nvSpPr>
            <p:cNvPr name="Freeform 35" id="35"/>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36" id="36"/>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3A5F"/>
                  </a:solidFill>
                  <a:latin typeface="Calibri (MS) Bold"/>
                  <a:ea typeface="Calibri (MS) Bold"/>
                  <a:cs typeface="Calibri (MS) Bold"/>
                  <a:sym typeface="Calibri (MS) Bold"/>
                </a:rPr>
                <a:t>Réponses FAQ via RAG</a:t>
              </a:r>
            </a:p>
          </p:txBody>
        </p:sp>
      </p:grpSp>
      <p:grpSp>
        <p:nvGrpSpPr>
          <p:cNvPr name="Group 37" id="37"/>
          <p:cNvGrpSpPr/>
          <p:nvPr/>
        </p:nvGrpSpPr>
        <p:grpSpPr>
          <a:xfrm rot="0">
            <a:off x="12252960" y="4809744"/>
            <a:ext cx="4937760" cy="731520"/>
            <a:chOff x="0" y="0"/>
            <a:chExt cx="6583680" cy="975360"/>
          </a:xfrm>
        </p:grpSpPr>
        <p:sp>
          <p:nvSpPr>
            <p:cNvPr name="Freeform 38" id="38"/>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txBody>
            <a:bodyPr/>
            <a:p/>
          </p:txBody>
        </p:sp>
        <p:sp>
          <p:nvSpPr>
            <p:cNvPr name="TextBox 39" id="39"/>
            <p:cNvSpPr txBox="true"/>
            <p:nvPr/>
          </p:nvSpPr>
          <p:spPr>
            <a:xfrm>
              <a:off x="0" y="-47625"/>
              <a:ext cx="6583680" cy="1022985"/>
            </a:xfrm>
            <a:prstGeom prst="rect">
              <a:avLst/>
            </a:prstGeom>
          </p:spPr>
          <p:txBody>
            <a:bodyPr anchor="ctr" rtlCol="false" tIns="0" lIns="0" bIns="0" rIns="0"/>
            <a:lstStyle/>
            <a:p>
              <a:pPr algn="ctr">
                <a:lnSpc>
                  <a:spcPts val="2640"/>
                </a:lnSpc>
              </a:pPr>
              <a:r>
                <a:rPr lang="en-US" sz="2200">
                  <a:solidFill>
                    <a:srgbClr val="1E293B"/>
                  </a:solidFill>
                  <a:latin typeface="Calibri (MS)"/>
                  <a:ea typeface="Calibri (MS)"/>
                  <a:cs typeface="Calibri (MS)"/>
                  <a:sym typeface="Calibri (MS)"/>
                </a:rPr>
                <a:t>Documents institutionnels indexés</a:t>
              </a:r>
            </a:p>
          </p:txBody>
        </p:sp>
      </p:grpSp>
      <p:grpSp>
        <p:nvGrpSpPr>
          <p:cNvPr name="Group 40" id="40"/>
          <p:cNvGrpSpPr/>
          <p:nvPr/>
        </p:nvGrpSpPr>
        <p:grpSpPr>
          <a:xfrm rot="0">
            <a:off x="901703" y="6022343"/>
            <a:ext cx="5328923" cy="3225803"/>
            <a:chOff x="0" y="0"/>
            <a:chExt cx="7105231" cy="4301071"/>
          </a:xfrm>
        </p:grpSpPr>
        <p:sp>
          <p:nvSpPr>
            <p:cNvPr name="Freeform 41" id="41"/>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42" id="42"/>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43" id="43"/>
          <p:cNvGrpSpPr/>
          <p:nvPr/>
        </p:nvGrpSpPr>
        <p:grpSpPr>
          <a:xfrm rot="0">
            <a:off x="3017520" y="6492240"/>
            <a:ext cx="1097280" cy="1097280"/>
            <a:chOff x="0" y="0"/>
            <a:chExt cx="1463040" cy="1463040"/>
          </a:xfrm>
        </p:grpSpPr>
        <p:sp>
          <p:nvSpPr>
            <p:cNvPr name="Freeform 44" id="44"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7"/>
              <a:stretch>
                <a:fillRect l="0" t="0" r="0" b="0"/>
              </a:stretch>
            </a:blipFill>
          </p:spPr>
          <p:txBody>
            <a:bodyPr/>
            <a:p/>
          </p:txBody>
        </p:sp>
      </p:grpSp>
      <p:grpSp>
        <p:nvGrpSpPr>
          <p:cNvPr name="Group 45" id="45"/>
          <p:cNvGrpSpPr/>
          <p:nvPr/>
        </p:nvGrpSpPr>
        <p:grpSpPr>
          <a:xfrm rot="0">
            <a:off x="1097280" y="7772400"/>
            <a:ext cx="4937760" cy="585216"/>
            <a:chOff x="0" y="0"/>
            <a:chExt cx="6583680" cy="780288"/>
          </a:xfrm>
        </p:grpSpPr>
        <p:sp>
          <p:nvSpPr>
            <p:cNvPr name="Freeform 46" id="46"/>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47" id="47"/>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3A5F"/>
                  </a:solidFill>
                  <a:latin typeface="Calibri (MS) Bold"/>
                  <a:ea typeface="Calibri (MS) Bold"/>
                  <a:cs typeface="Calibri (MS) Bold"/>
                  <a:sym typeface="Calibri (MS) Bold"/>
                </a:rPr>
                <a:t>Emplois du temps</a:t>
              </a:r>
            </a:p>
          </p:txBody>
        </p:sp>
      </p:grpSp>
      <p:grpSp>
        <p:nvGrpSpPr>
          <p:cNvPr name="Group 48" id="48"/>
          <p:cNvGrpSpPr/>
          <p:nvPr/>
        </p:nvGrpSpPr>
        <p:grpSpPr>
          <a:xfrm rot="0">
            <a:off x="1097280" y="8375904"/>
            <a:ext cx="4937760" cy="731520"/>
            <a:chOff x="0" y="0"/>
            <a:chExt cx="6583680" cy="975360"/>
          </a:xfrm>
        </p:grpSpPr>
        <p:sp>
          <p:nvSpPr>
            <p:cNvPr name="Freeform 49" id="49"/>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txBody>
            <a:bodyPr/>
            <a:p/>
          </p:txBody>
        </p:sp>
        <p:sp>
          <p:nvSpPr>
            <p:cNvPr name="TextBox 50" id="50"/>
            <p:cNvSpPr txBox="true"/>
            <p:nvPr/>
          </p:nvSpPr>
          <p:spPr>
            <a:xfrm>
              <a:off x="0" y="-47625"/>
              <a:ext cx="6583680" cy="1022985"/>
            </a:xfrm>
            <a:prstGeom prst="rect">
              <a:avLst/>
            </a:prstGeom>
          </p:spPr>
          <p:txBody>
            <a:bodyPr anchor="ctr" rtlCol="false" tIns="0" lIns="0" bIns="0" rIns="0"/>
            <a:lstStyle/>
            <a:p>
              <a:pPr algn="ctr">
                <a:lnSpc>
                  <a:spcPts val="2640"/>
                </a:lnSpc>
              </a:pPr>
              <a:r>
                <a:rPr lang="en-US" sz="2200">
                  <a:solidFill>
                    <a:srgbClr val="1E293B"/>
                  </a:solidFill>
                  <a:latin typeface="Calibri (MS)"/>
                  <a:ea typeface="Calibri (MS)"/>
                  <a:cs typeface="Calibri (MS)"/>
                  <a:sym typeface="Calibri (MS)"/>
                </a:rPr>
                <a:t>Données structurées en BD</a:t>
              </a:r>
            </a:p>
          </p:txBody>
        </p:sp>
      </p:grpSp>
      <p:grpSp>
        <p:nvGrpSpPr>
          <p:cNvPr name="Group 51" id="51"/>
          <p:cNvGrpSpPr/>
          <p:nvPr/>
        </p:nvGrpSpPr>
        <p:grpSpPr>
          <a:xfrm rot="0">
            <a:off x="6479543" y="6022343"/>
            <a:ext cx="5328923" cy="3225803"/>
            <a:chOff x="0" y="0"/>
            <a:chExt cx="7105231" cy="4301071"/>
          </a:xfrm>
        </p:grpSpPr>
        <p:sp>
          <p:nvSpPr>
            <p:cNvPr name="Freeform 52" id="52"/>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53" id="53"/>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54" id="54"/>
          <p:cNvGrpSpPr/>
          <p:nvPr/>
        </p:nvGrpSpPr>
        <p:grpSpPr>
          <a:xfrm rot="0">
            <a:off x="8595360" y="6492240"/>
            <a:ext cx="1097280" cy="1097280"/>
            <a:chOff x="0" y="0"/>
            <a:chExt cx="1463040" cy="1463040"/>
          </a:xfrm>
        </p:grpSpPr>
        <p:sp>
          <p:nvSpPr>
            <p:cNvPr name="Freeform 55" id="55"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8"/>
              <a:stretch>
                <a:fillRect l="0" t="0" r="0" b="0"/>
              </a:stretch>
            </a:blipFill>
          </p:spPr>
          <p:txBody>
            <a:bodyPr/>
            <a:p/>
          </p:txBody>
        </p:sp>
      </p:grpSp>
      <p:grpSp>
        <p:nvGrpSpPr>
          <p:cNvPr name="Group 56" id="56"/>
          <p:cNvGrpSpPr/>
          <p:nvPr/>
        </p:nvGrpSpPr>
        <p:grpSpPr>
          <a:xfrm rot="0">
            <a:off x="6675120" y="7772400"/>
            <a:ext cx="4937760" cy="585216"/>
            <a:chOff x="0" y="0"/>
            <a:chExt cx="6583680" cy="780288"/>
          </a:xfrm>
        </p:grpSpPr>
        <p:sp>
          <p:nvSpPr>
            <p:cNvPr name="Freeform 57" id="57"/>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58" id="58"/>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3A5F"/>
                  </a:solidFill>
                  <a:latin typeface="Calibri (MS) Bold"/>
                  <a:ea typeface="Calibri (MS) Bold"/>
                  <a:cs typeface="Calibri (MS) Bold"/>
                  <a:sym typeface="Calibri (MS) Bold"/>
                </a:rPr>
                <a:t>Sécurité &amp; RGPD</a:t>
              </a:r>
            </a:p>
          </p:txBody>
        </p:sp>
      </p:grpSp>
      <p:grpSp>
        <p:nvGrpSpPr>
          <p:cNvPr name="Group 59" id="59"/>
          <p:cNvGrpSpPr/>
          <p:nvPr/>
        </p:nvGrpSpPr>
        <p:grpSpPr>
          <a:xfrm rot="0">
            <a:off x="6675120" y="8375904"/>
            <a:ext cx="4937760" cy="731520"/>
            <a:chOff x="0" y="0"/>
            <a:chExt cx="6583680" cy="975360"/>
          </a:xfrm>
        </p:grpSpPr>
        <p:sp>
          <p:nvSpPr>
            <p:cNvPr name="Freeform 60" id="60"/>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txBody>
            <a:bodyPr/>
            <a:p/>
          </p:txBody>
        </p:sp>
        <p:sp>
          <p:nvSpPr>
            <p:cNvPr name="TextBox 61" id="61"/>
            <p:cNvSpPr txBox="true"/>
            <p:nvPr/>
          </p:nvSpPr>
          <p:spPr>
            <a:xfrm>
              <a:off x="0" y="-47625"/>
              <a:ext cx="6583680" cy="1022985"/>
            </a:xfrm>
            <a:prstGeom prst="rect">
              <a:avLst/>
            </a:prstGeom>
          </p:spPr>
          <p:txBody>
            <a:bodyPr anchor="ctr" rtlCol="false" tIns="0" lIns="0" bIns="0" rIns="0"/>
            <a:lstStyle/>
            <a:p>
              <a:pPr algn="ctr">
                <a:lnSpc>
                  <a:spcPts val="2640"/>
                </a:lnSpc>
              </a:pPr>
              <a:r>
                <a:rPr lang="en-US" sz="2200">
                  <a:solidFill>
                    <a:srgbClr val="1E293B"/>
                  </a:solidFill>
                  <a:latin typeface="Calibri (MS)"/>
                  <a:ea typeface="Calibri (MS)"/>
                  <a:cs typeface="Calibri (MS)"/>
                  <a:sym typeface="Calibri (MS)"/>
                </a:rPr>
                <a:t>RBAC, JWT, conformité légale</a:t>
              </a:r>
            </a:p>
          </p:txBody>
        </p:sp>
      </p:grpSp>
      <p:grpSp>
        <p:nvGrpSpPr>
          <p:cNvPr name="Group 62" id="62"/>
          <p:cNvGrpSpPr/>
          <p:nvPr/>
        </p:nvGrpSpPr>
        <p:grpSpPr>
          <a:xfrm rot="0">
            <a:off x="12057383" y="6022343"/>
            <a:ext cx="5328923" cy="3225803"/>
            <a:chOff x="0" y="0"/>
            <a:chExt cx="7105231" cy="4301071"/>
          </a:xfrm>
        </p:grpSpPr>
        <p:sp>
          <p:nvSpPr>
            <p:cNvPr name="Freeform 63" id="63"/>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64" id="64"/>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65" id="65"/>
          <p:cNvGrpSpPr/>
          <p:nvPr/>
        </p:nvGrpSpPr>
        <p:grpSpPr>
          <a:xfrm rot="0">
            <a:off x="14173200" y="6492240"/>
            <a:ext cx="1097280" cy="1097280"/>
            <a:chOff x="0" y="0"/>
            <a:chExt cx="1463040" cy="1463040"/>
          </a:xfrm>
        </p:grpSpPr>
        <p:sp>
          <p:nvSpPr>
            <p:cNvPr name="Freeform 66" id="66"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9"/>
              <a:stretch>
                <a:fillRect l="0" t="0" r="0" b="0"/>
              </a:stretch>
            </a:blipFill>
          </p:spPr>
          <p:txBody>
            <a:bodyPr/>
            <a:p/>
          </p:txBody>
        </p:sp>
      </p:grpSp>
      <p:grpSp>
        <p:nvGrpSpPr>
          <p:cNvPr name="Group 67" id="67"/>
          <p:cNvGrpSpPr/>
          <p:nvPr/>
        </p:nvGrpSpPr>
        <p:grpSpPr>
          <a:xfrm rot="0">
            <a:off x="12252960" y="7772400"/>
            <a:ext cx="4937760" cy="585216"/>
            <a:chOff x="0" y="0"/>
            <a:chExt cx="6583680" cy="780288"/>
          </a:xfrm>
        </p:grpSpPr>
        <p:sp>
          <p:nvSpPr>
            <p:cNvPr name="Freeform 68" id="68"/>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69" id="69"/>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3A5F"/>
                  </a:solidFill>
                  <a:latin typeface="Calibri (MS) Bold"/>
                  <a:ea typeface="Calibri (MS) Bold"/>
                  <a:cs typeface="Calibri (MS) Bold"/>
                  <a:sym typeface="Calibri (MS) Bold"/>
                </a:rPr>
                <a:t>Espace administrateur</a:t>
              </a:r>
            </a:p>
          </p:txBody>
        </p:sp>
      </p:grpSp>
      <p:grpSp>
        <p:nvGrpSpPr>
          <p:cNvPr name="Group 70" id="70"/>
          <p:cNvGrpSpPr/>
          <p:nvPr/>
        </p:nvGrpSpPr>
        <p:grpSpPr>
          <a:xfrm rot="0">
            <a:off x="12252960" y="8375904"/>
            <a:ext cx="4937760" cy="731520"/>
            <a:chOff x="0" y="0"/>
            <a:chExt cx="6583680" cy="975360"/>
          </a:xfrm>
        </p:grpSpPr>
        <p:sp>
          <p:nvSpPr>
            <p:cNvPr name="Freeform 71" id="71"/>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txBody>
            <a:bodyPr/>
            <a:p/>
          </p:txBody>
        </p:sp>
        <p:sp>
          <p:nvSpPr>
            <p:cNvPr name="TextBox 72" id="72"/>
            <p:cNvSpPr txBox="true"/>
            <p:nvPr/>
          </p:nvSpPr>
          <p:spPr>
            <a:xfrm>
              <a:off x="0" y="-47625"/>
              <a:ext cx="6583680" cy="1022985"/>
            </a:xfrm>
            <a:prstGeom prst="rect">
              <a:avLst/>
            </a:prstGeom>
          </p:spPr>
          <p:txBody>
            <a:bodyPr anchor="ctr" rtlCol="false" tIns="0" lIns="0" bIns="0" rIns="0"/>
            <a:lstStyle/>
            <a:p>
              <a:pPr algn="ctr">
                <a:lnSpc>
                  <a:spcPts val="2640"/>
                </a:lnSpc>
              </a:pPr>
              <a:r>
                <a:rPr lang="en-US" sz="2200">
                  <a:solidFill>
                    <a:srgbClr val="1E293B"/>
                  </a:solidFill>
                  <a:latin typeface="Calibri (MS)"/>
                  <a:ea typeface="Calibri (MS)"/>
                  <a:cs typeface="Calibri (MS)"/>
                  <a:sym typeface="Calibri (MS)"/>
                </a:rPr>
                <a:t>Pilotage complet du contenu</a:t>
              </a:r>
            </a:p>
          </p:txBody>
        </p:sp>
      </p:grpSp>
      <p:sp>
        <p:nvSpPr>
          <p:cNvPr name="TextBox 73" id="7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Acteurs du système</a:t>
              </a:r>
            </a:p>
          </p:txBody>
        </p:sp>
      </p:grpSp>
      <p:grpSp>
        <p:nvGrpSpPr>
          <p:cNvPr name="Group 7" id="7"/>
          <p:cNvGrpSpPr/>
          <p:nvPr/>
        </p:nvGrpSpPr>
        <p:grpSpPr>
          <a:xfrm rot="0">
            <a:off x="1084583" y="2456183"/>
            <a:ext cx="7889243" cy="7157723"/>
            <a:chOff x="0" y="0"/>
            <a:chExt cx="10518991" cy="9543631"/>
          </a:xfrm>
        </p:grpSpPr>
        <p:sp>
          <p:nvSpPr>
            <p:cNvPr name="Freeform 8" id="8"/>
            <p:cNvSpPr/>
            <p:nvPr/>
          </p:nvSpPr>
          <p:spPr>
            <a:xfrm flipH="false" flipV="false" rot="0">
              <a:off x="16891" y="16891"/>
              <a:ext cx="10485120" cy="9509760"/>
            </a:xfrm>
            <a:custGeom>
              <a:avLst/>
              <a:gdLst/>
              <a:ahLst/>
              <a:cxnLst/>
              <a:rect r="r" b="b" t="t" l="l"/>
              <a:pathLst>
                <a:path h="9509760" w="10485120">
                  <a:moveTo>
                    <a:pt x="0" y="0"/>
                  </a:moveTo>
                  <a:lnTo>
                    <a:pt x="10485120" y="0"/>
                  </a:lnTo>
                  <a:lnTo>
                    <a:pt x="10485120" y="9509760"/>
                  </a:lnTo>
                  <a:lnTo>
                    <a:pt x="0" y="9509760"/>
                  </a:lnTo>
                  <a:close/>
                </a:path>
              </a:pathLst>
            </a:custGeom>
            <a:solidFill>
              <a:srgbClr val="FFFFFF"/>
            </a:solidFill>
          </p:spPr>
          <p:txBody>
            <a:bodyPr/>
            <a:p/>
          </p:txBody>
        </p:sp>
        <p:sp>
          <p:nvSpPr>
            <p:cNvPr name="Freeform 9" id="9"/>
            <p:cNvSpPr/>
            <p:nvPr/>
          </p:nvSpPr>
          <p:spPr>
            <a:xfrm flipH="false" flipV="false" rot="0">
              <a:off x="0" y="0"/>
              <a:ext cx="10518901" cy="9543542"/>
            </a:xfrm>
            <a:custGeom>
              <a:avLst/>
              <a:gdLst/>
              <a:ahLst/>
              <a:cxnLst/>
              <a:rect r="r" b="b" t="t" l="l"/>
              <a:pathLst>
                <a:path h="9543542" w="10518901">
                  <a:moveTo>
                    <a:pt x="16891" y="0"/>
                  </a:moveTo>
                  <a:lnTo>
                    <a:pt x="10502011" y="0"/>
                  </a:lnTo>
                  <a:cubicBezTo>
                    <a:pt x="10511409" y="0"/>
                    <a:pt x="10518901" y="7620"/>
                    <a:pt x="10518901" y="16891"/>
                  </a:cubicBezTo>
                  <a:lnTo>
                    <a:pt x="10518901" y="9526651"/>
                  </a:lnTo>
                  <a:cubicBezTo>
                    <a:pt x="10518901" y="9536049"/>
                    <a:pt x="10511282" y="9543542"/>
                    <a:pt x="10502011"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10502011" y="9509760"/>
                  </a:lnTo>
                  <a:lnTo>
                    <a:pt x="10502011" y="9526651"/>
                  </a:lnTo>
                  <a:lnTo>
                    <a:pt x="10485120" y="9526651"/>
                  </a:lnTo>
                  <a:lnTo>
                    <a:pt x="10485120" y="16891"/>
                  </a:lnTo>
                  <a:lnTo>
                    <a:pt x="10502011" y="16891"/>
                  </a:lnTo>
                  <a:lnTo>
                    <a:pt x="10502011" y="33909"/>
                  </a:lnTo>
                  <a:lnTo>
                    <a:pt x="16891" y="33909"/>
                  </a:lnTo>
                  <a:close/>
                </a:path>
              </a:pathLst>
            </a:custGeom>
            <a:solidFill>
              <a:srgbClr val="E2E8F0"/>
            </a:solidFill>
          </p:spPr>
          <p:txBody>
            <a:bodyPr/>
            <a:p/>
          </p:txBody>
        </p:sp>
      </p:grpSp>
      <p:grpSp>
        <p:nvGrpSpPr>
          <p:cNvPr name="Group 10" id="10"/>
          <p:cNvGrpSpPr/>
          <p:nvPr/>
        </p:nvGrpSpPr>
        <p:grpSpPr>
          <a:xfrm rot="0">
            <a:off x="1097280" y="2468880"/>
            <a:ext cx="7863840" cy="1005840"/>
            <a:chOff x="0" y="0"/>
            <a:chExt cx="10485120" cy="1341120"/>
          </a:xfrm>
        </p:grpSpPr>
        <p:sp>
          <p:nvSpPr>
            <p:cNvPr name="Freeform 11" id="11"/>
            <p:cNvSpPr/>
            <p:nvPr/>
          </p:nvSpPr>
          <p:spPr>
            <a:xfrm flipH="false" flipV="false" rot="0">
              <a:off x="0" y="0"/>
              <a:ext cx="10485120" cy="1341120"/>
            </a:xfrm>
            <a:custGeom>
              <a:avLst/>
              <a:gdLst/>
              <a:ahLst/>
              <a:cxnLst/>
              <a:rect r="r" b="b" t="t" l="l"/>
              <a:pathLst>
                <a:path h="1341120" w="10485120">
                  <a:moveTo>
                    <a:pt x="0" y="0"/>
                  </a:moveTo>
                  <a:lnTo>
                    <a:pt x="10485120" y="0"/>
                  </a:lnTo>
                  <a:lnTo>
                    <a:pt x="10485120" y="1341120"/>
                  </a:lnTo>
                  <a:lnTo>
                    <a:pt x="0" y="1341120"/>
                  </a:lnTo>
                  <a:close/>
                </a:path>
              </a:pathLst>
            </a:custGeom>
            <a:solidFill>
              <a:srgbClr val="2563EB"/>
            </a:solidFill>
          </p:spPr>
          <p:txBody>
            <a:bodyPr/>
            <a:p/>
          </p:txBody>
        </p:sp>
      </p:grpSp>
      <p:grpSp>
        <p:nvGrpSpPr>
          <p:cNvPr name="Group 12" id="12"/>
          <p:cNvGrpSpPr/>
          <p:nvPr/>
        </p:nvGrpSpPr>
        <p:grpSpPr>
          <a:xfrm rot="0">
            <a:off x="1463040" y="2651760"/>
            <a:ext cx="640080" cy="640080"/>
            <a:chOff x="0" y="0"/>
            <a:chExt cx="853440" cy="853440"/>
          </a:xfrm>
        </p:grpSpPr>
        <p:sp>
          <p:nvSpPr>
            <p:cNvPr name="Freeform 13" id="13"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4"/>
              <a:stretch>
                <a:fillRect l="0" t="0" r="0" b="0"/>
              </a:stretch>
            </a:blipFill>
          </p:spPr>
          <p:txBody>
            <a:bodyPr/>
            <a:p/>
          </p:txBody>
        </p:sp>
      </p:grpSp>
      <p:grpSp>
        <p:nvGrpSpPr>
          <p:cNvPr name="Group 14" id="14"/>
          <p:cNvGrpSpPr/>
          <p:nvPr/>
        </p:nvGrpSpPr>
        <p:grpSpPr>
          <a:xfrm rot="0">
            <a:off x="2377440" y="2468880"/>
            <a:ext cx="6400800" cy="1005840"/>
            <a:chOff x="0" y="0"/>
            <a:chExt cx="8534400" cy="1341120"/>
          </a:xfrm>
        </p:grpSpPr>
        <p:sp>
          <p:nvSpPr>
            <p:cNvPr name="Freeform 15" id="15"/>
            <p:cNvSpPr/>
            <p:nvPr/>
          </p:nvSpPr>
          <p:spPr>
            <a:xfrm flipH="false" flipV="false" rot="0">
              <a:off x="0" y="0"/>
              <a:ext cx="8534400" cy="1341120"/>
            </a:xfrm>
            <a:custGeom>
              <a:avLst/>
              <a:gdLst/>
              <a:ahLst/>
              <a:cxnLst/>
              <a:rect r="r" b="b" t="t" l="l"/>
              <a:pathLst>
                <a:path h="1341120" w="8534400">
                  <a:moveTo>
                    <a:pt x="0" y="0"/>
                  </a:moveTo>
                  <a:lnTo>
                    <a:pt x="8534400" y="0"/>
                  </a:lnTo>
                  <a:lnTo>
                    <a:pt x="8534400" y="1341120"/>
                  </a:lnTo>
                  <a:lnTo>
                    <a:pt x="0" y="1341120"/>
                  </a:lnTo>
                  <a:close/>
                </a:path>
              </a:pathLst>
            </a:custGeom>
            <a:blipFill>
              <a:blip r:embed="rId3">
                <a:alphaModFix amt="0"/>
              </a:blip>
              <a:stretch>
                <a:fillRect l="0" t="-73995" r="0" b="-73995"/>
              </a:stretch>
            </a:blipFill>
          </p:spPr>
          <p:txBody>
            <a:bodyPr/>
            <a:p/>
          </p:txBody>
        </p:sp>
        <p:sp>
          <p:nvSpPr>
            <p:cNvPr name="TextBox 16" id="16"/>
            <p:cNvSpPr txBox="true"/>
            <p:nvPr/>
          </p:nvSpPr>
          <p:spPr>
            <a:xfrm>
              <a:off x="0" y="-57150"/>
              <a:ext cx="8534400" cy="1398270"/>
            </a:xfrm>
            <a:prstGeom prst="rect">
              <a:avLst/>
            </a:prstGeom>
          </p:spPr>
          <p:txBody>
            <a:bodyPr anchor="ctr" rtlCol="false" tIns="0" lIns="0" bIns="0" rIns="0"/>
            <a:lstStyle/>
            <a:p>
              <a:pPr algn="l">
                <a:lnSpc>
                  <a:spcPts val="3840"/>
                </a:lnSpc>
              </a:pPr>
              <a:r>
                <a:rPr lang="en-US" sz="3200" b="true">
                  <a:solidFill>
                    <a:srgbClr val="FFFFFF"/>
                  </a:solidFill>
                  <a:latin typeface="Calibri (MS) Bold"/>
                  <a:ea typeface="Calibri (MS) Bold"/>
                  <a:cs typeface="Calibri (MS) Bold"/>
                  <a:sym typeface="Calibri (MS) Bold"/>
                </a:rPr>
                <a:t>Étudiant</a:t>
              </a:r>
            </a:p>
          </p:txBody>
        </p:sp>
      </p:grpSp>
      <p:grpSp>
        <p:nvGrpSpPr>
          <p:cNvPr name="Group 17" id="17"/>
          <p:cNvGrpSpPr/>
          <p:nvPr/>
        </p:nvGrpSpPr>
        <p:grpSpPr>
          <a:xfrm rot="0">
            <a:off x="1554480" y="3986784"/>
            <a:ext cx="402336" cy="402336"/>
            <a:chOff x="0" y="0"/>
            <a:chExt cx="536448" cy="536448"/>
          </a:xfrm>
        </p:grpSpPr>
        <p:sp>
          <p:nvSpPr>
            <p:cNvPr name="Freeform 18" id="18"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19" id="19"/>
          <p:cNvGrpSpPr/>
          <p:nvPr/>
        </p:nvGrpSpPr>
        <p:grpSpPr>
          <a:xfrm rot="0">
            <a:off x="2194560" y="3895344"/>
            <a:ext cx="6583680" cy="585216"/>
            <a:chOff x="0" y="0"/>
            <a:chExt cx="8778240" cy="780288"/>
          </a:xfrm>
        </p:grpSpPr>
        <p:sp>
          <p:nvSpPr>
            <p:cNvPr name="Freeform 20" id="20"/>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21" id="21"/>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S'inscrire (email institutionnel)</a:t>
              </a:r>
            </a:p>
          </p:txBody>
        </p:sp>
      </p:grpSp>
      <p:grpSp>
        <p:nvGrpSpPr>
          <p:cNvPr name="Group 22" id="22"/>
          <p:cNvGrpSpPr/>
          <p:nvPr/>
        </p:nvGrpSpPr>
        <p:grpSpPr>
          <a:xfrm rot="0">
            <a:off x="1554480" y="4809744"/>
            <a:ext cx="402336" cy="402336"/>
            <a:chOff x="0" y="0"/>
            <a:chExt cx="536448" cy="536448"/>
          </a:xfrm>
        </p:grpSpPr>
        <p:sp>
          <p:nvSpPr>
            <p:cNvPr name="Freeform 23" id="23"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24" id="24"/>
          <p:cNvGrpSpPr/>
          <p:nvPr/>
        </p:nvGrpSpPr>
        <p:grpSpPr>
          <a:xfrm rot="0">
            <a:off x="2194560" y="4718304"/>
            <a:ext cx="6583680" cy="585216"/>
            <a:chOff x="0" y="0"/>
            <a:chExt cx="8778240" cy="780288"/>
          </a:xfrm>
        </p:grpSpPr>
        <p:sp>
          <p:nvSpPr>
            <p:cNvPr name="Freeform 25" id="25"/>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26" id="26"/>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Poser des questions au chatbot</a:t>
              </a:r>
            </a:p>
          </p:txBody>
        </p:sp>
      </p:grpSp>
      <p:grpSp>
        <p:nvGrpSpPr>
          <p:cNvPr name="Group 27" id="27"/>
          <p:cNvGrpSpPr/>
          <p:nvPr/>
        </p:nvGrpSpPr>
        <p:grpSpPr>
          <a:xfrm rot="0">
            <a:off x="1554480" y="5632704"/>
            <a:ext cx="402336" cy="402336"/>
            <a:chOff x="0" y="0"/>
            <a:chExt cx="536448" cy="536448"/>
          </a:xfrm>
        </p:grpSpPr>
        <p:sp>
          <p:nvSpPr>
            <p:cNvPr name="Freeform 28" id="28"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29" id="29"/>
          <p:cNvGrpSpPr/>
          <p:nvPr/>
        </p:nvGrpSpPr>
        <p:grpSpPr>
          <a:xfrm rot="0">
            <a:off x="2194560" y="5541264"/>
            <a:ext cx="6583680" cy="585216"/>
            <a:chOff x="0" y="0"/>
            <a:chExt cx="8778240" cy="780288"/>
          </a:xfrm>
        </p:grpSpPr>
        <p:sp>
          <p:nvSpPr>
            <p:cNvPr name="Freeform 30" id="30"/>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31" id="31"/>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Consulter son emploi du temps</a:t>
              </a:r>
            </a:p>
          </p:txBody>
        </p:sp>
      </p:grpSp>
      <p:grpSp>
        <p:nvGrpSpPr>
          <p:cNvPr name="Group 32" id="32"/>
          <p:cNvGrpSpPr/>
          <p:nvPr/>
        </p:nvGrpSpPr>
        <p:grpSpPr>
          <a:xfrm rot="0">
            <a:off x="1554480" y="6455664"/>
            <a:ext cx="402336" cy="402336"/>
            <a:chOff x="0" y="0"/>
            <a:chExt cx="536448" cy="536448"/>
          </a:xfrm>
        </p:grpSpPr>
        <p:sp>
          <p:nvSpPr>
            <p:cNvPr name="Freeform 33" id="33"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34" id="34"/>
          <p:cNvGrpSpPr/>
          <p:nvPr/>
        </p:nvGrpSpPr>
        <p:grpSpPr>
          <a:xfrm rot="0">
            <a:off x="2194560" y="6364224"/>
            <a:ext cx="6583680" cy="585216"/>
            <a:chOff x="0" y="0"/>
            <a:chExt cx="8778240" cy="780288"/>
          </a:xfrm>
        </p:grpSpPr>
        <p:sp>
          <p:nvSpPr>
            <p:cNvPr name="Freeform 35" id="35"/>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36" id="36"/>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Gérer ses conversations &amp; feedback</a:t>
              </a:r>
            </a:p>
          </p:txBody>
        </p:sp>
      </p:grpSp>
      <p:grpSp>
        <p:nvGrpSpPr>
          <p:cNvPr name="Group 37" id="37"/>
          <p:cNvGrpSpPr/>
          <p:nvPr/>
        </p:nvGrpSpPr>
        <p:grpSpPr>
          <a:xfrm rot="0">
            <a:off x="1554480" y="7278624"/>
            <a:ext cx="402336" cy="402336"/>
            <a:chOff x="0" y="0"/>
            <a:chExt cx="536448" cy="536448"/>
          </a:xfrm>
        </p:grpSpPr>
        <p:sp>
          <p:nvSpPr>
            <p:cNvPr name="Freeform 38" id="38"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39" id="39"/>
          <p:cNvGrpSpPr/>
          <p:nvPr/>
        </p:nvGrpSpPr>
        <p:grpSpPr>
          <a:xfrm rot="0">
            <a:off x="2194560" y="7187184"/>
            <a:ext cx="6583680" cy="585216"/>
            <a:chOff x="0" y="0"/>
            <a:chExt cx="8778240" cy="780288"/>
          </a:xfrm>
        </p:grpSpPr>
        <p:sp>
          <p:nvSpPr>
            <p:cNvPr name="Freeform 40" id="40"/>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41" id="41"/>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Demander un changement de filière</a:t>
              </a:r>
            </a:p>
          </p:txBody>
        </p:sp>
      </p:grpSp>
      <p:grpSp>
        <p:nvGrpSpPr>
          <p:cNvPr name="Group 42" id="42"/>
          <p:cNvGrpSpPr/>
          <p:nvPr/>
        </p:nvGrpSpPr>
        <p:grpSpPr>
          <a:xfrm rot="0">
            <a:off x="1554480" y="8101584"/>
            <a:ext cx="402336" cy="402336"/>
            <a:chOff x="0" y="0"/>
            <a:chExt cx="536448" cy="536448"/>
          </a:xfrm>
        </p:grpSpPr>
        <p:sp>
          <p:nvSpPr>
            <p:cNvPr name="Freeform 43" id="43"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44" id="44"/>
          <p:cNvGrpSpPr/>
          <p:nvPr/>
        </p:nvGrpSpPr>
        <p:grpSpPr>
          <a:xfrm rot="0">
            <a:off x="2194560" y="8010144"/>
            <a:ext cx="6583680" cy="585216"/>
            <a:chOff x="0" y="0"/>
            <a:chExt cx="8778240" cy="780288"/>
          </a:xfrm>
        </p:grpSpPr>
        <p:sp>
          <p:nvSpPr>
            <p:cNvPr name="Freeform 45" id="45"/>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46" id="46"/>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Exporter ou supprimer ses données</a:t>
              </a:r>
            </a:p>
          </p:txBody>
        </p:sp>
      </p:grpSp>
      <p:grpSp>
        <p:nvGrpSpPr>
          <p:cNvPr name="Group 47" id="47"/>
          <p:cNvGrpSpPr/>
          <p:nvPr/>
        </p:nvGrpSpPr>
        <p:grpSpPr>
          <a:xfrm rot="0">
            <a:off x="9314183" y="2456183"/>
            <a:ext cx="7889243" cy="7157723"/>
            <a:chOff x="0" y="0"/>
            <a:chExt cx="10518991" cy="9543631"/>
          </a:xfrm>
        </p:grpSpPr>
        <p:sp>
          <p:nvSpPr>
            <p:cNvPr name="Freeform 48" id="48"/>
            <p:cNvSpPr/>
            <p:nvPr/>
          </p:nvSpPr>
          <p:spPr>
            <a:xfrm flipH="false" flipV="false" rot="0">
              <a:off x="16891" y="16891"/>
              <a:ext cx="10485120" cy="9509760"/>
            </a:xfrm>
            <a:custGeom>
              <a:avLst/>
              <a:gdLst/>
              <a:ahLst/>
              <a:cxnLst/>
              <a:rect r="r" b="b" t="t" l="l"/>
              <a:pathLst>
                <a:path h="9509760" w="10485120">
                  <a:moveTo>
                    <a:pt x="0" y="0"/>
                  </a:moveTo>
                  <a:lnTo>
                    <a:pt x="10485120" y="0"/>
                  </a:lnTo>
                  <a:lnTo>
                    <a:pt x="10485120" y="9509760"/>
                  </a:lnTo>
                  <a:lnTo>
                    <a:pt x="0" y="9509760"/>
                  </a:lnTo>
                  <a:close/>
                </a:path>
              </a:pathLst>
            </a:custGeom>
            <a:solidFill>
              <a:srgbClr val="FFFFFF"/>
            </a:solidFill>
          </p:spPr>
          <p:txBody>
            <a:bodyPr/>
            <a:p/>
          </p:txBody>
        </p:sp>
        <p:sp>
          <p:nvSpPr>
            <p:cNvPr name="Freeform 49" id="49"/>
            <p:cNvSpPr/>
            <p:nvPr/>
          </p:nvSpPr>
          <p:spPr>
            <a:xfrm flipH="false" flipV="false" rot="0">
              <a:off x="0" y="0"/>
              <a:ext cx="10518901" cy="9543542"/>
            </a:xfrm>
            <a:custGeom>
              <a:avLst/>
              <a:gdLst/>
              <a:ahLst/>
              <a:cxnLst/>
              <a:rect r="r" b="b" t="t" l="l"/>
              <a:pathLst>
                <a:path h="9543542" w="10518901">
                  <a:moveTo>
                    <a:pt x="16891" y="0"/>
                  </a:moveTo>
                  <a:lnTo>
                    <a:pt x="10502011" y="0"/>
                  </a:lnTo>
                  <a:cubicBezTo>
                    <a:pt x="10511409" y="0"/>
                    <a:pt x="10518901" y="7620"/>
                    <a:pt x="10518901" y="16891"/>
                  </a:cubicBezTo>
                  <a:lnTo>
                    <a:pt x="10518901" y="9526651"/>
                  </a:lnTo>
                  <a:cubicBezTo>
                    <a:pt x="10518901" y="9536049"/>
                    <a:pt x="10511282" y="9543542"/>
                    <a:pt x="10502011" y="9543542"/>
                  </a:cubicBezTo>
                  <a:lnTo>
                    <a:pt x="16891" y="9543542"/>
                  </a:lnTo>
                  <a:cubicBezTo>
                    <a:pt x="7493" y="9543542"/>
                    <a:pt x="0" y="9535922"/>
                    <a:pt x="0" y="9526651"/>
                  </a:cubicBezTo>
                  <a:lnTo>
                    <a:pt x="0" y="16891"/>
                  </a:lnTo>
                  <a:cubicBezTo>
                    <a:pt x="0" y="7620"/>
                    <a:pt x="7620" y="0"/>
                    <a:pt x="16891" y="0"/>
                  </a:cubicBezTo>
                  <a:moveTo>
                    <a:pt x="16891" y="33909"/>
                  </a:moveTo>
                  <a:lnTo>
                    <a:pt x="16891" y="16891"/>
                  </a:lnTo>
                  <a:lnTo>
                    <a:pt x="33909" y="16891"/>
                  </a:lnTo>
                  <a:lnTo>
                    <a:pt x="33909" y="9526651"/>
                  </a:lnTo>
                  <a:lnTo>
                    <a:pt x="16891" y="9526651"/>
                  </a:lnTo>
                  <a:lnTo>
                    <a:pt x="16891" y="9509760"/>
                  </a:lnTo>
                  <a:lnTo>
                    <a:pt x="10502011" y="9509760"/>
                  </a:lnTo>
                  <a:lnTo>
                    <a:pt x="10502011" y="9526651"/>
                  </a:lnTo>
                  <a:lnTo>
                    <a:pt x="10485120" y="9526651"/>
                  </a:lnTo>
                  <a:lnTo>
                    <a:pt x="10485120" y="16891"/>
                  </a:lnTo>
                  <a:lnTo>
                    <a:pt x="10502011" y="16891"/>
                  </a:lnTo>
                  <a:lnTo>
                    <a:pt x="10502011" y="33909"/>
                  </a:lnTo>
                  <a:lnTo>
                    <a:pt x="16891" y="33909"/>
                  </a:lnTo>
                  <a:close/>
                </a:path>
              </a:pathLst>
            </a:custGeom>
            <a:solidFill>
              <a:srgbClr val="E2E8F0"/>
            </a:solidFill>
          </p:spPr>
          <p:txBody>
            <a:bodyPr/>
            <a:p/>
          </p:txBody>
        </p:sp>
      </p:grpSp>
      <p:grpSp>
        <p:nvGrpSpPr>
          <p:cNvPr name="Group 50" id="50"/>
          <p:cNvGrpSpPr/>
          <p:nvPr/>
        </p:nvGrpSpPr>
        <p:grpSpPr>
          <a:xfrm rot="0">
            <a:off x="9326880" y="2468880"/>
            <a:ext cx="7863840" cy="1005840"/>
            <a:chOff x="0" y="0"/>
            <a:chExt cx="10485120" cy="1341120"/>
          </a:xfrm>
        </p:grpSpPr>
        <p:sp>
          <p:nvSpPr>
            <p:cNvPr name="Freeform 51" id="51"/>
            <p:cNvSpPr/>
            <p:nvPr/>
          </p:nvSpPr>
          <p:spPr>
            <a:xfrm flipH="false" flipV="false" rot="0">
              <a:off x="0" y="0"/>
              <a:ext cx="10485120" cy="1341120"/>
            </a:xfrm>
            <a:custGeom>
              <a:avLst/>
              <a:gdLst/>
              <a:ahLst/>
              <a:cxnLst/>
              <a:rect r="r" b="b" t="t" l="l"/>
              <a:pathLst>
                <a:path h="1341120" w="10485120">
                  <a:moveTo>
                    <a:pt x="0" y="0"/>
                  </a:moveTo>
                  <a:lnTo>
                    <a:pt x="10485120" y="0"/>
                  </a:lnTo>
                  <a:lnTo>
                    <a:pt x="10485120" y="1341120"/>
                  </a:lnTo>
                  <a:lnTo>
                    <a:pt x="0" y="1341120"/>
                  </a:lnTo>
                  <a:close/>
                </a:path>
              </a:pathLst>
            </a:custGeom>
            <a:solidFill>
              <a:srgbClr val="0D1B2A"/>
            </a:solidFill>
          </p:spPr>
          <p:txBody>
            <a:bodyPr/>
            <a:p/>
          </p:txBody>
        </p:sp>
      </p:grpSp>
      <p:grpSp>
        <p:nvGrpSpPr>
          <p:cNvPr name="Group 52" id="52"/>
          <p:cNvGrpSpPr/>
          <p:nvPr/>
        </p:nvGrpSpPr>
        <p:grpSpPr>
          <a:xfrm rot="0">
            <a:off x="9692640" y="2651760"/>
            <a:ext cx="640080" cy="640080"/>
            <a:chOff x="0" y="0"/>
            <a:chExt cx="853440" cy="853440"/>
          </a:xfrm>
        </p:grpSpPr>
        <p:sp>
          <p:nvSpPr>
            <p:cNvPr name="Freeform 53" id="53"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6"/>
              <a:stretch>
                <a:fillRect l="0" t="0" r="0" b="0"/>
              </a:stretch>
            </a:blipFill>
          </p:spPr>
          <p:txBody>
            <a:bodyPr/>
            <a:p/>
          </p:txBody>
        </p:sp>
      </p:grpSp>
      <p:grpSp>
        <p:nvGrpSpPr>
          <p:cNvPr name="Group 54" id="54"/>
          <p:cNvGrpSpPr/>
          <p:nvPr/>
        </p:nvGrpSpPr>
        <p:grpSpPr>
          <a:xfrm rot="0">
            <a:off x="10607040" y="2468880"/>
            <a:ext cx="6400800" cy="1005840"/>
            <a:chOff x="0" y="0"/>
            <a:chExt cx="8534400" cy="1341120"/>
          </a:xfrm>
        </p:grpSpPr>
        <p:sp>
          <p:nvSpPr>
            <p:cNvPr name="Freeform 55" id="55"/>
            <p:cNvSpPr/>
            <p:nvPr/>
          </p:nvSpPr>
          <p:spPr>
            <a:xfrm flipH="false" flipV="false" rot="0">
              <a:off x="0" y="0"/>
              <a:ext cx="8534400" cy="1341120"/>
            </a:xfrm>
            <a:custGeom>
              <a:avLst/>
              <a:gdLst/>
              <a:ahLst/>
              <a:cxnLst/>
              <a:rect r="r" b="b" t="t" l="l"/>
              <a:pathLst>
                <a:path h="1341120" w="8534400">
                  <a:moveTo>
                    <a:pt x="0" y="0"/>
                  </a:moveTo>
                  <a:lnTo>
                    <a:pt x="8534400" y="0"/>
                  </a:lnTo>
                  <a:lnTo>
                    <a:pt x="8534400" y="1341120"/>
                  </a:lnTo>
                  <a:lnTo>
                    <a:pt x="0" y="1341120"/>
                  </a:lnTo>
                  <a:close/>
                </a:path>
              </a:pathLst>
            </a:custGeom>
            <a:blipFill>
              <a:blip r:embed="rId3">
                <a:alphaModFix amt="0"/>
              </a:blip>
              <a:stretch>
                <a:fillRect l="0" t="-73995" r="0" b="-73995"/>
              </a:stretch>
            </a:blipFill>
          </p:spPr>
          <p:txBody>
            <a:bodyPr/>
            <a:p/>
          </p:txBody>
        </p:sp>
        <p:sp>
          <p:nvSpPr>
            <p:cNvPr name="TextBox 56" id="56"/>
            <p:cNvSpPr txBox="true"/>
            <p:nvPr/>
          </p:nvSpPr>
          <p:spPr>
            <a:xfrm>
              <a:off x="0" y="-57150"/>
              <a:ext cx="8534400" cy="1398270"/>
            </a:xfrm>
            <a:prstGeom prst="rect">
              <a:avLst/>
            </a:prstGeom>
          </p:spPr>
          <p:txBody>
            <a:bodyPr anchor="ctr" rtlCol="false" tIns="0" lIns="0" bIns="0" rIns="0"/>
            <a:lstStyle/>
            <a:p>
              <a:pPr algn="l">
                <a:lnSpc>
                  <a:spcPts val="3840"/>
                </a:lnSpc>
              </a:pPr>
              <a:r>
                <a:rPr lang="en-US" sz="3200" b="true">
                  <a:solidFill>
                    <a:srgbClr val="FFFFFF"/>
                  </a:solidFill>
                  <a:latin typeface="Calibri (MS) Bold"/>
                  <a:ea typeface="Calibri (MS) Bold"/>
                  <a:cs typeface="Calibri (MS) Bold"/>
                  <a:sym typeface="Calibri (MS) Bold"/>
                </a:rPr>
                <a:t>Administrateur</a:t>
              </a:r>
            </a:p>
          </p:txBody>
        </p:sp>
      </p:grpSp>
      <p:grpSp>
        <p:nvGrpSpPr>
          <p:cNvPr name="Group 57" id="57"/>
          <p:cNvGrpSpPr/>
          <p:nvPr/>
        </p:nvGrpSpPr>
        <p:grpSpPr>
          <a:xfrm rot="0">
            <a:off x="9784080" y="3986784"/>
            <a:ext cx="402336" cy="402336"/>
            <a:chOff x="0" y="0"/>
            <a:chExt cx="536448" cy="536448"/>
          </a:xfrm>
        </p:grpSpPr>
        <p:sp>
          <p:nvSpPr>
            <p:cNvPr name="Freeform 58" id="58"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59" id="59"/>
          <p:cNvGrpSpPr/>
          <p:nvPr/>
        </p:nvGrpSpPr>
        <p:grpSpPr>
          <a:xfrm rot="0">
            <a:off x="10424160" y="3895344"/>
            <a:ext cx="6583680" cy="585216"/>
            <a:chOff x="0" y="0"/>
            <a:chExt cx="8778240" cy="780288"/>
          </a:xfrm>
        </p:grpSpPr>
        <p:sp>
          <p:nvSpPr>
            <p:cNvPr name="Freeform 60" id="60"/>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61" id="61"/>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Gérer les comptes utilisateurs</a:t>
              </a:r>
            </a:p>
          </p:txBody>
        </p:sp>
      </p:grpSp>
      <p:grpSp>
        <p:nvGrpSpPr>
          <p:cNvPr name="Group 62" id="62"/>
          <p:cNvGrpSpPr/>
          <p:nvPr/>
        </p:nvGrpSpPr>
        <p:grpSpPr>
          <a:xfrm rot="0">
            <a:off x="9784080" y="4809744"/>
            <a:ext cx="402336" cy="402336"/>
            <a:chOff x="0" y="0"/>
            <a:chExt cx="536448" cy="536448"/>
          </a:xfrm>
        </p:grpSpPr>
        <p:sp>
          <p:nvSpPr>
            <p:cNvPr name="Freeform 63" id="63"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64" id="64"/>
          <p:cNvGrpSpPr/>
          <p:nvPr/>
        </p:nvGrpSpPr>
        <p:grpSpPr>
          <a:xfrm rot="0">
            <a:off x="10424160" y="4718304"/>
            <a:ext cx="6583680" cy="585216"/>
            <a:chOff x="0" y="0"/>
            <a:chExt cx="8778240" cy="780288"/>
          </a:xfrm>
        </p:grpSpPr>
        <p:sp>
          <p:nvSpPr>
            <p:cNvPr name="Freeform 65" id="65"/>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66" id="66"/>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Importer &amp; indexer les FAQ</a:t>
              </a:r>
            </a:p>
          </p:txBody>
        </p:sp>
      </p:grpSp>
      <p:grpSp>
        <p:nvGrpSpPr>
          <p:cNvPr name="Group 67" id="67"/>
          <p:cNvGrpSpPr/>
          <p:nvPr/>
        </p:nvGrpSpPr>
        <p:grpSpPr>
          <a:xfrm rot="0">
            <a:off x="9784080" y="5632704"/>
            <a:ext cx="402336" cy="402336"/>
            <a:chOff x="0" y="0"/>
            <a:chExt cx="536448" cy="536448"/>
          </a:xfrm>
        </p:grpSpPr>
        <p:sp>
          <p:nvSpPr>
            <p:cNvPr name="Freeform 68" id="68"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69" id="69"/>
          <p:cNvGrpSpPr/>
          <p:nvPr/>
        </p:nvGrpSpPr>
        <p:grpSpPr>
          <a:xfrm rot="0">
            <a:off x="10424160" y="5541264"/>
            <a:ext cx="6583680" cy="585216"/>
            <a:chOff x="0" y="0"/>
            <a:chExt cx="8778240" cy="780288"/>
          </a:xfrm>
        </p:grpSpPr>
        <p:sp>
          <p:nvSpPr>
            <p:cNvPr name="Freeform 70" id="70"/>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71" id="71"/>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Publier les emplois du temps</a:t>
              </a:r>
            </a:p>
          </p:txBody>
        </p:sp>
      </p:grpSp>
      <p:grpSp>
        <p:nvGrpSpPr>
          <p:cNvPr name="Group 72" id="72"/>
          <p:cNvGrpSpPr/>
          <p:nvPr/>
        </p:nvGrpSpPr>
        <p:grpSpPr>
          <a:xfrm rot="0">
            <a:off x="9784080" y="6455664"/>
            <a:ext cx="402336" cy="402336"/>
            <a:chOff x="0" y="0"/>
            <a:chExt cx="536448" cy="536448"/>
          </a:xfrm>
        </p:grpSpPr>
        <p:sp>
          <p:nvSpPr>
            <p:cNvPr name="Freeform 73" id="73"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74" id="74"/>
          <p:cNvGrpSpPr/>
          <p:nvPr/>
        </p:nvGrpSpPr>
        <p:grpSpPr>
          <a:xfrm rot="0">
            <a:off x="10424160" y="6364224"/>
            <a:ext cx="6583680" cy="585216"/>
            <a:chOff x="0" y="0"/>
            <a:chExt cx="8778240" cy="780288"/>
          </a:xfrm>
        </p:grpSpPr>
        <p:sp>
          <p:nvSpPr>
            <p:cNvPr name="Freeform 75" id="75"/>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76" id="76"/>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Traiter les demandes étudiants</a:t>
              </a:r>
            </a:p>
          </p:txBody>
        </p:sp>
      </p:grpSp>
      <p:grpSp>
        <p:nvGrpSpPr>
          <p:cNvPr name="Group 77" id="77"/>
          <p:cNvGrpSpPr/>
          <p:nvPr/>
        </p:nvGrpSpPr>
        <p:grpSpPr>
          <a:xfrm rot="0">
            <a:off x="9784080" y="7278624"/>
            <a:ext cx="402336" cy="402336"/>
            <a:chOff x="0" y="0"/>
            <a:chExt cx="536448" cy="536448"/>
          </a:xfrm>
        </p:grpSpPr>
        <p:sp>
          <p:nvSpPr>
            <p:cNvPr name="Freeform 78" id="78"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79" id="79"/>
          <p:cNvGrpSpPr/>
          <p:nvPr/>
        </p:nvGrpSpPr>
        <p:grpSpPr>
          <a:xfrm rot="0">
            <a:off x="10424160" y="7187184"/>
            <a:ext cx="6583680" cy="585216"/>
            <a:chOff x="0" y="0"/>
            <a:chExt cx="8778240" cy="780288"/>
          </a:xfrm>
        </p:grpSpPr>
        <p:sp>
          <p:nvSpPr>
            <p:cNvPr name="Freeform 80" id="80"/>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81" id="81"/>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Reconstruire l'index Qdrant</a:t>
              </a:r>
            </a:p>
          </p:txBody>
        </p:sp>
      </p:grpSp>
      <p:grpSp>
        <p:nvGrpSpPr>
          <p:cNvPr name="Group 82" id="82"/>
          <p:cNvGrpSpPr/>
          <p:nvPr/>
        </p:nvGrpSpPr>
        <p:grpSpPr>
          <a:xfrm rot="0">
            <a:off x="9784080" y="8101584"/>
            <a:ext cx="402336" cy="402336"/>
            <a:chOff x="0" y="0"/>
            <a:chExt cx="536448" cy="536448"/>
          </a:xfrm>
        </p:grpSpPr>
        <p:sp>
          <p:nvSpPr>
            <p:cNvPr name="Freeform 83" id="83" descr="preencoded.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5"/>
              <a:stretch>
                <a:fillRect l="0" t="0" r="0" b="0"/>
              </a:stretch>
            </a:blipFill>
          </p:spPr>
          <p:txBody>
            <a:bodyPr/>
            <a:p/>
          </p:txBody>
        </p:sp>
      </p:grpSp>
      <p:grpSp>
        <p:nvGrpSpPr>
          <p:cNvPr name="Group 84" id="84"/>
          <p:cNvGrpSpPr/>
          <p:nvPr/>
        </p:nvGrpSpPr>
        <p:grpSpPr>
          <a:xfrm rot="0">
            <a:off x="10424160" y="8010144"/>
            <a:ext cx="6583680" cy="585216"/>
            <a:chOff x="0" y="0"/>
            <a:chExt cx="8778240" cy="780288"/>
          </a:xfrm>
        </p:grpSpPr>
        <p:sp>
          <p:nvSpPr>
            <p:cNvPr name="Freeform 85" id="85"/>
            <p:cNvSpPr/>
            <p:nvPr/>
          </p:nvSpPr>
          <p:spPr>
            <a:xfrm flipH="false" flipV="false" rot="0">
              <a:off x="0" y="0"/>
              <a:ext cx="8778240" cy="780288"/>
            </a:xfrm>
            <a:custGeom>
              <a:avLst/>
              <a:gdLst/>
              <a:ahLst/>
              <a:cxnLst/>
              <a:rect r="r" b="b" t="t" l="l"/>
              <a:pathLst>
                <a:path h="780288" w="8778240">
                  <a:moveTo>
                    <a:pt x="0" y="0"/>
                  </a:moveTo>
                  <a:lnTo>
                    <a:pt x="8778240" y="0"/>
                  </a:lnTo>
                  <a:lnTo>
                    <a:pt x="8778240" y="780288"/>
                  </a:lnTo>
                  <a:lnTo>
                    <a:pt x="0" y="780288"/>
                  </a:lnTo>
                  <a:close/>
                </a:path>
              </a:pathLst>
            </a:custGeom>
            <a:blipFill>
              <a:blip r:embed="rId3">
                <a:alphaModFix amt="0"/>
              </a:blip>
              <a:stretch>
                <a:fillRect l="0" t="-169206" r="0" b="-169206"/>
              </a:stretch>
            </a:blipFill>
          </p:spPr>
          <p:txBody>
            <a:bodyPr/>
            <a:p/>
          </p:txBody>
        </p:sp>
        <p:sp>
          <p:nvSpPr>
            <p:cNvPr name="TextBox 86" id="86"/>
            <p:cNvSpPr txBox="true"/>
            <p:nvPr/>
          </p:nvSpPr>
          <p:spPr>
            <a:xfrm>
              <a:off x="0" y="-38100"/>
              <a:ext cx="8778240" cy="818388"/>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Consulter les statistiques</a:t>
              </a:r>
            </a:p>
          </p:txBody>
        </p:sp>
      </p:grpSp>
      <p:sp>
        <p:nvSpPr>
          <p:cNvPr name="TextBox 87" id="8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2926080"/>
            <a:ext cx="16093440" cy="914400"/>
            <a:chOff x="0" y="0"/>
            <a:chExt cx="21457920" cy="1219200"/>
          </a:xfrm>
        </p:grpSpPr>
        <p:sp>
          <p:nvSpPr>
            <p:cNvPr name="Freeform 5" id="5"/>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6" id="6"/>
            <p:cNvSpPr txBox="true"/>
            <p:nvPr/>
          </p:nvSpPr>
          <p:spPr>
            <a:xfrm>
              <a:off x="0" y="-47625"/>
              <a:ext cx="21457920" cy="1266825"/>
            </a:xfrm>
            <a:prstGeom prst="rect">
              <a:avLst/>
            </a:prstGeom>
          </p:spPr>
          <p:txBody>
            <a:bodyPr anchor="ctr" rtlCol="false" tIns="0" lIns="0" bIns="0" rIns="0"/>
            <a:lstStyle/>
            <a:p>
              <a:pPr algn="l">
                <a:lnSpc>
                  <a:spcPts val="3359"/>
                </a:lnSpc>
              </a:pPr>
              <a:r>
                <a:rPr lang="en-US" sz="2799" b="true">
                  <a:solidFill>
                    <a:srgbClr val="06B6D4"/>
                  </a:solidFill>
                  <a:latin typeface="Calibri (MS) Bold"/>
                  <a:ea typeface="Calibri (MS) Bold"/>
                  <a:cs typeface="Calibri (MS) Bold"/>
                  <a:sym typeface="Calibri (MS) Bold"/>
                </a:rPr>
                <a:t>02</a:t>
              </a:r>
            </a:p>
          </p:txBody>
        </p:sp>
      </p:grpSp>
      <p:grpSp>
        <p:nvGrpSpPr>
          <p:cNvPr name="Group 7" id="7"/>
          <p:cNvGrpSpPr/>
          <p:nvPr/>
        </p:nvGrpSpPr>
        <p:grpSpPr>
          <a:xfrm rot="0">
            <a:off x="1097280" y="3749040"/>
            <a:ext cx="16093440" cy="2011680"/>
            <a:chOff x="0" y="0"/>
            <a:chExt cx="21457920" cy="2682240"/>
          </a:xfrm>
        </p:grpSpPr>
        <p:sp>
          <p:nvSpPr>
            <p:cNvPr name="Freeform 8" id="8"/>
            <p:cNvSpPr/>
            <p:nvPr/>
          </p:nvSpPr>
          <p:spPr>
            <a:xfrm flipH="false" flipV="false" rot="0">
              <a:off x="0" y="0"/>
              <a:ext cx="21457920" cy="2682240"/>
            </a:xfrm>
            <a:custGeom>
              <a:avLst/>
              <a:gdLst/>
              <a:ahLst/>
              <a:cxnLst/>
              <a:rect r="r" b="b" t="t" l="l"/>
              <a:pathLst>
                <a:path h="2682240" w="21457920">
                  <a:moveTo>
                    <a:pt x="0" y="0"/>
                  </a:moveTo>
                  <a:lnTo>
                    <a:pt x="21457920" y="0"/>
                  </a:lnTo>
                  <a:lnTo>
                    <a:pt x="21457920" y="2682240"/>
                  </a:lnTo>
                  <a:lnTo>
                    <a:pt x="0" y="2682240"/>
                  </a:lnTo>
                  <a:close/>
                </a:path>
              </a:pathLst>
            </a:custGeom>
            <a:blipFill>
              <a:blip r:embed="rId3">
                <a:alphaModFix amt="0"/>
              </a:blip>
              <a:stretch>
                <a:fillRect l="0" t="-105880" r="0" b="-105880"/>
              </a:stretch>
            </a:blipFill>
          </p:spPr>
          <p:txBody>
            <a:bodyPr/>
            <a:p/>
          </p:txBody>
        </p:sp>
        <p:sp>
          <p:nvSpPr>
            <p:cNvPr name="TextBox 9" id="9"/>
            <p:cNvSpPr txBox="true"/>
            <p:nvPr/>
          </p:nvSpPr>
          <p:spPr>
            <a:xfrm>
              <a:off x="0" y="-161925"/>
              <a:ext cx="21457920" cy="284416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Architecture</a:t>
              </a:r>
            </a:p>
          </p:txBody>
        </p:sp>
      </p:grpSp>
      <p:grpSp>
        <p:nvGrpSpPr>
          <p:cNvPr name="Group 10" id="10"/>
          <p:cNvGrpSpPr/>
          <p:nvPr/>
        </p:nvGrpSpPr>
        <p:grpSpPr>
          <a:xfrm rot="0">
            <a:off x="1097280" y="5943600"/>
            <a:ext cx="16093440" cy="914400"/>
            <a:chOff x="0" y="0"/>
            <a:chExt cx="21457920" cy="1219200"/>
          </a:xfrm>
        </p:grpSpPr>
        <p:sp>
          <p:nvSpPr>
            <p:cNvPr name="Freeform 11" id="11"/>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12" id="12"/>
            <p:cNvSpPr txBox="true"/>
            <p:nvPr/>
          </p:nvSpPr>
          <p:spPr>
            <a:xfrm>
              <a:off x="0" y="-66675"/>
              <a:ext cx="21457920" cy="1285875"/>
            </a:xfrm>
            <a:prstGeom prst="rect">
              <a:avLst/>
            </a:prstGeom>
          </p:spPr>
          <p:txBody>
            <a:bodyPr anchor="ctr" rtlCol="false" tIns="0" lIns="0" bIns="0" rIns="0"/>
            <a:lstStyle/>
            <a:p>
              <a:pPr algn="l">
                <a:lnSpc>
                  <a:spcPts val="4320"/>
                </a:lnSpc>
              </a:pPr>
              <a:r>
                <a:rPr lang="en-US" sz="3600">
                  <a:solidFill>
                    <a:srgbClr val="CFFAFE"/>
                  </a:solidFill>
                  <a:latin typeface="Calibri (MS)"/>
                  <a:ea typeface="Calibri (MS)"/>
                  <a:cs typeface="Calibri (MS)"/>
                  <a:sym typeface="Calibri (MS)"/>
                </a:rPr>
                <a:t>Stack moderne, modulaire et sécurisée</a:t>
              </a:r>
            </a:p>
          </p:txBody>
        </p:sp>
      </p:gr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Architecture globale</a:t>
              </a:r>
            </a:p>
          </p:txBody>
        </p:sp>
      </p:grpSp>
      <p:grpSp>
        <p:nvGrpSpPr>
          <p:cNvPr name="Group 7" id="7"/>
          <p:cNvGrpSpPr/>
          <p:nvPr/>
        </p:nvGrpSpPr>
        <p:grpSpPr>
          <a:xfrm rot="0">
            <a:off x="718823" y="3644903"/>
            <a:ext cx="2768603" cy="1854203"/>
            <a:chOff x="0" y="0"/>
            <a:chExt cx="3691471" cy="2472271"/>
          </a:xfrm>
        </p:grpSpPr>
        <p:sp>
          <p:nvSpPr>
            <p:cNvPr name="Freeform 8" id="8"/>
            <p:cNvSpPr/>
            <p:nvPr/>
          </p:nvSpPr>
          <p:spPr>
            <a:xfrm flipH="false" flipV="false" rot="0">
              <a:off x="16891" y="16891"/>
              <a:ext cx="3657600" cy="2438400"/>
            </a:xfrm>
            <a:custGeom>
              <a:avLst/>
              <a:gdLst/>
              <a:ahLst/>
              <a:cxnLst/>
              <a:rect r="r" b="b" t="t" l="l"/>
              <a:pathLst>
                <a:path h="2438400" w="3657600">
                  <a:moveTo>
                    <a:pt x="0" y="0"/>
                  </a:moveTo>
                  <a:lnTo>
                    <a:pt x="3657600" y="0"/>
                  </a:lnTo>
                  <a:lnTo>
                    <a:pt x="3657600" y="2438400"/>
                  </a:lnTo>
                  <a:lnTo>
                    <a:pt x="0" y="2438400"/>
                  </a:lnTo>
                  <a:close/>
                </a:path>
              </a:pathLst>
            </a:custGeom>
            <a:solidFill>
              <a:srgbClr val="1E3A5F"/>
            </a:solidFill>
          </p:spPr>
          <p:txBody>
            <a:bodyPr/>
            <a:p/>
          </p:txBody>
        </p:sp>
        <p:sp>
          <p:nvSpPr>
            <p:cNvPr name="Freeform 9" id="9"/>
            <p:cNvSpPr/>
            <p:nvPr/>
          </p:nvSpPr>
          <p:spPr>
            <a:xfrm flipH="false" flipV="false" rot="0">
              <a:off x="0" y="0"/>
              <a:ext cx="3691382" cy="2472182"/>
            </a:xfrm>
            <a:custGeom>
              <a:avLst/>
              <a:gdLst/>
              <a:ahLst/>
              <a:cxnLst/>
              <a:rect r="r" b="b" t="t" l="l"/>
              <a:pathLst>
                <a:path h="2472182" w="3691382">
                  <a:moveTo>
                    <a:pt x="16891" y="0"/>
                  </a:moveTo>
                  <a:lnTo>
                    <a:pt x="3674491" y="0"/>
                  </a:lnTo>
                  <a:cubicBezTo>
                    <a:pt x="3683889" y="0"/>
                    <a:pt x="3691382" y="7620"/>
                    <a:pt x="3691382" y="16891"/>
                  </a:cubicBezTo>
                  <a:lnTo>
                    <a:pt x="3691382" y="2455291"/>
                  </a:lnTo>
                  <a:cubicBezTo>
                    <a:pt x="3691382" y="2464689"/>
                    <a:pt x="3683762" y="2472182"/>
                    <a:pt x="367449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3674491" y="2438400"/>
                  </a:lnTo>
                  <a:lnTo>
                    <a:pt x="3674491" y="2455291"/>
                  </a:lnTo>
                  <a:lnTo>
                    <a:pt x="3657600" y="2455291"/>
                  </a:lnTo>
                  <a:lnTo>
                    <a:pt x="3657600" y="16891"/>
                  </a:lnTo>
                  <a:lnTo>
                    <a:pt x="3674491" y="16891"/>
                  </a:lnTo>
                  <a:lnTo>
                    <a:pt x="3674491" y="33909"/>
                  </a:lnTo>
                  <a:lnTo>
                    <a:pt x="16891" y="33909"/>
                  </a:lnTo>
                  <a:close/>
                </a:path>
              </a:pathLst>
            </a:custGeom>
            <a:solidFill>
              <a:srgbClr val="1E3A5F"/>
            </a:solidFill>
          </p:spPr>
          <p:txBody>
            <a:bodyPr/>
            <a:p/>
          </p:txBody>
        </p:sp>
      </p:grpSp>
      <p:grpSp>
        <p:nvGrpSpPr>
          <p:cNvPr name="Group 10" id="10"/>
          <p:cNvGrpSpPr/>
          <p:nvPr/>
        </p:nvGrpSpPr>
        <p:grpSpPr>
          <a:xfrm rot="0">
            <a:off x="731520" y="3657600"/>
            <a:ext cx="2743200" cy="1828800"/>
            <a:chOff x="0" y="0"/>
            <a:chExt cx="3657600" cy="2438400"/>
          </a:xfrm>
        </p:grpSpPr>
        <p:sp>
          <p:nvSpPr>
            <p:cNvPr name="Freeform 11" id="11"/>
            <p:cNvSpPr/>
            <p:nvPr/>
          </p:nvSpPr>
          <p:spPr>
            <a:xfrm flipH="false" flipV="false" rot="0">
              <a:off x="0" y="0"/>
              <a:ext cx="3657600" cy="2438400"/>
            </a:xfrm>
            <a:custGeom>
              <a:avLst/>
              <a:gdLst/>
              <a:ahLst/>
              <a:cxnLst/>
              <a:rect r="r" b="b" t="t" l="l"/>
              <a:pathLst>
                <a:path h="2438400" w="3657600">
                  <a:moveTo>
                    <a:pt x="0" y="0"/>
                  </a:moveTo>
                  <a:lnTo>
                    <a:pt x="3657600" y="0"/>
                  </a:lnTo>
                  <a:lnTo>
                    <a:pt x="3657600" y="2438400"/>
                  </a:lnTo>
                  <a:lnTo>
                    <a:pt x="0" y="2438400"/>
                  </a:lnTo>
                  <a:close/>
                </a:path>
              </a:pathLst>
            </a:custGeom>
            <a:blipFill>
              <a:blip r:embed="rId3">
                <a:alphaModFix amt="0"/>
              </a:blip>
              <a:stretch>
                <a:fillRect l="-35535" t="0" r="-35535" b="0"/>
              </a:stretch>
            </a:blipFill>
          </p:spPr>
          <p:txBody>
            <a:bodyPr/>
            <a:p/>
          </p:txBody>
        </p:sp>
        <p:sp>
          <p:nvSpPr>
            <p:cNvPr name="TextBox 12" id="12"/>
            <p:cNvSpPr txBox="true"/>
            <p:nvPr/>
          </p:nvSpPr>
          <p:spPr>
            <a:xfrm>
              <a:off x="0" y="-57150"/>
              <a:ext cx="3657600" cy="249555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Étudiant</a:t>
              </a:r>
            </a:p>
            <a:p>
              <a:pPr algn="ctr">
                <a:lnSpc>
                  <a:spcPts val="3120"/>
                </a:lnSpc>
              </a:pPr>
              <a:r>
                <a:rPr lang="en-US" sz="2600" b="true">
                  <a:solidFill>
                    <a:srgbClr val="FFFFFF"/>
                  </a:solidFill>
                  <a:latin typeface="Calibri (MS) Bold"/>
                  <a:ea typeface="Calibri (MS) Bold"/>
                  <a:cs typeface="Calibri (MS) Bold"/>
                  <a:sym typeface="Calibri (MS) Bold"/>
                </a:rPr>
                <a:t>/ Admin</a:t>
              </a:r>
            </a:p>
          </p:txBody>
        </p:sp>
      </p:grpSp>
      <p:grpSp>
        <p:nvGrpSpPr>
          <p:cNvPr name="Group 13" id="13"/>
          <p:cNvGrpSpPr/>
          <p:nvPr/>
        </p:nvGrpSpPr>
        <p:grpSpPr>
          <a:xfrm rot="0">
            <a:off x="3657600" y="4389120"/>
            <a:ext cx="548640" cy="548640"/>
            <a:chOff x="0" y="0"/>
            <a:chExt cx="731520" cy="731520"/>
          </a:xfrm>
        </p:grpSpPr>
        <p:sp>
          <p:nvSpPr>
            <p:cNvPr name="Freeform 14" id="14"/>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txBody>
            <a:bodyPr/>
            <a:p/>
          </p:txBody>
        </p:sp>
        <p:sp>
          <p:nvSpPr>
            <p:cNvPr name="TextBox 15" id="15"/>
            <p:cNvSpPr txBox="true"/>
            <p:nvPr/>
          </p:nvSpPr>
          <p:spPr>
            <a:xfrm>
              <a:off x="0" y="-57150"/>
              <a:ext cx="731520" cy="788670"/>
            </a:xfrm>
            <a:prstGeom prst="rect">
              <a:avLst/>
            </a:prstGeom>
          </p:spPr>
          <p:txBody>
            <a:bodyPr anchor="ctr" rtlCol="false" tIns="0" lIns="0" bIns="0" rIns="0"/>
            <a:lstStyle/>
            <a:p>
              <a:pPr algn="l">
                <a:lnSpc>
                  <a:spcPts val="3840"/>
                </a:lnSpc>
              </a:pPr>
              <a:r>
                <a:rPr lang="en-US" sz="3200">
                  <a:solidFill>
                    <a:srgbClr val="2563EB"/>
                  </a:solidFill>
                  <a:latin typeface="Calibri (MS)"/>
                  <a:ea typeface="Calibri (MS)"/>
                  <a:cs typeface="Calibri (MS)"/>
                  <a:sym typeface="Calibri (MS)"/>
                </a:rPr>
                <a:t>▶</a:t>
              </a:r>
            </a:p>
          </p:txBody>
        </p:sp>
      </p:grpSp>
      <p:grpSp>
        <p:nvGrpSpPr>
          <p:cNvPr name="Group 16" id="16"/>
          <p:cNvGrpSpPr/>
          <p:nvPr/>
        </p:nvGrpSpPr>
        <p:grpSpPr>
          <a:xfrm rot="0">
            <a:off x="4467863" y="3279143"/>
            <a:ext cx="3683003" cy="2585723"/>
            <a:chOff x="0" y="0"/>
            <a:chExt cx="4910671" cy="3447631"/>
          </a:xfrm>
        </p:grpSpPr>
        <p:sp>
          <p:nvSpPr>
            <p:cNvPr name="Freeform 17" id="17"/>
            <p:cNvSpPr/>
            <p:nvPr/>
          </p:nvSpPr>
          <p:spPr>
            <a:xfrm flipH="false" flipV="false" rot="0">
              <a:off x="16891" y="16891"/>
              <a:ext cx="4876800" cy="3413760"/>
            </a:xfrm>
            <a:custGeom>
              <a:avLst/>
              <a:gdLst/>
              <a:ahLst/>
              <a:cxnLst/>
              <a:rect r="r" b="b" t="t" l="l"/>
              <a:pathLst>
                <a:path h="3413760" w="4876800">
                  <a:moveTo>
                    <a:pt x="0" y="0"/>
                  </a:moveTo>
                  <a:lnTo>
                    <a:pt x="4876800" y="0"/>
                  </a:lnTo>
                  <a:lnTo>
                    <a:pt x="4876800" y="3413760"/>
                  </a:lnTo>
                  <a:lnTo>
                    <a:pt x="0" y="3413760"/>
                  </a:lnTo>
                  <a:close/>
                </a:path>
              </a:pathLst>
            </a:custGeom>
            <a:solidFill>
              <a:srgbClr val="2563EB"/>
            </a:solidFill>
          </p:spPr>
          <p:txBody>
            <a:bodyPr/>
            <a:p/>
          </p:txBody>
        </p:sp>
        <p:sp>
          <p:nvSpPr>
            <p:cNvPr name="Freeform 18" id="18"/>
            <p:cNvSpPr/>
            <p:nvPr/>
          </p:nvSpPr>
          <p:spPr>
            <a:xfrm flipH="false" flipV="false" rot="0">
              <a:off x="0" y="0"/>
              <a:ext cx="4910582" cy="3447542"/>
            </a:xfrm>
            <a:custGeom>
              <a:avLst/>
              <a:gdLst/>
              <a:ahLst/>
              <a:cxnLst/>
              <a:rect r="r" b="b" t="t" l="l"/>
              <a:pathLst>
                <a:path h="3447542" w="4910582">
                  <a:moveTo>
                    <a:pt x="16891" y="0"/>
                  </a:moveTo>
                  <a:lnTo>
                    <a:pt x="4893691" y="0"/>
                  </a:lnTo>
                  <a:cubicBezTo>
                    <a:pt x="4903089" y="0"/>
                    <a:pt x="4910582" y="7620"/>
                    <a:pt x="4910582" y="16891"/>
                  </a:cubicBezTo>
                  <a:lnTo>
                    <a:pt x="4910582" y="3430651"/>
                  </a:lnTo>
                  <a:cubicBezTo>
                    <a:pt x="4910582" y="3440049"/>
                    <a:pt x="4902962" y="3447542"/>
                    <a:pt x="4893691" y="3447542"/>
                  </a:cubicBezTo>
                  <a:lnTo>
                    <a:pt x="16891" y="3447542"/>
                  </a:lnTo>
                  <a:cubicBezTo>
                    <a:pt x="7493" y="3447542"/>
                    <a:pt x="0" y="3439922"/>
                    <a:pt x="0" y="3430651"/>
                  </a:cubicBezTo>
                  <a:lnTo>
                    <a:pt x="0" y="16891"/>
                  </a:lnTo>
                  <a:cubicBezTo>
                    <a:pt x="0" y="7620"/>
                    <a:pt x="7620" y="0"/>
                    <a:pt x="16891" y="0"/>
                  </a:cubicBezTo>
                  <a:moveTo>
                    <a:pt x="16891" y="33909"/>
                  </a:moveTo>
                  <a:lnTo>
                    <a:pt x="16891" y="16891"/>
                  </a:lnTo>
                  <a:lnTo>
                    <a:pt x="33909" y="16891"/>
                  </a:lnTo>
                  <a:lnTo>
                    <a:pt x="33909" y="3430651"/>
                  </a:lnTo>
                  <a:lnTo>
                    <a:pt x="16891" y="3430651"/>
                  </a:lnTo>
                  <a:lnTo>
                    <a:pt x="16891" y="3413760"/>
                  </a:lnTo>
                  <a:lnTo>
                    <a:pt x="4893691" y="3413760"/>
                  </a:lnTo>
                  <a:lnTo>
                    <a:pt x="4893691" y="3430651"/>
                  </a:lnTo>
                  <a:lnTo>
                    <a:pt x="4876800" y="3430651"/>
                  </a:lnTo>
                  <a:lnTo>
                    <a:pt x="4876800" y="16891"/>
                  </a:lnTo>
                  <a:lnTo>
                    <a:pt x="4893691" y="16891"/>
                  </a:lnTo>
                  <a:lnTo>
                    <a:pt x="4893691" y="33909"/>
                  </a:lnTo>
                  <a:lnTo>
                    <a:pt x="16891" y="33909"/>
                  </a:lnTo>
                  <a:close/>
                </a:path>
              </a:pathLst>
            </a:custGeom>
            <a:solidFill>
              <a:srgbClr val="2563EB"/>
            </a:solidFill>
          </p:spPr>
          <p:txBody>
            <a:bodyPr/>
            <a:p/>
          </p:txBody>
        </p:sp>
      </p:grpSp>
      <p:grpSp>
        <p:nvGrpSpPr>
          <p:cNvPr name="Group 19" id="19"/>
          <p:cNvGrpSpPr/>
          <p:nvPr/>
        </p:nvGrpSpPr>
        <p:grpSpPr>
          <a:xfrm rot="0">
            <a:off x="4480560" y="3474720"/>
            <a:ext cx="3657600" cy="731520"/>
            <a:chOff x="0" y="0"/>
            <a:chExt cx="4876800" cy="975360"/>
          </a:xfrm>
        </p:grpSpPr>
        <p:sp>
          <p:nvSpPr>
            <p:cNvPr name="Freeform 20" id="20"/>
            <p:cNvSpPr/>
            <p:nvPr/>
          </p:nvSpPr>
          <p:spPr>
            <a:xfrm flipH="false" flipV="false" rot="0">
              <a:off x="0" y="0"/>
              <a:ext cx="4876800" cy="975360"/>
            </a:xfrm>
            <a:custGeom>
              <a:avLst/>
              <a:gdLst/>
              <a:ahLst/>
              <a:cxnLst/>
              <a:rect r="r" b="b" t="t" l="l"/>
              <a:pathLst>
                <a:path h="975360" w="4876800">
                  <a:moveTo>
                    <a:pt x="0" y="0"/>
                  </a:moveTo>
                  <a:lnTo>
                    <a:pt x="4876800" y="0"/>
                  </a:lnTo>
                  <a:lnTo>
                    <a:pt x="4876800" y="975360"/>
                  </a:lnTo>
                  <a:lnTo>
                    <a:pt x="0" y="975360"/>
                  </a:lnTo>
                  <a:close/>
                </a:path>
              </a:pathLst>
            </a:custGeom>
            <a:blipFill>
              <a:blip r:embed="rId3">
                <a:alphaModFix amt="0"/>
              </a:blip>
              <a:stretch>
                <a:fillRect l="0" t="-47425" r="0" b="-47425"/>
              </a:stretch>
            </a:blipFill>
          </p:spPr>
          <p:txBody>
            <a:bodyPr/>
            <a:p/>
          </p:txBody>
        </p:sp>
        <p:sp>
          <p:nvSpPr>
            <p:cNvPr name="TextBox 21" id="21"/>
            <p:cNvSpPr txBox="true"/>
            <p:nvPr/>
          </p:nvSpPr>
          <p:spPr>
            <a:xfrm>
              <a:off x="0" y="-47625"/>
              <a:ext cx="487680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Frontend</a:t>
              </a:r>
            </a:p>
          </p:txBody>
        </p:sp>
      </p:grpSp>
      <p:grpSp>
        <p:nvGrpSpPr>
          <p:cNvPr name="Group 22" id="22"/>
          <p:cNvGrpSpPr/>
          <p:nvPr/>
        </p:nvGrpSpPr>
        <p:grpSpPr>
          <a:xfrm rot="0">
            <a:off x="4480560" y="4206240"/>
            <a:ext cx="3657600" cy="640080"/>
            <a:chOff x="0" y="0"/>
            <a:chExt cx="4876800" cy="853440"/>
          </a:xfrm>
        </p:grpSpPr>
        <p:sp>
          <p:nvSpPr>
            <p:cNvPr name="Freeform 23" id="23"/>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txBody>
            <a:bodyPr/>
            <a:p/>
          </p:txBody>
        </p:sp>
        <p:sp>
          <p:nvSpPr>
            <p:cNvPr name="TextBox 24" id="24"/>
            <p:cNvSpPr txBox="true"/>
            <p:nvPr/>
          </p:nvSpPr>
          <p:spPr>
            <a:xfrm>
              <a:off x="0" y="-47625"/>
              <a:ext cx="4876800" cy="901065"/>
            </a:xfrm>
            <a:prstGeom prst="rect">
              <a:avLst/>
            </a:prstGeom>
          </p:spPr>
          <p:txBody>
            <a:bodyPr anchor="ctr" rtlCol="false" tIns="0" lIns="0" bIns="0" rIns="0"/>
            <a:lstStyle/>
            <a:p>
              <a:pPr algn="ctr">
                <a:lnSpc>
                  <a:spcPts val="2640"/>
                </a:lnSpc>
              </a:pPr>
              <a:r>
                <a:rPr lang="en-US" sz="2200">
                  <a:solidFill>
                    <a:srgbClr val="CFFAFE"/>
                  </a:solidFill>
                  <a:latin typeface="Calibri (MS)"/>
                  <a:ea typeface="Calibri (MS)"/>
                  <a:cs typeface="Calibri (MS)"/>
                  <a:sym typeface="Calibri (MS)"/>
                </a:rPr>
                <a:t>Next.js 15</a:t>
              </a:r>
            </a:p>
          </p:txBody>
        </p:sp>
      </p:grpSp>
      <p:grpSp>
        <p:nvGrpSpPr>
          <p:cNvPr name="Group 25" id="25"/>
          <p:cNvGrpSpPr/>
          <p:nvPr/>
        </p:nvGrpSpPr>
        <p:grpSpPr>
          <a:xfrm rot="0">
            <a:off x="4480560" y="4846320"/>
            <a:ext cx="3657600" cy="548640"/>
            <a:chOff x="0" y="0"/>
            <a:chExt cx="4876800" cy="731520"/>
          </a:xfrm>
        </p:grpSpPr>
        <p:sp>
          <p:nvSpPr>
            <p:cNvPr name="Freeform 26" id="26"/>
            <p:cNvSpPr/>
            <p:nvPr/>
          </p:nvSpPr>
          <p:spPr>
            <a:xfrm flipH="false" flipV="false" rot="0">
              <a:off x="0" y="0"/>
              <a:ext cx="4876800" cy="731520"/>
            </a:xfrm>
            <a:custGeom>
              <a:avLst/>
              <a:gdLst/>
              <a:ahLst/>
              <a:cxnLst/>
              <a:rect r="r" b="b" t="t" l="l"/>
              <a:pathLst>
                <a:path h="731520" w="4876800">
                  <a:moveTo>
                    <a:pt x="0" y="0"/>
                  </a:moveTo>
                  <a:lnTo>
                    <a:pt x="4876800" y="0"/>
                  </a:lnTo>
                  <a:lnTo>
                    <a:pt x="4876800" y="731520"/>
                  </a:lnTo>
                  <a:lnTo>
                    <a:pt x="0" y="731520"/>
                  </a:lnTo>
                  <a:close/>
                </a:path>
              </a:pathLst>
            </a:custGeom>
            <a:blipFill>
              <a:blip r:embed="rId3">
                <a:alphaModFix amt="0"/>
              </a:blip>
              <a:stretch>
                <a:fillRect l="0" t="-79900" r="0" b="-79900"/>
              </a:stretch>
            </a:blipFill>
          </p:spPr>
          <p:txBody>
            <a:bodyPr/>
            <a:p/>
          </p:txBody>
        </p:sp>
        <p:sp>
          <p:nvSpPr>
            <p:cNvPr name="TextBox 27" id="27"/>
            <p:cNvSpPr txBox="true"/>
            <p:nvPr/>
          </p:nvSpPr>
          <p:spPr>
            <a:xfrm>
              <a:off x="0" y="-38100"/>
              <a:ext cx="4876800" cy="769620"/>
            </a:xfrm>
            <a:prstGeom prst="rect">
              <a:avLst/>
            </a:prstGeom>
          </p:spPr>
          <p:txBody>
            <a:bodyPr anchor="ctr" rtlCol="false" tIns="0" lIns="0" bIns="0" rIns="0"/>
            <a:lstStyle/>
            <a:p>
              <a:pPr algn="ctr">
                <a:lnSpc>
                  <a:spcPts val="2160"/>
                </a:lnSpc>
              </a:pPr>
              <a:r>
                <a:rPr lang="en-US" sz="1800">
                  <a:solidFill>
                    <a:srgbClr val="CFFAFE"/>
                  </a:solidFill>
                  <a:latin typeface="Calibri (MS)"/>
                  <a:ea typeface="Calibri (MS)"/>
                  <a:cs typeface="Calibri (MS)"/>
                  <a:sym typeface="Calibri (MS)"/>
                </a:rPr>
                <a:t>TypeScript · Tailwind</a:t>
              </a:r>
            </a:p>
          </p:txBody>
        </p:sp>
      </p:grpSp>
      <p:grpSp>
        <p:nvGrpSpPr>
          <p:cNvPr name="Group 28" id="28"/>
          <p:cNvGrpSpPr/>
          <p:nvPr/>
        </p:nvGrpSpPr>
        <p:grpSpPr>
          <a:xfrm rot="0">
            <a:off x="8321040" y="4389120"/>
            <a:ext cx="548640" cy="548640"/>
            <a:chOff x="0" y="0"/>
            <a:chExt cx="731520" cy="731520"/>
          </a:xfrm>
        </p:grpSpPr>
        <p:sp>
          <p:nvSpPr>
            <p:cNvPr name="Freeform 29" id="29"/>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txBody>
            <a:bodyPr/>
            <a:p/>
          </p:txBody>
        </p:sp>
        <p:sp>
          <p:nvSpPr>
            <p:cNvPr name="TextBox 30" id="30"/>
            <p:cNvSpPr txBox="true"/>
            <p:nvPr/>
          </p:nvSpPr>
          <p:spPr>
            <a:xfrm>
              <a:off x="0" y="-57150"/>
              <a:ext cx="731520" cy="788670"/>
            </a:xfrm>
            <a:prstGeom prst="rect">
              <a:avLst/>
            </a:prstGeom>
          </p:spPr>
          <p:txBody>
            <a:bodyPr anchor="ctr" rtlCol="false" tIns="0" lIns="0" bIns="0" rIns="0"/>
            <a:lstStyle/>
            <a:p>
              <a:pPr algn="l">
                <a:lnSpc>
                  <a:spcPts val="3840"/>
                </a:lnSpc>
              </a:pPr>
              <a:r>
                <a:rPr lang="en-US" sz="3200">
                  <a:solidFill>
                    <a:srgbClr val="2563EB"/>
                  </a:solidFill>
                  <a:latin typeface="Calibri (MS)"/>
                  <a:ea typeface="Calibri (MS)"/>
                  <a:cs typeface="Calibri (MS)"/>
                  <a:sym typeface="Calibri (MS)"/>
                </a:rPr>
                <a:t>▶</a:t>
              </a:r>
            </a:p>
          </p:txBody>
        </p:sp>
      </p:grpSp>
      <p:grpSp>
        <p:nvGrpSpPr>
          <p:cNvPr name="Group 31" id="31"/>
          <p:cNvGrpSpPr/>
          <p:nvPr/>
        </p:nvGrpSpPr>
        <p:grpSpPr>
          <a:xfrm rot="0">
            <a:off x="9131303" y="3279143"/>
            <a:ext cx="3683003" cy="2585723"/>
            <a:chOff x="0" y="0"/>
            <a:chExt cx="4910671" cy="3447631"/>
          </a:xfrm>
        </p:grpSpPr>
        <p:sp>
          <p:nvSpPr>
            <p:cNvPr name="Freeform 32" id="32"/>
            <p:cNvSpPr/>
            <p:nvPr/>
          </p:nvSpPr>
          <p:spPr>
            <a:xfrm flipH="false" flipV="false" rot="0">
              <a:off x="16891" y="16891"/>
              <a:ext cx="4876800" cy="3413760"/>
            </a:xfrm>
            <a:custGeom>
              <a:avLst/>
              <a:gdLst/>
              <a:ahLst/>
              <a:cxnLst/>
              <a:rect r="r" b="b" t="t" l="l"/>
              <a:pathLst>
                <a:path h="3413760" w="4876800">
                  <a:moveTo>
                    <a:pt x="0" y="0"/>
                  </a:moveTo>
                  <a:lnTo>
                    <a:pt x="4876800" y="0"/>
                  </a:lnTo>
                  <a:lnTo>
                    <a:pt x="4876800" y="3413760"/>
                  </a:lnTo>
                  <a:lnTo>
                    <a:pt x="0" y="3413760"/>
                  </a:lnTo>
                  <a:close/>
                </a:path>
              </a:pathLst>
            </a:custGeom>
            <a:solidFill>
              <a:srgbClr val="0D1B2A"/>
            </a:solidFill>
          </p:spPr>
          <p:txBody>
            <a:bodyPr/>
            <a:p/>
          </p:txBody>
        </p:sp>
        <p:sp>
          <p:nvSpPr>
            <p:cNvPr name="Freeform 33" id="33"/>
            <p:cNvSpPr/>
            <p:nvPr/>
          </p:nvSpPr>
          <p:spPr>
            <a:xfrm flipH="false" flipV="false" rot="0">
              <a:off x="0" y="0"/>
              <a:ext cx="4910582" cy="3447542"/>
            </a:xfrm>
            <a:custGeom>
              <a:avLst/>
              <a:gdLst/>
              <a:ahLst/>
              <a:cxnLst/>
              <a:rect r="r" b="b" t="t" l="l"/>
              <a:pathLst>
                <a:path h="3447542" w="4910582">
                  <a:moveTo>
                    <a:pt x="16891" y="0"/>
                  </a:moveTo>
                  <a:lnTo>
                    <a:pt x="4893691" y="0"/>
                  </a:lnTo>
                  <a:cubicBezTo>
                    <a:pt x="4903089" y="0"/>
                    <a:pt x="4910582" y="7620"/>
                    <a:pt x="4910582" y="16891"/>
                  </a:cubicBezTo>
                  <a:lnTo>
                    <a:pt x="4910582" y="3430651"/>
                  </a:lnTo>
                  <a:cubicBezTo>
                    <a:pt x="4910582" y="3440049"/>
                    <a:pt x="4902962" y="3447542"/>
                    <a:pt x="4893691" y="3447542"/>
                  </a:cubicBezTo>
                  <a:lnTo>
                    <a:pt x="16891" y="3447542"/>
                  </a:lnTo>
                  <a:cubicBezTo>
                    <a:pt x="7493" y="3447542"/>
                    <a:pt x="0" y="3439922"/>
                    <a:pt x="0" y="3430651"/>
                  </a:cubicBezTo>
                  <a:lnTo>
                    <a:pt x="0" y="16891"/>
                  </a:lnTo>
                  <a:cubicBezTo>
                    <a:pt x="0" y="7620"/>
                    <a:pt x="7620" y="0"/>
                    <a:pt x="16891" y="0"/>
                  </a:cubicBezTo>
                  <a:moveTo>
                    <a:pt x="16891" y="33909"/>
                  </a:moveTo>
                  <a:lnTo>
                    <a:pt x="16891" y="16891"/>
                  </a:lnTo>
                  <a:lnTo>
                    <a:pt x="33909" y="16891"/>
                  </a:lnTo>
                  <a:lnTo>
                    <a:pt x="33909" y="3430651"/>
                  </a:lnTo>
                  <a:lnTo>
                    <a:pt x="16891" y="3430651"/>
                  </a:lnTo>
                  <a:lnTo>
                    <a:pt x="16891" y="3413760"/>
                  </a:lnTo>
                  <a:lnTo>
                    <a:pt x="4893691" y="3413760"/>
                  </a:lnTo>
                  <a:lnTo>
                    <a:pt x="4893691" y="3430651"/>
                  </a:lnTo>
                  <a:lnTo>
                    <a:pt x="4876800" y="3430651"/>
                  </a:lnTo>
                  <a:lnTo>
                    <a:pt x="4876800" y="16891"/>
                  </a:lnTo>
                  <a:lnTo>
                    <a:pt x="4893691" y="16891"/>
                  </a:lnTo>
                  <a:lnTo>
                    <a:pt x="4893691" y="33909"/>
                  </a:lnTo>
                  <a:lnTo>
                    <a:pt x="16891" y="33909"/>
                  </a:lnTo>
                  <a:close/>
                </a:path>
              </a:pathLst>
            </a:custGeom>
            <a:solidFill>
              <a:srgbClr val="0D1B2A"/>
            </a:solidFill>
          </p:spPr>
          <p:txBody>
            <a:bodyPr/>
            <a:p/>
          </p:txBody>
        </p:sp>
      </p:grpSp>
      <p:grpSp>
        <p:nvGrpSpPr>
          <p:cNvPr name="Group 34" id="34"/>
          <p:cNvGrpSpPr/>
          <p:nvPr/>
        </p:nvGrpSpPr>
        <p:grpSpPr>
          <a:xfrm rot="0">
            <a:off x="9144000" y="3474720"/>
            <a:ext cx="3657600" cy="731520"/>
            <a:chOff x="0" y="0"/>
            <a:chExt cx="4876800" cy="975360"/>
          </a:xfrm>
        </p:grpSpPr>
        <p:sp>
          <p:nvSpPr>
            <p:cNvPr name="Freeform 35" id="35"/>
            <p:cNvSpPr/>
            <p:nvPr/>
          </p:nvSpPr>
          <p:spPr>
            <a:xfrm flipH="false" flipV="false" rot="0">
              <a:off x="0" y="0"/>
              <a:ext cx="4876800" cy="975360"/>
            </a:xfrm>
            <a:custGeom>
              <a:avLst/>
              <a:gdLst/>
              <a:ahLst/>
              <a:cxnLst/>
              <a:rect r="r" b="b" t="t" l="l"/>
              <a:pathLst>
                <a:path h="975360" w="4876800">
                  <a:moveTo>
                    <a:pt x="0" y="0"/>
                  </a:moveTo>
                  <a:lnTo>
                    <a:pt x="4876800" y="0"/>
                  </a:lnTo>
                  <a:lnTo>
                    <a:pt x="4876800" y="975360"/>
                  </a:lnTo>
                  <a:lnTo>
                    <a:pt x="0" y="975360"/>
                  </a:lnTo>
                  <a:close/>
                </a:path>
              </a:pathLst>
            </a:custGeom>
            <a:blipFill>
              <a:blip r:embed="rId3">
                <a:alphaModFix amt="0"/>
              </a:blip>
              <a:stretch>
                <a:fillRect l="0" t="-47425" r="0" b="-47425"/>
              </a:stretch>
            </a:blipFill>
          </p:spPr>
          <p:txBody>
            <a:bodyPr/>
            <a:p/>
          </p:txBody>
        </p:sp>
        <p:sp>
          <p:nvSpPr>
            <p:cNvPr name="TextBox 36" id="36"/>
            <p:cNvSpPr txBox="true"/>
            <p:nvPr/>
          </p:nvSpPr>
          <p:spPr>
            <a:xfrm>
              <a:off x="0" y="-47625"/>
              <a:ext cx="4876800" cy="102298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Backend</a:t>
              </a:r>
            </a:p>
          </p:txBody>
        </p:sp>
      </p:grpSp>
      <p:grpSp>
        <p:nvGrpSpPr>
          <p:cNvPr name="Group 37" id="37"/>
          <p:cNvGrpSpPr/>
          <p:nvPr/>
        </p:nvGrpSpPr>
        <p:grpSpPr>
          <a:xfrm rot="0">
            <a:off x="9144000" y="4206240"/>
            <a:ext cx="3657600" cy="640080"/>
            <a:chOff x="0" y="0"/>
            <a:chExt cx="4876800" cy="853440"/>
          </a:xfrm>
        </p:grpSpPr>
        <p:sp>
          <p:nvSpPr>
            <p:cNvPr name="Freeform 38" id="38"/>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txBody>
            <a:bodyPr/>
            <a:p/>
          </p:txBody>
        </p:sp>
        <p:sp>
          <p:nvSpPr>
            <p:cNvPr name="TextBox 39" id="39"/>
            <p:cNvSpPr txBox="true"/>
            <p:nvPr/>
          </p:nvSpPr>
          <p:spPr>
            <a:xfrm>
              <a:off x="0" y="-47625"/>
              <a:ext cx="4876800" cy="901065"/>
            </a:xfrm>
            <a:prstGeom prst="rect">
              <a:avLst/>
            </a:prstGeom>
          </p:spPr>
          <p:txBody>
            <a:bodyPr anchor="ctr" rtlCol="false" tIns="0" lIns="0" bIns="0" rIns="0"/>
            <a:lstStyle/>
            <a:p>
              <a:pPr algn="ctr">
                <a:lnSpc>
                  <a:spcPts val="2640"/>
                </a:lnSpc>
              </a:pPr>
              <a:r>
                <a:rPr lang="en-US" sz="2200">
                  <a:solidFill>
                    <a:srgbClr val="CFFAFE"/>
                  </a:solidFill>
                  <a:latin typeface="Calibri (MS)"/>
                  <a:ea typeface="Calibri (MS)"/>
                  <a:cs typeface="Calibri (MS)"/>
                  <a:sym typeface="Calibri (MS)"/>
                </a:rPr>
                <a:t>FastAPI</a:t>
              </a:r>
            </a:p>
          </p:txBody>
        </p:sp>
      </p:grpSp>
      <p:grpSp>
        <p:nvGrpSpPr>
          <p:cNvPr name="Group 40" id="40"/>
          <p:cNvGrpSpPr/>
          <p:nvPr/>
        </p:nvGrpSpPr>
        <p:grpSpPr>
          <a:xfrm rot="0">
            <a:off x="9144000" y="4846320"/>
            <a:ext cx="3657600" cy="548640"/>
            <a:chOff x="0" y="0"/>
            <a:chExt cx="4876800" cy="731520"/>
          </a:xfrm>
        </p:grpSpPr>
        <p:sp>
          <p:nvSpPr>
            <p:cNvPr name="Freeform 41" id="41"/>
            <p:cNvSpPr/>
            <p:nvPr/>
          </p:nvSpPr>
          <p:spPr>
            <a:xfrm flipH="false" flipV="false" rot="0">
              <a:off x="0" y="0"/>
              <a:ext cx="4876800" cy="731520"/>
            </a:xfrm>
            <a:custGeom>
              <a:avLst/>
              <a:gdLst/>
              <a:ahLst/>
              <a:cxnLst/>
              <a:rect r="r" b="b" t="t" l="l"/>
              <a:pathLst>
                <a:path h="731520" w="4876800">
                  <a:moveTo>
                    <a:pt x="0" y="0"/>
                  </a:moveTo>
                  <a:lnTo>
                    <a:pt x="4876800" y="0"/>
                  </a:lnTo>
                  <a:lnTo>
                    <a:pt x="4876800" y="731520"/>
                  </a:lnTo>
                  <a:lnTo>
                    <a:pt x="0" y="731520"/>
                  </a:lnTo>
                  <a:close/>
                </a:path>
              </a:pathLst>
            </a:custGeom>
            <a:blipFill>
              <a:blip r:embed="rId3">
                <a:alphaModFix amt="0"/>
              </a:blip>
              <a:stretch>
                <a:fillRect l="0" t="-79900" r="0" b="-79900"/>
              </a:stretch>
            </a:blipFill>
          </p:spPr>
          <p:txBody>
            <a:bodyPr/>
            <a:p/>
          </p:txBody>
        </p:sp>
        <p:sp>
          <p:nvSpPr>
            <p:cNvPr name="TextBox 42" id="42"/>
            <p:cNvSpPr txBox="true"/>
            <p:nvPr/>
          </p:nvSpPr>
          <p:spPr>
            <a:xfrm>
              <a:off x="0" y="-38100"/>
              <a:ext cx="4876800" cy="769620"/>
            </a:xfrm>
            <a:prstGeom prst="rect">
              <a:avLst/>
            </a:prstGeom>
          </p:spPr>
          <p:txBody>
            <a:bodyPr anchor="ctr" rtlCol="false" tIns="0" lIns="0" bIns="0" rIns="0"/>
            <a:lstStyle/>
            <a:p>
              <a:pPr algn="ctr">
                <a:lnSpc>
                  <a:spcPts val="2160"/>
                </a:lnSpc>
              </a:pPr>
              <a:r>
                <a:t>Python 3.12</a:t>
              </a:r>
            </a:p>
          </p:txBody>
        </p:sp>
      </p:grpSp>
      <p:grpSp>
        <p:nvGrpSpPr>
          <p:cNvPr name="Group 43" id="43"/>
          <p:cNvGrpSpPr/>
          <p:nvPr/>
        </p:nvGrpSpPr>
        <p:grpSpPr>
          <a:xfrm rot="0">
            <a:off x="12984480" y="4389120"/>
            <a:ext cx="548640" cy="548640"/>
            <a:chOff x="0" y="0"/>
            <a:chExt cx="731520" cy="731520"/>
          </a:xfrm>
        </p:grpSpPr>
        <p:sp>
          <p:nvSpPr>
            <p:cNvPr name="Freeform 44" id="44"/>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txBody>
            <a:bodyPr/>
            <a:p/>
          </p:txBody>
        </p:sp>
        <p:sp>
          <p:nvSpPr>
            <p:cNvPr name="TextBox 45" id="45"/>
            <p:cNvSpPr txBox="true"/>
            <p:nvPr/>
          </p:nvSpPr>
          <p:spPr>
            <a:xfrm>
              <a:off x="0" y="-57150"/>
              <a:ext cx="731520" cy="788670"/>
            </a:xfrm>
            <a:prstGeom prst="rect">
              <a:avLst/>
            </a:prstGeom>
          </p:spPr>
          <p:txBody>
            <a:bodyPr anchor="ctr" rtlCol="false" tIns="0" lIns="0" bIns="0" rIns="0"/>
            <a:lstStyle/>
            <a:p>
              <a:pPr algn="l">
                <a:lnSpc>
                  <a:spcPts val="3840"/>
                </a:lnSpc>
              </a:pPr>
              <a:r>
                <a:rPr lang="en-US" sz="3200">
                  <a:solidFill>
                    <a:srgbClr val="06B6D4"/>
                  </a:solidFill>
                  <a:latin typeface="Calibri (MS)"/>
                  <a:ea typeface="Calibri (MS)"/>
                  <a:cs typeface="Calibri (MS)"/>
                  <a:sym typeface="Calibri (MS)"/>
                </a:rPr>
                <a:t>▶</a:t>
              </a:r>
            </a:p>
          </p:txBody>
        </p:sp>
      </p:grpSp>
      <p:grpSp>
        <p:nvGrpSpPr>
          <p:cNvPr name="Group 46" id="46"/>
          <p:cNvGrpSpPr/>
          <p:nvPr/>
        </p:nvGrpSpPr>
        <p:grpSpPr>
          <a:xfrm rot="0">
            <a:off x="13794743" y="3553463"/>
            <a:ext cx="3774443" cy="2037083"/>
            <a:chOff x="0" y="0"/>
            <a:chExt cx="5032591" cy="2716111"/>
          </a:xfrm>
        </p:grpSpPr>
        <p:sp>
          <p:nvSpPr>
            <p:cNvPr name="Freeform 47" id="47"/>
            <p:cNvSpPr/>
            <p:nvPr/>
          </p:nvSpPr>
          <p:spPr>
            <a:xfrm flipH="false" flipV="false" rot="0">
              <a:off x="16891" y="16891"/>
              <a:ext cx="4998720" cy="2682240"/>
            </a:xfrm>
            <a:custGeom>
              <a:avLst/>
              <a:gdLst/>
              <a:ahLst/>
              <a:cxnLst/>
              <a:rect r="r" b="b" t="t" l="l"/>
              <a:pathLst>
                <a:path h="2682240" w="4998720">
                  <a:moveTo>
                    <a:pt x="0" y="0"/>
                  </a:moveTo>
                  <a:lnTo>
                    <a:pt x="4998720" y="0"/>
                  </a:lnTo>
                  <a:lnTo>
                    <a:pt x="4998720" y="2682240"/>
                  </a:lnTo>
                  <a:lnTo>
                    <a:pt x="0" y="2682240"/>
                  </a:lnTo>
                  <a:close/>
                </a:path>
              </a:pathLst>
            </a:custGeom>
            <a:solidFill>
              <a:srgbClr val="6D28D9"/>
            </a:solidFill>
          </p:spPr>
          <p:txBody>
            <a:bodyPr/>
            <a:p/>
          </p:txBody>
        </p:sp>
        <p:sp>
          <p:nvSpPr>
            <p:cNvPr name="Freeform 48" id="48"/>
            <p:cNvSpPr/>
            <p:nvPr/>
          </p:nvSpPr>
          <p:spPr>
            <a:xfrm flipH="false" flipV="false" rot="0">
              <a:off x="0" y="0"/>
              <a:ext cx="5032502" cy="2716022"/>
            </a:xfrm>
            <a:custGeom>
              <a:avLst/>
              <a:gdLst/>
              <a:ahLst/>
              <a:cxnLst/>
              <a:rect r="r" b="b" t="t" l="l"/>
              <a:pathLst>
                <a:path h="2716022" w="5032502">
                  <a:moveTo>
                    <a:pt x="16891" y="0"/>
                  </a:moveTo>
                  <a:lnTo>
                    <a:pt x="5015611" y="0"/>
                  </a:lnTo>
                  <a:cubicBezTo>
                    <a:pt x="5025009" y="0"/>
                    <a:pt x="5032502" y="7620"/>
                    <a:pt x="5032502" y="16891"/>
                  </a:cubicBezTo>
                  <a:lnTo>
                    <a:pt x="5032502" y="2699131"/>
                  </a:lnTo>
                  <a:cubicBezTo>
                    <a:pt x="5032502" y="2708529"/>
                    <a:pt x="5024882" y="2716022"/>
                    <a:pt x="501561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5015611" y="2682240"/>
                  </a:lnTo>
                  <a:lnTo>
                    <a:pt x="5015611" y="2699131"/>
                  </a:lnTo>
                  <a:lnTo>
                    <a:pt x="4998720" y="2699131"/>
                  </a:lnTo>
                  <a:lnTo>
                    <a:pt x="4998720" y="16891"/>
                  </a:lnTo>
                  <a:lnTo>
                    <a:pt x="5015611" y="16891"/>
                  </a:lnTo>
                  <a:lnTo>
                    <a:pt x="5015611" y="33909"/>
                  </a:lnTo>
                  <a:lnTo>
                    <a:pt x="16891" y="33909"/>
                  </a:lnTo>
                  <a:close/>
                </a:path>
              </a:pathLst>
            </a:custGeom>
            <a:solidFill>
              <a:srgbClr val="6D28D9"/>
            </a:solidFill>
          </p:spPr>
          <p:txBody>
            <a:bodyPr/>
            <a:p/>
          </p:txBody>
        </p:sp>
      </p:grpSp>
      <p:grpSp>
        <p:nvGrpSpPr>
          <p:cNvPr name="Group 49" id="49"/>
          <p:cNvGrpSpPr/>
          <p:nvPr/>
        </p:nvGrpSpPr>
        <p:grpSpPr>
          <a:xfrm rot="0">
            <a:off x="13807440" y="3749040"/>
            <a:ext cx="3749040" cy="640080"/>
            <a:chOff x="0" y="0"/>
            <a:chExt cx="4998720" cy="853440"/>
          </a:xfrm>
        </p:grpSpPr>
        <p:sp>
          <p:nvSpPr>
            <p:cNvPr name="Freeform 50" id="50"/>
            <p:cNvSpPr/>
            <p:nvPr/>
          </p:nvSpPr>
          <p:spPr>
            <a:xfrm flipH="false" flipV="false" rot="0">
              <a:off x="0" y="0"/>
              <a:ext cx="4998720" cy="853440"/>
            </a:xfrm>
            <a:custGeom>
              <a:avLst/>
              <a:gdLst/>
              <a:ahLst/>
              <a:cxnLst/>
              <a:rect r="r" b="b" t="t" l="l"/>
              <a:pathLst>
                <a:path h="853440" w="4998720">
                  <a:moveTo>
                    <a:pt x="0" y="0"/>
                  </a:moveTo>
                  <a:lnTo>
                    <a:pt x="4998720" y="0"/>
                  </a:lnTo>
                  <a:lnTo>
                    <a:pt x="4998720" y="853440"/>
                  </a:lnTo>
                  <a:lnTo>
                    <a:pt x="0" y="853440"/>
                  </a:lnTo>
                  <a:close/>
                </a:path>
              </a:pathLst>
            </a:custGeom>
            <a:blipFill>
              <a:blip r:embed="rId3">
                <a:alphaModFix amt="0"/>
              </a:blip>
              <a:stretch>
                <a:fillRect l="0" t="-64126" r="0" b="-64126"/>
              </a:stretch>
            </a:blipFill>
          </p:spPr>
          <p:txBody>
            <a:bodyPr/>
            <a:p/>
          </p:txBody>
        </p:sp>
        <p:sp>
          <p:nvSpPr>
            <p:cNvPr name="TextBox 51" id="51"/>
            <p:cNvSpPr txBox="true"/>
            <p:nvPr/>
          </p:nvSpPr>
          <p:spPr>
            <a:xfrm>
              <a:off x="0" y="-57150"/>
              <a:ext cx="4998720" cy="91059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Groq Cloud</a:t>
              </a:r>
            </a:p>
          </p:txBody>
        </p:sp>
      </p:grpSp>
      <p:grpSp>
        <p:nvGrpSpPr>
          <p:cNvPr name="Group 52" id="52"/>
          <p:cNvGrpSpPr/>
          <p:nvPr/>
        </p:nvGrpSpPr>
        <p:grpSpPr>
          <a:xfrm rot="0">
            <a:off x="13807440" y="4480560"/>
            <a:ext cx="3749040" cy="640080"/>
            <a:chOff x="0" y="0"/>
            <a:chExt cx="4998720" cy="853440"/>
          </a:xfrm>
        </p:grpSpPr>
        <p:sp>
          <p:nvSpPr>
            <p:cNvPr name="Freeform 53" id="53"/>
            <p:cNvSpPr/>
            <p:nvPr/>
          </p:nvSpPr>
          <p:spPr>
            <a:xfrm flipH="false" flipV="false" rot="0">
              <a:off x="0" y="0"/>
              <a:ext cx="4998720" cy="853440"/>
            </a:xfrm>
            <a:custGeom>
              <a:avLst/>
              <a:gdLst/>
              <a:ahLst/>
              <a:cxnLst/>
              <a:rect r="r" b="b" t="t" l="l"/>
              <a:pathLst>
                <a:path h="853440" w="4998720">
                  <a:moveTo>
                    <a:pt x="0" y="0"/>
                  </a:moveTo>
                  <a:lnTo>
                    <a:pt x="4998720" y="0"/>
                  </a:lnTo>
                  <a:lnTo>
                    <a:pt x="4998720" y="853440"/>
                  </a:lnTo>
                  <a:lnTo>
                    <a:pt x="0" y="853440"/>
                  </a:lnTo>
                  <a:close/>
                </a:path>
              </a:pathLst>
            </a:custGeom>
            <a:blipFill>
              <a:blip r:embed="rId3">
                <a:alphaModFix amt="0"/>
              </a:blip>
              <a:stretch>
                <a:fillRect l="0" t="-64126" r="0" b="-64126"/>
              </a:stretch>
            </a:blipFill>
          </p:spPr>
          <p:txBody>
            <a:bodyPr/>
            <a:p/>
          </p:txBody>
        </p:sp>
        <p:sp>
          <p:nvSpPr>
            <p:cNvPr name="TextBox 54" id="54"/>
            <p:cNvSpPr txBox="true"/>
            <p:nvPr/>
          </p:nvSpPr>
          <p:spPr>
            <a:xfrm>
              <a:off x="0" y="-47625"/>
              <a:ext cx="4998720" cy="901065"/>
            </a:xfrm>
            <a:prstGeom prst="rect">
              <a:avLst/>
            </a:prstGeom>
          </p:spPr>
          <p:txBody>
            <a:bodyPr anchor="ctr" rtlCol="false" tIns="0" lIns="0" bIns="0" rIns="0"/>
            <a:lstStyle/>
            <a:p>
              <a:pPr algn="ctr">
                <a:lnSpc>
                  <a:spcPts val="2640"/>
                </a:lnSpc>
              </a:pPr>
              <a:r>
                <a:rPr lang="en-US" sz="2200">
                  <a:solidFill>
                    <a:srgbClr val="CFFAFE"/>
                  </a:solidFill>
                  <a:latin typeface="Calibri (MS)"/>
                  <a:ea typeface="Calibri (MS)"/>
                  <a:cs typeface="Calibri (MS)"/>
                  <a:sym typeface="Calibri (MS)"/>
                </a:rPr>
                <a:t>LLaMA 3.3-70B</a:t>
              </a:r>
            </a:p>
          </p:txBody>
        </p:sp>
      </p:grpSp>
      <p:grpSp>
        <p:nvGrpSpPr>
          <p:cNvPr name="Group 55" id="55"/>
          <p:cNvGrpSpPr/>
          <p:nvPr/>
        </p:nvGrpSpPr>
        <p:grpSpPr>
          <a:xfrm rot="0">
            <a:off x="6876288" y="5943600"/>
            <a:ext cx="73152" cy="1097280"/>
            <a:chOff x="0" y="0"/>
            <a:chExt cx="97536" cy="1463040"/>
          </a:xfrm>
        </p:grpSpPr>
        <p:sp>
          <p:nvSpPr>
            <p:cNvPr name="Freeform 56" id="56"/>
            <p:cNvSpPr/>
            <p:nvPr/>
          </p:nvSpPr>
          <p:spPr>
            <a:xfrm flipH="false" flipV="false" rot="0">
              <a:off x="0" y="0"/>
              <a:ext cx="97536" cy="1463040"/>
            </a:xfrm>
            <a:custGeom>
              <a:avLst/>
              <a:gdLst/>
              <a:ahLst/>
              <a:cxnLst/>
              <a:rect r="r" b="b" t="t" l="l"/>
              <a:pathLst>
                <a:path h="1463040" w="97536">
                  <a:moveTo>
                    <a:pt x="0" y="0"/>
                  </a:moveTo>
                  <a:lnTo>
                    <a:pt x="97536" y="0"/>
                  </a:lnTo>
                  <a:lnTo>
                    <a:pt x="97536" y="1463040"/>
                  </a:lnTo>
                  <a:lnTo>
                    <a:pt x="0" y="1463040"/>
                  </a:lnTo>
                  <a:close/>
                </a:path>
              </a:pathLst>
            </a:custGeom>
            <a:solidFill>
              <a:srgbClr val="64748B"/>
            </a:solidFill>
          </p:spPr>
          <p:txBody>
            <a:bodyPr/>
            <a:p/>
          </p:txBody>
        </p:sp>
      </p:grpSp>
      <p:grpSp>
        <p:nvGrpSpPr>
          <p:cNvPr name="Group 57" id="57"/>
          <p:cNvGrpSpPr/>
          <p:nvPr/>
        </p:nvGrpSpPr>
        <p:grpSpPr>
          <a:xfrm rot="0">
            <a:off x="6693408" y="6912864"/>
            <a:ext cx="475488" cy="365760"/>
            <a:chOff x="0" y="0"/>
            <a:chExt cx="633984" cy="487680"/>
          </a:xfrm>
        </p:grpSpPr>
        <p:sp>
          <p:nvSpPr>
            <p:cNvPr name="Freeform 58" id="58"/>
            <p:cNvSpPr/>
            <p:nvPr/>
          </p:nvSpPr>
          <p:spPr>
            <a:xfrm flipH="false" flipV="false" rot="0">
              <a:off x="0" y="0"/>
              <a:ext cx="633984" cy="487680"/>
            </a:xfrm>
            <a:custGeom>
              <a:avLst/>
              <a:gdLst/>
              <a:ahLst/>
              <a:cxnLst/>
              <a:rect r="r" b="b" t="t" l="l"/>
              <a:pathLst>
                <a:path h="487680" w="633984">
                  <a:moveTo>
                    <a:pt x="0" y="0"/>
                  </a:moveTo>
                  <a:lnTo>
                    <a:pt x="633984" y="0"/>
                  </a:lnTo>
                  <a:lnTo>
                    <a:pt x="633984" y="487680"/>
                  </a:lnTo>
                  <a:lnTo>
                    <a:pt x="0" y="487680"/>
                  </a:lnTo>
                  <a:close/>
                </a:path>
              </a:pathLst>
            </a:custGeom>
            <a:blipFill>
              <a:blip r:embed="rId3">
                <a:alphaModFix amt="0"/>
              </a:blip>
              <a:stretch>
                <a:fillRect l="-48695" t="0" r="-48695" b="0"/>
              </a:stretch>
            </a:blipFill>
          </p:spPr>
          <p:txBody>
            <a:bodyPr/>
            <a:p/>
          </p:txBody>
        </p:sp>
        <p:sp>
          <p:nvSpPr>
            <p:cNvPr name="TextBox 59" id="59"/>
            <p:cNvSpPr txBox="true"/>
            <p:nvPr/>
          </p:nvSpPr>
          <p:spPr>
            <a:xfrm>
              <a:off x="0" y="-38100"/>
              <a:ext cx="633984" cy="525780"/>
            </a:xfrm>
            <a:prstGeom prst="rect">
              <a:avLst/>
            </a:prstGeom>
          </p:spPr>
          <p:txBody>
            <a:bodyPr anchor="ctr" rtlCol="false" tIns="0" lIns="0" bIns="0" rIns="0"/>
            <a:lstStyle/>
            <a:p>
              <a:pPr algn="l">
                <a:lnSpc>
                  <a:spcPts val="2879"/>
                </a:lnSpc>
              </a:pPr>
              <a:r>
                <a:rPr lang="en-US" sz="2400">
                  <a:solidFill>
                    <a:srgbClr val="64748B"/>
                  </a:solidFill>
                  <a:latin typeface="Calibri (MS)"/>
                  <a:ea typeface="Calibri (MS)"/>
                  <a:cs typeface="Calibri (MS)"/>
                  <a:sym typeface="Calibri (MS)"/>
                </a:rPr>
                <a:t>▼</a:t>
              </a:r>
            </a:p>
          </p:txBody>
        </p:sp>
      </p:grpSp>
      <p:grpSp>
        <p:nvGrpSpPr>
          <p:cNvPr name="Group 60" id="60"/>
          <p:cNvGrpSpPr/>
          <p:nvPr/>
        </p:nvGrpSpPr>
        <p:grpSpPr>
          <a:xfrm rot="0">
            <a:off x="10881360" y="5943600"/>
            <a:ext cx="73152" cy="1097280"/>
            <a:chOff x="0" y="0"/>
            <a:chExt cx="97536" cy="1463040"/>
          </a:xfrm>
        </p:grpSpPr>
        <p:sp>
          <p:nvSpPr>
            <p:cNvPr name="Freeform 61" id="61"/>
            <p:cNvSpPr/>
            <p:nvPr/>
          </p:nvSpPr>
          <p:spPr>
            <a:xfrm flipH="false" flipV="false" rot="0">
              <a:off x="0" y="0"/>
              <a:ext cx="97536" cy="1463040"/>
            </a:xfrm>
            <a:custGeom>
              <a:avLst/>
              <a:gdLst/>
              <a:ahLst/>
              <a:cxnLst/>
              <a:rect r="r" b="b" t="t" l="l"/>
              <a:pathLst>
                <a:path h="1463040" w="97536">
                  <a:moveTo>
                    <a:pt x="0" y="0"/>
                  </a:moveTo>
                  <a:lnTo>
                    <a:pt x="97536" y="0"/>
                  </a:lnTo>
                  <a:lnTo>
                    <a:pt x="97536" y="1463040"/>
                  </a:lnTo>
                  <a:lnTo>
                    <a:pt x="0" y="1463040"/>
                  </a:lnTo>
                  <a:close/>
                </a:path>
              </a:pathLst>
            </a:custGeom>
            <a:solidFill>
              <a:srgbClr val="64748B"/>
            </a:solidFill>
          </p:spPr>
          <p:txBody>
            <a:bodyPr/>
            <a:p/>
          </p:txBody>
        </p:sp>
      </p:grpSp>
      <p:grpSp>
        <p:nvGrpSpPr>
          <p:cNvPr name="Group 62" id="62"/>
          <p:cNvGrpSpPr/>
          <p:nvPr/>
        </p:nvGrpSpPr>
        <p:grpSpPr>
          <a:xfrm rot="0">
            <a:off x="10698480" y="6912864"/>
            <a:ext cx="475488" cy="365760"/>
            <a:chOff x="0" y="0"/>
            <a:chExt cx="633984" cy="487680"/>
          </a:xfrm>
        </p:grpSpPr>
        <p:sp>
          <p:nvSpPr>
            <p:cNvPr name="Freeform 63" id="63"/>
            <p:cNvSpPr/>
            <p:nvPr/>
          </p:nvSpPr>
          <p:spPr>
            <a:xfrm flipH="false" flipV="false" rot="0">
              <a:off x="0" y="0"/>
              <a:ext cx="633984" cy="487680"/>
            </a:xfrm>
            <a:custGeom>
              <a:avLst/>
              <a:gdLst/>
              <a:ahLst/>
              <a:cxnLst/>
              <a:rect r="r" b="b" t="t" l="l"/>
              <a:pathLst>
                <a:path h="487680" w="633984">
                  <a:moveTo>
                    <a:pt x="0" y="0"/>
                  </a:moveTo>
                  <a:lnTo>
                    <a:pt x="633984" y="0"/>
                  </a:lnTo>
                  <a:lnTo>
                    <a:pt x="633984" y="487680"/>
                  </a:lnTo>
                  <a:lnTo>
                    <a:pt x="0" y="487680"/>
                  </a:lnTo>
                  <a:close/>
                </a:path>
              </a:pathLst>
            </a:custGeom>
            <a:blipFill>
              <a:blip r:embed="rId3">
                <a:alphaModFix amt="0"/>
              </a:blip>
              <a:stretch>
                <a:fillRect l="-48695" t="0" r="-48695" b="0"/>
              </a:stretch>
            </a:blipFill>
          </p:spPr>
          <p:txBody>
            <a:bodyPr/>
            <a:p/>
          </p:txBody>
        </p:sp>
        <p:sp>
          <p:nvSpPr>
            <p:cNvPr name="TextBox 64" id="64"/>
            <p:cNvSpPr txBox="true"/>
            <p:nvPr/>
          </p:nvSpPr>
          <p:spPr>
            <a:xfrm>
              <a:off x="0" y="-38100"/>
              <a:ext cx="633984" cy="525780"/>
            </a:xfrm>
            <a:prstGeom prst="rect">
              <a:avLst/>
            </a:prstGeom>
          </p:spPr>
          <p:txBody>
            <a:bodyPr anchor="ctr" rtlCol="false" tIns="0" lIns="0" bIns="0" rIns="0"/>
            <a:lstStyle/>
            <a:p>
              <a:pPr algn="l">
                <a:lnSpc>
                  <a:spcPts val="2879"/>
                </a:lnSpc>
              </a:pPr>
              <a:r>
                <a:rPr lang="en-US" sz="2400">
                  <a:solidFill>
                    <a:srgbClr val="64748B"/>
                  </a:solidFill>
                  <a:latin typeface="Calibri (MS)"/>
                  <a:ea typeface="Calibri (MS)"/>
                  <a:cs typeface="Calibri (MS)"/>
                  <a:sym typeface="Calibri (MS)"/>
                </a:rPr>
                <a:t>▼</a:t>
              </a:r>
            </a:p>
          </p:txBody>
        </p:sp>
      </p:grpSp>
      <p:grpSp>
        <p:nvGrpSpPr>
          <p:cNvPr name="Group 65" id="65"/>
          <p:cNvGrpSpPr/>
          <p:nvPr/>
        </p:nvGrpSpPr>
        <p:grpSpPr>
          <a:xfrm rot="0">
            <a:off x="14923008" y="5943600"/>
            <a:ext cx="73152" cy="1097280"/>
            <a:chOff x="0" y="0"/>
            <a:chExt cx="97536" cy="1463040"/>
          </a:xfrm>
        </p:grpSpPr>
        <p:sp>
          <p:nvSpPr>
            <p:cNvPr name="Freeform 66" id="66"/>
            <p:cNvSpPr/>
            <p:nvPr/>
          </p:nvSpPr>
          <p:spPr>
            <a:xfrm flipH="false" flipV="false" rot="0">
              <a:off x="0" y="0"/>
              <a:ext cx="97536" cy="1463040"/>
            </a:xfrm>
            <a:custGeom>
              <a:avLst/>
              <a:gdLst/>
              <a:ahLst/>
              <a:cxnLst/>
              <a:rect r="r" b="b" t="t" l="l"/>
              <a:pathLst>
                <a:path h="1463040" w="97536">
                  <a:moveTo>
                    <a:pt x="0" y="0"/>
                  </a:moveTo>
                  <a:lnTo>
                    <a:pt x="97536" y="0"/>
                  </a:lnTo>
                  <a:lnTo>
                    <a:pt x="97536" y="1463040"/>
                  </a:lnTo>
                  <a:lnTo>
                    <a:pt x="0" y="1463040"/>
                  </a:lnTo>
                  <a:close/>
                </a:path>
              </a:pathLst>
            </a:custGeom>
            <a:solidFill>
              <a:srgbClr val="64748B"/>
            </a:solidFill>
          </p:spPr>
          <p:txBody>
            <a:bodyPr/>
            <a:p/>
          </p:txBody>
        </p:sp>
      </p:grpSp>
      <p:grpSp>
        <p:nvGrpSpPr>
          <p:cNvPr name="Group 67" id="67"/>
          <p:cNvGrpSpPr/>
          <p:nvPr/>
        </p:nvGrpSpPr>
        <p:grpSpPr>
          <a:xfrm rot="0">
            <a:off x="14740128" y="6912864"/>
            <a:ext cx="475488" cy="365760"/>
            <a:chOff x="0" y="0"/>
            <a:chExt cx="633984" cy="487680"/>
          </a:xfrm>
        </p:grpSpPr>
        <p:sp>
          <p:nvSpPr>
            <p:cNvPr name="Freeform 68" id="68"/>
            <p:cNvSpPr/>
            <p:nvPr/>
          </p:nvSpPr>
          <p:spPr>
            <a:xfrm flipH="false" flipV="false" rot="0">
              <a:off x="0" y="0"/>
              <a:ext cx="633984" cy="487680"/>
            </a:xfrm>
            <a:custGeom>
              <a:avLst/>
              <a:gdLst/>
              <a:ahLst/>
              <a:cxnLst/>
              <a:rect r="r" b="b" t="t" l="l"/>
              <a:pathLst>
                <a:path h="487680" w="633984">
                  <a:moveTo>
                    <a:pt x="0" y="0"/>
                  </a:moveTo>
                  <a:lnTo>
                    <a:pt x="633984" y="0"/>
                  </a:lnTo>
                  <a:lnTo>
                    <a:pt x="633984" y="487680"/>
                  </a:lnTo>
                  <a:lnTo>
                    <a:pt x="0" y="487680"/>
                  </a:lnTo>
                  <a:close/>
                </a:path>
              </a:pathLst>
            </a:custGeom>
            <a:blipFill>
              <a:blip r:embed="rId3">
                <a:alphaModFix amt="0"/>
              </a:blip>
              <a:stretch>
                <a:fillRect l="-48695" t="0" r="-48695" b="0"/>
              </a:stretch>
            </a:blipFill>
          </p:spPr>
          <p:txBody>
            <a:bodyPr/>
            <a:p/>
          </p:txBody>
        </p:sp>
        <p:sp>
          <p:nvSpPr>
            <p:cNvPr name="TextBox 69" id="69"/>
            <p:cNvSpPr txBox="true"/>
            <p:nvPr/>
          </p:nvSpPr>
          <p:spPr>
            <a:xfrm>
              <a:off x="0" y="-38100"/>
              <a:ext cx="633984" cy="525780"/>
            </a:xfrm>
            <a:prstGeom prst="rect">
              <a:avLst/>
            </a:prstGeom>
          </p:spPr>
          <p:txBody>
            <a:bodyPr anchor="ctr" rtlCol="false" tIns="0" lIns="0" bIns="0" rIns="0"/>
            <a:lstStyle/>
            <a:p>
              <a:pPr algn="l">
                <a:lnSpc>
                  <a:spcPts val="2879"/>
                </a:lnSpc>
              </a:pPr>
              <a:r>
                <a:rPr lang="en-US" sz="2400">
                  <a:solidFill>
                    <a:srgbClr val="64748B"/>
                  </a:solidFill>
                  <a:latin typeface="Calibri (MS)"/>
                  <a:ea typeface="Calibri (MS)"/>
                  <a:cs typeface="Calibri (MS)"/>
                  <a:sym typeface="Calibri (MS)"/>
                </a:rPr>
                <a:t>▼</a:t>
              </a:r>
            </a:p>
          </p:txBody>
        </p:sp>
      </p:grpSp>
      <p:grpSp>
        <p:nvGrpSpPr>
          <p:cNvPr name="Group 70" id="70"/>
          <p:cNvGrpSpPr/>
          <p:nvPr/>
        </p:nvGrpSpPr>
        <p:grpSpPr>
          <a:xfrm rot="0">
            <a:off x="5107943" y="7393943"/>
            <a:ext cx="3591563" cy="1762763"/>
            <a:chOff x="0" y="0"/>
            <a:chExt cx="4788751" cy="2350351"/>
          </a:xfrm>
        </p:grpSpPr>
        <p:sp>
          <p:nvSpPr>
            <p:cNvPr name="Freeform 71" id="71"/>
            <p:cNvSpPr/>
            <p:nvPr/>
          </p:nvSpPr>
          <p:spPr>
            <a:xfrm flipH="false" flipV="false" rot="0">
              <a:off x="16891" y="16891"/>
              <a:ext cx="4754880" cy="2316480"/>
            </a:xfrm>
            <a:custGeom>
              <a:avLst/>
              <a:gdLst/>
              <a:ahLst/>
              <a:cxnLst/>
              <a:rect r="r" b="b" t="t" l="l"/>
              <a:pathLst>
                <a:path h="2316480" w="4754880">
                  <a:moveTo>
                    <a:pt x="0" y="0"/>
                  </a:moveTo>
                  <a:lnTo>
                    <a:pt x="4754880" y="0"/>
                  </a:lnTo>
                  <a:lnTo>
                    <a:pt x="4754880" y="2316480"/>
                  </a:lnTo>
                  <a:lnTo>
                    <a:pt x="0" y="2316480"/>
                  </a:lnTo>
                  <a:close/>
                </a:path>
              </a:pathLst>
            </a:custGeom>
            <a:solidFill>
              <a:srgbClr val="1D4ED8"/>
            </a:solidFill>
          </p:spPr>
          <p:txBody>
            <a:bodyPr/>
            <a:p/>
          </p:txBody>
        </p:sp>
        <p:sp>
          <p:nvSpPr>
            <p:cNvPr name="Freeform 72" id="72"/>
            <p:cNvSpPr/>
            <p:nvPr/>
          </p:nvSpPr>
          <p:spPr>
            <a:xfrm flipH="false" flipV="false" rot="0">
              <a:off x="0" y="0"/>
              <a:ext cx="4788662" cy="2350262"/>
            </a:xfrm>
            <a:custGeom>
              <a:avLst/>
              <a:gdLst/>
              <a:ahLst/>
              <a:cxnLst/>
              <a:rect r="r" b="b" t="t" l="l"/>
              <a:pathLst>
                <a:path h="2350262" w="4788662">
                  <a:moveTo>
                    <a:pt x="16891" y="0"/>
                  </a:moveTo>
                  <a:lnTo>
                    <a:pt x="4771771" y="0"/>
                  </a:lnTo>
                  <a:cubicBezTo>
                    <a:pt x="4781169" y="0"/>
                    <a:pt x="4788662" y="7620"/>
                    <a:pt x="4788662" y="16891"/>
                  </a:cubicBezTo>
                  <a:lnTo>
                    <a:pt x="4788662" y="2333371"/>
                  </a:lnTo>
                  <a:cubicBezTo>
                    <a:pt x="4788662" y="2342769"/>
                    <a:pt x="4781042" y="2350262"/>
                    <a:pt x="47717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771771" y="2316480"/>
                  </a:lnTo>
                  <a:lnTo>
                    <a:pt x="4771771" y="2333371"/>
                  </a:lnTo>
                  <a:lnTo>
                    <a:pt x="4754880" y="2333371"/>
                  </a:lnTo>
                  <a:lnTo>
                    <a:pt x="4754880" y="16891"/>
                  </a:lnTo>
                  <a:lnTo>
                    <a:pt x="4771771" y="16891"/>
                  </a:lnTo>
                  <a:lnTo>
                    <a:pt x="4771771" y="33909"/>
                  </a:lnTo>
                  <a:lnTo>
                    <a:pt x="16891" y="33909"/>
                  </a:lnTo>
                  <a:close/>
                </a:path>
              </a:pathLst>
            </a:custGeom>
            <a:solidFill>
              <a:srgbClr val="1D4ED8"/>
            </a:solidFill>
          </p:spPr>
          <p:txBody>
            <a:bodyPr/>
            <a:p/>
          </p:txBody>
        </p:sp>
      </p:grpSp>
      <p:grpSp>
        <p:nvGrpSpPr>
          <p:cNvPr name="Group 73" id="73"/>
          <p:cNvGrpSpPr/>
          <p:nvPr/>
        </p:nvGrpSpPr>
        <p:grpSpPr>
          <a:xfrm rot="0">
            <a:off x="5120640" y="7589520"/>
            <a:ext cx="3566160" cy="640080"/>
            <a:chOff x="0" y="0"/>
            <a:chExt cx="4754880" cy="853440"/>
          </a:xfrm>
        </p:grpSpPr>
        <p:sp>
          <p:nvSpPr>
            <p:cNvPr name="Freeform 74" id="74"/>
            <p:cNvSpPr/>
            <p:nvPr/>
          </p:nvSpPr>
          <p:spPr>
            <a:xfrm flipH="false" flipV="false" rot="0">
              <a:off x="0" y="0"/>
              <a:ext cx="4754880" cy="853440"/>
            </a:xfrm>
            <a:custGeom>
              <a:avLst/>
              <a:gdLst/>
              <a:ahLst/>
              <a:cxnLst/>
              <a:rect r="r" b="b" t="t" l="l"/>
              <a:pathLst>
                <a:path h="853440" w="4754880">
                  <a:moveTo>
                    <a:pt x="0" y="0"/>
                  </a:moveTo>
                  <a:lnTo>
                    <a:pt x="4754880" y="0"/>
                  </a:lnTo>
                  <a:lnTo>
                    <a:pt x="4754880" y="853440"/>
                  </a:lnTo>
                  <a:lnTo>
                    <a:pt x="0" y="853440"/>
                  </a:lnTo>
                  <a:close/>
                </a:path>
              </a:pathLst>
            </a:custGeom>
            <a:blipFill>
              <a:blip r:embed="rId3">
                <a:alphaModFix amt="0"/>
              </a:blip>
              <a:stretch>
                <a:fillRect l="0" t="-58559" r="0" b="-58559"/>
              </a:stretch>
            </a:blipFill>
          </p:spPr>
          <p:txBody>
            <a:bodyPr/>
            <a:p/>
          </p:txBody>
        </p:sp>
        <p:sp>
          <p:nvSpPr>
            <p:cNvPr name="TextBox 75" id="75"/>
            <p:cNvSpPr txBox="true"/>
            <p:nvPr/>
          </p:nvSpPr>
          <p:spPr>
            <a:xfrm>
              <a:off x="0" y="-57150"/>
              <a:ext cx="4754880" cy="91059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PostgreSQL</a:t>
              </a:r>
            </a:p>
          </p:txBody>
        </p:sp>
      </p:grpSp>
      <p:grpSp>
        <p:nvGrpSpPr>
          <p:cNvPr name="Group 76" id="76"/>
          <p:cNvGrpSpPr/>
          <p:nvPr/>
        </p:nvGrpSpPr>
        <p:grpSpPr>
          <a:xfrm rot="0">
            <a:off x="5120640" y="8229600"/>
            <a:ext cx="3566160" cy="548640"/>
            <a:chOff x="0" y="0"/>
            <a:chExt cx="4754880" cy="731520"/>
          </a:xfrm>
        </p:grpSpPr>
        <p:sp>
          <p:nvSpPr>
            <p:cNvPr name="Freeform 77" id="77"/>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txBody>
            <a:bodyPr/>
            <a:p/>
          </p:txBody>
        </p:sp>
        <p:sp>
          <p:nvSpPr>
            <p:cNvPr name="TextBox 78" id="78"/>
            <p:cNvSpPr txBox="true"/>
            <p:nvPr/>
          </p:nvSpPr>
          <p:spPr>
            <a:xfrm>
              <a:off x="0" y="-47625"/>
              <a:ext cx="4754880" cy="779145"/>
            </a:xfrm>
            <a:prstGeom prst="rect">
              <a:avLst/>
            </a:prstGeom>
          </p:spPr>
          <p:txBody>
            <a:bodyPr anchor="ctr" rtlCol="false" tIns="0" lIns="0" bIns="0" rIns="0"/>
            <a:lstStyle/>
            <a:p>
              <a:pPr algn="ctr">
                <a:lnSpc>
                  <a:spcPts val="2640"/>
                </a:lnSpc>
              </a:pPr>
              <a:r>
                <a:rPr lang="en-US" sz="2200">
                  <a:solidFill>
                    <a:srgbClr val="CFFAFE"/>
                  </a:solidFill>
                  <a:latin typeface="Calibri (MS)"/>
                  <a:ea typeface="Calibri (MS)"/>
                  <a:cs typeface="Calibri (MS)"/>
                  <a:sym typeface="Calibri (MS)"/>
                </a:rPr>
                <a:t>Relationnel</a:t>
              </a:r>
            </a:p>
          </p:txBody>
        </p:sp>
      </p:grpSp>
      <p:grpSp>
        <p:nvGrpSpPr>
          <p:cNvPr name="Group 79" id="79"/>
          <p:cNvGrpSpPr/>
          <p:nvPr/>
        </p:nvGrpSpPr>
        <p:grpSpPr>
          <a:xfrm rot="0">
            <a:off x="9131303" y="7393943"/>
            <a:ext cx="3591563" cy="1762763"/>
            <a:chOff x="0" y="0"/>
            <a:chExt cx="4788751" cy="2350351"/>
          </a:xfrm>
        </p:grpSpPr>
        <p:sp>
          <p:nvSpPr>
            <p:cNvPr name="Freeform 80" id="80"/>
            <p:cNvSpPr/>
            <p:nvPr/>
          </p:nvSpPr>
          <p:spPr>
            <a:xfrm flipH="false" flipV="false" rot="0">
              <a:off x="16891" y="16891"/>
              <a:ext cx="4754880" cy="2316480"/>
            </a:xfrm>
            <a:custGeom>
              <a:avLst/>
              <a:gdLst/>
              <a:ahLst/>
              <a:cxnLst/>
              <a:rect r="r" b="b" t="t" l="l"/>
              <a:pathLst>
                <a:path h="2316480" w="4754880">
                  <a:moveTo>
                    <a:pt x="0" y="0"/>
                  </a:moveTo>
                  <a:lnTo>
                    <a:pt x="4754880" y="0"/>
                  </a:lnTo>
                  <a:lnTo>
                    <a:pt x="4754880" y="2316480"/>
                  </a:lnTo>
                  <a:lnTo>
                    <a:pt x="0" y="2316480"/>
                  </a:lnTo>
                  <a:close/>
                </a:path>
              </a:pathLst>
            </a:custGeom>
            <a:solidFill>
              <a:srgbClr val="DC2626"/>
            </a:solidFill>
          </p:spPr>
          <p:txBody>
            <a:bodyPr/>
            <a:p/>
          </p:txBody>
        </p:sp>
        <p:sp>
          <p:nvSpPr>
            <p:cNvPr name="Freeform 81" id="81"/>
            <p:cNvSpPr/>
            <p:nvPr/>
          </p:nvSpPr>
          <p:spPr>
            <a:xfrm flipH="false" flipV="false" rot="0">
              <a:off x="0" y="0"/>
              <a:ext cx="4788662" cy="2350262"/>
            </a:xfrm>
            <a:custGeom>
              <a:avLst/>
              <a:gdLst/>
              <a:ahLst/>
              <a:cxnLst/>
              <a:rect r="r" b="b" t="t" l="l"/>
              <a:pathLst>
                <a:path h="2350262" w="4788662">
                  <a:moveTo>
                    <a:pt x="16891" y="0"/>
                  </a:moveTo>
                  <a:lnTo>
                    <a:pt x="4771771" y="0"/>
                  </a:lnTo>
                  <a:cubicBezTo>
                    <a:pt x="4781169" y="0"/>
                    <a:pt x="4788662" y="7620"/>
                    <a:pt x="4788662" y="16891"/>
                  </a:cubicBezTo>
                  <a:lnTo>
                    <a:pt x="4788662" y="2333371"/>
                  </a:lnTo>
                  <a:cubicBezTo>
                    <a:pt x="4788662" y="2342769"/>
                    <a:pt x="4781042" y="2350262"/>
                    <a:pt x="47717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771771" y="2316480"/>
                  </a:lnTo>
                  <a:lnTo>
                    <a:pt x="4771771" y="2333371"/>
                  </a:lnTo>
                  <a:lnTo>
                    <a:pt x="4754880" y="2333371"/>
                  </a:lnTo>
                  <a:lnTo>
                    <a:pt x="4754880" y="16891"/>
                  </a:lnTo>
                  <a:lnTo>
                    <a:pt x="4771771" y="16891"/>
                  </a:lnTo>
                  <a:lnTo>
                    <a:pt x="4771771" y="33909"/>
                  </a:lnTo>
                  <a:lnTo>
                    <a:pt x="16891" y="33909"/>
                  </a:lnTo>
                  <a:close/>
                </a:path>
              </a:pathLst>
            </a:custGeom>
            <a:solidFill>
              <a:srgbClr val="DC2626"/>
            </a:solidFill>
          </p:spPr>
          <p:txBody>
            <a:bodyPr/>
            <a:p/>
          </p:txBody>
        </p:sp>
      </p:grpSp>
      <p:grpSp>
        <p:nvGrpSpPr>
          <p:cNvPr name="Group 82" id="82"/>
          <p:cNvGrpSpPr/>
          <p:nvPr/>
        </p:nvGrpSpPr>
        <p:grpSpPr>
          <a:xfrm rot="0">
            <a:off x="9144000" y="7589520"/>
            <a:ext cx="3566160" cy="640080"/>
            <a:chOff x="0" y="0"/>
            <a:chExt cx="4754880" cy="853440"/>
          </a:xfrm>
        </p:grpSpPr>
        <p:sp>
          <p:nvSpPr>
            <p:cNvPr name="Freeform 83" id="83"/>
            <p:cNvSpPr/>
            <p:nvPr/>
          </p:nvSpPr>
          <p:spPr>
            <a:xfrm flipH="false" flipV="false" rot="0">
              <a:off x="0" y="0"/>
              <a:ext cx="4754880" cy="853440"/>
            </a:xfrm>
            <a:custGeom>
              <a:avLst/>
              <a:gdLst/>
              <a:ahLst/>
              <a:cxnLst/>
              <a:rect r="r" b="b" t="t" l="l"/>
              <a:pathLst>
                <a:path h="853440" w="4754880">
                  <a:moveTo>
                    <a:pt x="0" y="0"/>
                  </a:moveTo>
                  <a:lnTo>
                    <a:pt x="4754880" y="0"/>
                  </a:lnTo>
                  <a:lnTo>
                    <a:pt x="4754880" y="853440"/>
                  </a:lnTo>
                  <a:lnTo>
                    <a:pt x="0" y="853440"/>
                  </a:lnTo>
                  <a:close/>
                </a:path>
              </a:pathLst>
            </a:custGeom>
            <a:blipFill>
              <a:blip r:embed="rId3">
                <a:alphaModFix amt="0"/>
              </a:blip>
              <a:stretch>
                <a:fillRect l="0" t="-58559" r="0" b="-58559"/>
              </a:stretch>
            </a:blipFill>
          </p:spPr>
          <p:txBody>
            <a:bodyPr/>
            <a:p/>
          </p:txBody>
        </p:sp>
        <p:sp>
          <p:nvSpPr>
            <p:cNvPr name="TextBox 84" id="84"/>
            <p:cNvSpPr txBox="true"/>
            <p:nvPr/>
          </p:nvSpPr>
          <p:spPr>
            <a:xfrm>
              <a:off x="0" y="-57150"/>
              <a:ext cx="4754880" cy="91059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Redis 7</a:t>
              </a:r>
            </a:p>
          </p:txBody>
        </p:sp>
      </p:grpSp>
      <p:grpSp>
        <p:nvGrpSpPr>
          <p:cNvPr name="Group 85" id="85"/>
          <p:cNvGrpSpPr/>
          <p:nvPr/>
        </p:nvGrpSpPr>
        <p:grpSpPr>
          <a:xfrm rot="0">
            <a:off x="9144000" y="8229600"/>
            <a:ext cx="3566160" cy="548640"/>
            <a:chOff x="0" y="0"/>
            <a:chExt cx="4754880" cy="731520"/>
          </a:xfrm>
        </p:grpSpPr>
        <p:sp>
          <p:nvSpPr>
            <p:cNvPr name="Freeform 86" id="86"/>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txBody>
            <a:bodyPr/>
            <a:p/>
          </p:txBody>
        </p:sp>
        <p:sp>
          <p:nvSpPr>
            <p:cNvPr name="TextBox 87" id="87"/>
            <p:cNvSpPr txBox="true"/>
            <p:nvPr/>
          </p:nvSpPr>
          <p:spPr>
            <a:xfrm>
              <a:off x="0" y="-47625"/>
              <a:ext cx="4754880" cy="779145"/>
            </a:xfrm>
            <a:prstGeom prst="rect">
              <a:avLst/>
            </a:prstGeom>
          </p:spPr>
          <p:txBody>
            <a:bodyPr anchor="ctr" rtlCol="false" tIns="0" lIns="0" bIns="0" rIns="0"/>
            <a:lstStyle/>
            <a:p>
              <a:pPr algn="ctr">
                <a:lnSpc>
                  <a:spcPts val="2640"/>
                </a:lnSpc>
              </a:pPr>
              <a:r>
                <a:rPr lang="en-US" sz="2200">
                  <a:solidFill>
                    <a:srgbClr val="CFFAFE"/>
                  </a:solidFill>
                  <a:latin typeface="Calibri (MS)"/>
                  <a:ea typeface="Calibri (MS)"/>
                  <a:cs typeface="Calibri (MS)"/>
                  <a:sym typeface="Calibri (MS)"/>
                </a:rPr>
                <a:t>Cache</a:t>
              </a:r>
            </a:p>
          </p:txBody>
        </p:sp>
      </p:grpSp>
      <p:grpSp>
        <p:nvGrpSpPr>
          <p:cNvPr name="Group 88" id="88"/>
          <p:cNvGrpSpPr/>
          <p:nvPr/>
        </p:nvGrpSpPr>
        <p:grpSpPr>
          <a:xfrm rot="0">
            <a:off x="13154663" y="7393943"/>
            <a:ext cx="3591563" cy="1762763"/>
            <a:chOff x="0" y="0"/>
            <a:chExt cx="4788751" cy="2350351"/>
          </a:xfrm>
        </p:grpSpPr>
        <p:sp>
          <p:nvSpPr>
            <p:cNvPr name="Freeform 89" id="89"/>
            <p:cNvSpPr/>
            <p:nvPr/>
          </p:nvSpPr>
          <p:spPr>
            <a:xfrm flipH="false" flipV="false" rot="0">
              <a:off x="16891" y="16891"/>
              <a:ext cx="4754880" cy="2316480"/>
            </a:xfrm>
            <a:custGeom>
              <a:avLst/>
              <a:gdLst/>
              <a:ahLst/>
              <a:cxnLst/>
              <a:rect r="r" b="b" t="t" l="l"/>
              <a:pathLst>
                <a:path h="2316480" w="4754880">
                  <a:moveTo>
                    <a:pt x="0" y="0"/>
                  </a:moveTo>
                  <a:lnTo>
                    <a:pt x="4754880" y="0"/>
                  </a:lnTo>
                  <a:lnTo>
                    <a:pt x="4754880" y="2316480"/>
                  </a:lnTo>
                  <a:lnTo>
                    <a:pt x="0" y="2316480"/>
                  </a:lnTo>
                  <a:close/>
                </a:path>
              </a:pathLst>
            </a:custGeom>
            <a:solidFill>
              <a:srgbClr val="0F766E"/>
            </a:solidFill>
          </p:spPr>
          <p:txBody>
            <a:bodyPr/>
            <a:p/>
          </p:txBody>
        </p:sp>
        <p:sp>
          <p:nvSpPr>
            <p:cNvPr name="Freeform 90" id="90"/>
            <p:cNvSpPr/>
            <p:nvPr/>
          </p:nvSpPr>
          <p:spPr>
            <a:xfrm flipH="false" flipV="false" rot="0">
              <a:off x="0" y="0"/>
              <a:ext cx="4788662" cy="2350262"/>
            </a:xfrm>
            <a:custGeom>
              <a:avLst/>
              <a:gdLst/>
              <a:ahLst/>
              <a:cxnLst/>
              <a:rect r="r" b="b" t="t" l="l"/>
              <a:pathLst>
                <a:path h="2350262" w="4788662">
                  <a:moveTo>
                    <a:pt x="16891" y="0"/>
                  </a:moveTo>
                  <a:lnTo>
                    <a:pt x="4771771" y="0"/>
                  </a:lnTo>
                  <a:cubicBezTo>
                    <a:pt x="4781169" y="0"/>
                    <a:pt x="4788662" y="7620"/>
                    <a:pt x="4788662" y="16891"/>
                  </a:cubicBezTo>
                  <a:lnTo>
                    <a:pt x="4788662" y="2333371"/>
                  </a:lnTo>
                  <a:cubicBezTo>
                    <a:pt x="4788662" y="2342769"/>
                    <a:pt x="4781042" y="2350262"/>
                    <a:pt x="47717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771771" y="2316480"/>
                  </a:lnTo>
                  <a:lnTo>
                    <a:pt x="4771771" y="2333371"/>
                  </a:lnTo>
                  <a:lnTo>
                    <a:pt x="4754880" y="2333371"/>
                  </a:lnTo>
                  <a:lnTo>
                    <a:pt x="4754880" y="16891"/>
                  </a:lnTo>
                  <a:lnTo>
                    <a:pt x="4771771" y="16891"/>
                  </a:lnTo>
                  <a:lnTo>
                    <a:pt x="4771771" y="33909"/>
                  </a:lnTo>
                  <a:lnTo>
                    <a:pt x="16891" y="33909"/>
                  </a:lnTo>
                  <a:close/>
                </a:path>
              </a:pathLst>
            </a:custGeom>
            <a:solidFill>
              <a:srgbClr val="0F766E"/>
            </a:solidFill>
          </p:spPr>
          <p:txBody>
            <a:bodyPr/>
            <a:p/>
          </p:txBody>
        </p:sp>
      </p:grpSp>
      <p:grpSp>
        <p:nvGrpSpPr>
          <p:cNvPr name="Group 91" id="91"/>
          <p:cNvGrpSpPr/>
          <p:nvPr/>
        </p:nvGrpSpPr>
        <p:grpSpPr>
          <a:xfrm rot="0">
            <a:off x="13167360" y="7589520"/>
            <a:ext cx="3566160" cy="640080"/>
            <a:chOff x="0" y="0"/>
            <a:chExt cx="4754880" cy="853440"/>
          </a:xfrm>
        </p:grpSpPr>
        <p:sp>
          <p:nvSpPr>
            <p:cNvPr name="Freeform 92" id="92"/>
            <p:cNvSpPr/>
            <p:nvPr/>
          </p:nvSpPr>
          <p:spPr>
            <a:xfrm flipH="false" flipV="false" rot="0">
              <a:off x="0" y="0"/>
              <a:ext cx="4754880" cy="853440"/>
            </a:xfrm>
            <a:custGeom>
              <a:avLst/>
              <a:gdLst/>
              <a:ahLst/>
              <a:cxnLst/>
              <a:rect r="r" b="b" t="t" l="l"/>
              <a:pathLst>
                <a:path h="853440" w="4754880">
                  <a:moveTo>
                    <a:pt x="0" y="0"/>
                  </a:moveTo>
                  <a:lnTo>
                    <a:pt x="4754880" y="0"/>
                  </a:lnTo>
                  <a:lnTo>
                    <a:pt x="4754880" y="853440"/>
                  </a:lnTo>
                  <a:lnTo>
                    <a:pt x="0" y="853440"/>
                  </a:lnTo>
                  <a:close/>
                </a:path>
              </a:pathLst>
            </a:custGeom>
            <a:blipFill>
              <a:blip r:embed="rId3">
                <a:alphaModFix amt="0"/>
              </a:blip>
              <a:stretch>
                <a:fillRect l="0" t="-58559" r="0" b="-58559"/>
              </a:stretch>
            </a:blipFill>
          </p:spPr>
          <p:txBody>
            <a:bodyPr/>
            <a:p/>
          </p:txBody>
        </p:sp>
        <p:sp>
          <p:nvSpPr>
            <p:cNvPr name="TextBox 93" id="93"/>
            <p:cNvSpPr txBox="true"/>
            <p:nvPr/>
          </p:nvSpPr>
          <p:spPr>
            <a:xfrm>
              <a:off x="0" y="-57150"/>
              <a:ext cx="4754880" cy="91059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Qdrant 1.17</a:t>
              </a:r>
            </a:p>
          </p:txBody>
        </p:sp>
      </p:grpSp>
      <p:grpSp>
        <p:nvGrpSpPr>
          <p:cNvPr name="Group 94" id="94"/>
          <p:cNvGrpSpPr/>
          <p:nvPr/>
        </p:nvGrpSpPr>
        <p:grpSpPr>
          <a:xfrm rot="0">
            <a:off x="13167360" y="8229600"/>
            <a:ext cx="3566160" cy="548640"/>
            <a:chOff x="0" y="0"/>
            <a:chExt cx="4754880" cy="731520"/>
          </a:xfrm>
        </p:grpSpPr>
        <p:sp>
          <p:nvSpPr>
            <p:cNvPr name="Freeform 95" id="95"/>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txBody>
            <a:bodyPr/>
            <a:p/>
          </p:txBody>
        </p:sp>
        <p:sp>
          <p:nvSpPr>
            <p:cNvPr name="TextBox 96" id="96"/>
            <p:cNvSpPr txBox="true"/>
            <p:nvPr/>
          </p:nvSpPr>
          <p:spPr>
            <a:xfrm>
              <a:off x="0" y="-47625"/>
              <a:ext cx="4754880" cy="779145"/>
            </a:xfrm>
            <a:prstGeom prst="rect">
              <a:avLst/>
            </a:prstGeom>
          </p:spPr>
          <p:txBody>
            <a:bodyPr anchor="ctr" rtlCol="false" tIns="0" lIns="0" bIns="0" rIns="0"/>
            <a:lstStyle/>
            <a:p>
              <a:pPr algn="ctr">
                <a:lnSpc>
                  <a:spcPts val="2640"/>
                </a:lnSpc>
              </a:pPr>
              <a:r>
                <a:rPr lang="en-US" sz="2200">
                  <a:solidFill>
                    <a:srgbClr val="CFFAFE"/>
                  </a:solidFill>
                  <a:latin typeface="Calibri (MS)"/>
                  <a:ea typeface="Calibri (MS)"/>
                  <a:cs typeface="Calibri (MS)"/>
                  <a:sym typeface="Calibri (MS)"/>
                </a:rPr>
                <a:t>Vecteurs</a:t>
              </a:r>
            </a:p>
          </p:txBody>
        </p:sp>
      </p:grpSp>
      <p:grpSp>
        <p:nvGrpSpPr>
          <p:cNvPr name="Group 97" id="97"/>
          <p:cNvGrpSpPr/>
          <p:nvPr/>
        </p:nvGrpSpPr>
        <p:grpSpPr>
          <a:xfrm rot="0">
            <a:off x="731520" y="9509760"/>
            <a:ext cx="16824960" cy="585216"/>
            <a:chOff x="0" y="0"/>
            <a:chExt cx="22433280" cy="780288"/>
          </a:xfrm>
        </p:grpSpPr>
        <p:sp>
          <p:nvSpPr>
            <p:cNvPr name="Freeform 98" id="98"/>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solidFill>
              <a:srgbClr val="E2E8F0"/>
            </a:solidFill>
          </p:spPr>
          <p:txBody>
            <a:bodyPr/>
            <a:p/>
          </p:txBody>
        </p:sp>
      </p:grpSp>
      <p:grpSp>
        <p:nvGrpSpPr>
          <p:cNvPr name="Group 99" id="99"/>
          <p:cNvGrpSpPr/>
          <p:nvPr/>
        </p:nvGrpSpPr>
        <p:grpSpPr>
          <a:xfrm rot="0">
            <a:off x="731520" y="9509760"/>
            <a:ext cx="16824960" cy="585216"/>
            <a:chOff x="0" y="0"/>
            <a:chExt cx="22433280" cy="780288"/>
          </a:xfrm>
        </p:grpSpPr>
        <p:sp>
          <p:nvSpPr>
            <p:cNvPr name="Freeform 100" id="100"/>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txBody>
            <a:bodyPr/>
            <a:p/>
          </p:txBody>
        </p:sp>
        <p:sp>
          <p:nvSpPr>
            <p:cNvPr name="TextBox 101" id="101"/>
            <p:cNvSpPr txBox="true"/>
            <p:nvPr/>
          </p:nvSpPr>
          <p:spPr>
            <a:xfrm>
              <a:off x="0" y="-47625"/>
              <a:ext cx="22433280" cy="827913"/>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Conteneurisation : Docker Compose  ·  CI/CD : GitHub Actions</a:t>
              </a:r>
            </a:p>
          </p:txBody>
        </p:sp>
      </p:grpSp>
      <p:sp>
        <p:nvSpPr>
          <p:cNvPr name="TextBox 102" id="10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Pile technique — Frontend</a:t>
              </a:r>
            </a:p>
          </p:txBody>
        </p:sp>
      </p:grpSp>
      <p:grpSp>
        <p:nvGrpSpPr>
          <p:cNvPr name="Group 7" id="7"/>
          <p:cNvGrpSpPr/>
          <p:nvPr/>
        </p:nvGrpSpPr>
        <p:grpSpPr>
          <a:xfrm rot="0">
            <a:off x="1084583" y="2273303"/>
            <a:ext cx="16118843" cy="1268987"/>
            <a:chOff x="0" y="0"/>
            <a:chExt cx="21491791" cy="1691983"/>
          </a:xfrm>
        </p:grpSpPr>
        <p:sp>
          <p:nvSpPr>
            <p:cNvPr name="Freeform 8" id="8"/>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9" id="9"/>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10" id="10"/>
          <p:cNvGrpSpPr/>
          <p:nvPr/>
        </p:nvGrpSpPr>
        <p:grpSpPr>
          <a:xfrm rot="0">
            <a:off x="1554480" y="2560320"/>
            <a:ext cx="731520" cy="731520"/>
            <a:chOff x="0" y="0"/>
            <a:chExt cx="975360" cy="975360"/>
          </a:xfrm>
        </p:grpSpPr>
        <p:sp>
          <p:nvSpPr>
            <p:cNvPr name="Freeform 11" id="11"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2743200" y="2432304"/>
            <a:ext cx="5486400" cy="585216"/>
            <a:chOff x="0" y="0"/>
            <a:chExt cx="7315200" cy="780288"/>
          </a:xfrm>
        </p:grpSpPr>
        <p:sp>
          <p:nvSpPr>
            <p:cNvPr name="Freeform 13" id="13"/>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14" id="14"/>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Next.js 15</a:t>
              </a:r>
            </a:p>
          </p:txBody>
        </p:sp>
      </p:grpSp>
      <p:grpSp>
        <p:nvGrpSpPr>
          <p:cNvPr name="Group 15" id="15"/>
          <p:cNvGrpSpPr/>
          <p:nvPr/>
        </p:nvGrpSpPr>
        <p:grpSpPr>
          <a:xfrm rot="0">
            <a:off x="2743200" y="2944368"/>
            <a:ext cx="13898880" cy="548640"/>
            <a:chOff x="0" y="0"/>
            <a:chExt cx="18531840" cy="731520"/>
          </a:xfrm>
        </p:grpSpPr>
        <p:sp>
          <p:nvSpPr>
            <p:cNvPr name="Freeform 16" id="16"/>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17" id="17"/>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App Router · React Server Components</a:t>
              </a:r>
            </a:p>
          </p:txBody>
        </p:sp>
      </p:grpSp>
      <p:grpSp>
        <p:nvGrpSpPr>
          <p:cNvPr name="Group 18" id="18"/>
          <p:cNvGrpSpPr/>
          <p:nvPr/>
        </p:nvGrpSpPr>
        <p:grpSpPr>
          <a:xfrm rot="0">
            <a:off x="1084583" y="3699767"/>
            <a:ext cx="16118843" cy="1268987"/>
            <a:chOff x="0" y="0"/>
            <a:chExt cx="21491791" cy="1691983"/>
          </a:xfrm>
        </p:grpSpPr>
        <p:sp>
          <p:nvSpPr>
            <p:cNvPr name="Freeform 19" id="19"/>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20" id="20"/>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21" id="21"/>
          <p:cNvGrpSpPr/>
          <p:nvPr/>
        </p:nvGrpSpPr>
        <p:grpSpPr>
          <a:xfrm rot="0">
            <a:off x="1554480" y="3986784"/>
            <a:ext cx="731520" cy="731520"/>
            <a:chOff x="0" y="0"/>
            <a:chExt cx="975360" cy="975360"/>
          </a:xfrm>
        </p:grpSpPr>
        <p:sp>
          <p:nvSpPr>
            <p:cNvPr name="Freeform 22" id="22"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2743200" y="3858768"/>
            <a:ext cx="5486400" cy="585216"/>
            <a:chOff x="0" y="0"/>
            <a:chExt cx="7315200" cy="780288"/>
          </a:xfrm>
        </p:grpSpPr>
        <p:sp>
          <p:nvSpPr>
            <p:cNvPr name="Freeform 24" id="24"/>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25" id="25"/>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TypeScript 5.8</a:t>
              </a:r>
            </a:p>
          </p:txBody>
        </p:sp>
      </p:grpSp>
      <p:grpSp>
        <p:nvGrpSpPr>
          <p:cNvPr name="Group 26" id="26"/>
          <p:cNvGrpSpPr/>
          <p:nvPr/>
        </p:nvGrpSpPr>
        <p:grpSpPr>
          <a:xfrm rot="0">
            <a:off x="2743200" y="4370832"/>
            <a:ext cx="13898880" cy="548640"/>
            <a:chOff x="0" y="0"/>
            <a:chExt cx="18531840" cy="731520"/>
          </a:xfrm>
        </p:grpSpPr>
        <p:sp>
          <p:nvSpPr>
            <p:cNvPr name="Freeform 27" id="27"/>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28" id="28"/>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Typage strict · Validation Zod</a:t>
              </a:r>
            </a:p>
          </p:txBody>
        </p:sp>
      </p:grpSp>
      <p:grpSp>
        <p:nvGrpSpPr>
          <p:cNvPr name="Group 29" id="29"/>
          <p:cNvGrpSpPr/>
          <p:nvPr/>
        </p:nvGrpSpPr>
        <p:grpSpPr>
          <a:xfrm rot="0">
            <a:off x="1084583" y="5126231"/>
            <a:ext cx="16118843" cy="1268987"/>
            <a:chOff x="0" y="0"/>
            <a:chExt cx="21491791" cy="1691983"/>
          </a:xfrm>
        </p:grpSpPr>
        <p:sp>
          <p:nvSpPr>
            <p:cNvPr name="Freeform 30" id="30"/>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31" id="31"/>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32" id="32"/>
          <p:cNvGrpSpPr/>
          <p:nvPr/>
        </p:nvGrpSpPr>
        <p:grpSpPr>
          <a:xfrm rot="0">
            <a:off x="1554480" y="5413248"/>
            <a:ext cx="731520" cy="731520"/>
            <a:chOff x="0" y="0"/>
            <a:chExt cx="975360" cy="975360"/>
          </a:xfrm>
        </p:grpSpPr>
        <p:sp>
          <p:nvSpPr>
            <p:cNvPr name="Freeform 33" id="33"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2743200" y="5285232"/>
            <a:ext cx="5486400" cy="585216"/>
            <a:chOff x="0" y="0"/>
            <a:chExt cx="7315200" cy="780288"/>
          </a:xfrm>
        </p:grpSpPr>
        <p:sp>
          <p:nvSpPr>
            <p:cNvPr name="Freeform 35" id="35"/>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36" id="36"/>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Tailwind CSS 3.4</a:t>
              </a:r>
            </a:p>
          </p:txBody>
        </p:sp>
      </p:grpSp>
      <p:grpSp>
        <p:nvGrpSpPr>
          <p:cNvPr name="Group 37" id="37"/>
          <p:cNvGrpSpPr/>
          <p:nvPr/>
        </p:nvGrpSpPr>
        <p:grpSpPr>
          <a:xfrm rot="0">
            <a:off x="2743200" y="5797296"/>
            <a:ext cx="13898880" cy="548640"/>
            <a:chOff x="0" y="0"/>
            <a:chExt cx="18531840" cy="731520"/>
          </a:xfrm>
        </p:grpSpPr>
        <p:sp>
          <p:nvSpPr>
            <p:cNvPr name="Freeform 38" id="38"/>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39" id="39"/>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Variantes RTL natives pour l'arabe</a:t>
              </a:r>
            </a:p>
          </p:txBody>
        </p:sp>
      </p:grpSp>
      <p:grpSp>
        <p:nvGrpSpPr>
          <p:cNvPr name="Group 40" id="40"/>
          <p:cNvGrpSpPr/>
          <p:nvPr/>
        </p:nvGrpSpPr>
        <p:grpSpPr>
          <a:xfrm rot="0">
            <a:off x="1084583" y="6552695"/>
            <a:ext cx="16118843" cy="1268987"/>
            <a:chOff x="0" y="0"/>
            <a:chExt cx="21491791" cy="1691983"/>
          </a:xfrm>
        </p:grpSpPr>
        <p:sp>
          <p:nvSpPr>
            <p:cNvPr name="Freeform 41" id="41"/>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42" id="42"/>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43" id="43"/>
          <p:cNvGrpSpPr/>
          <p:nvPr/>
        </p:nvGrpSpPr>
        <p:grpSpPr>
          <a:xfrm rot="0">
            <a:off x="1554480" y="6839712"/>
            <a:ext cx="731520" cy="731520"/>
            <a:chOff x="0" y="0"/>
            <a:chExt cx="975360" cy="975360"/>
          </a:xfrm>
        </p:grpSpPr>
        <p:sp>
          <p:nvSpPr>
            <p:cNvPr name="Freeform 44" id="44"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txBody>
            <a:bodyPr/>
            <a:p/>
          </p:txBody>
        </p:sp>
      </p:grpSp>
      <p:grpSp>
        <p:nvGrpSpPr>
          <p:cNvPr name="Group 45" id="45"/>
          <p:cNvGrpSpPr/>
          <p:nvPr/>
        </p:nvGrpSpPr>
        <p:grpSpPr>
          <a:xfrm rot="0">
            <a:off x="2743200" y="6711696"/>
            <a:ext cx="5486400" cy="585216"/>
            <a:chOff x="0" y="0"/>
            <a:chExt cx="7315200" cy="780288"/>
          </a:xfrm>
        </p:grpSpPr>
        <p:sp>
          <p:nvSpPr>
            <p:cNvPr name="Freeform 46" id="46"/>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47" id="47"/>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Zustand</a:t>
              </a:r>
            </a:p>
          </p:txBody>
        </p:sp>
      </p:grpSp>
      <p:grpSp>
        <p:nvGrpSpPr>
          <p:cNvPr name="Group 48" id="48"/>
          <p:cNvGrpSpPr/>
          <p:nvPr/>
        </p:nvGrpSpPr>
        <p:grpSpPr>
          <a:xfrm rot="0">
            <a:off x="2743200" y="7223760"/>
            <a:ext cx="13898880" cy="548640"/>
            <a:chOff x="0" y="0"/>
            <a:chExt cx="18531840" cy="731520"/>
          </a:xfrm>
        </p:grpSpPr>
        <p:sp>
          <p:nvSpPr>
            <p:cNvPr name="Freeform 49" id="49"/>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50" id="50"/>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Store global d'auth &amp; conversations</a:t>
              </a:r>
            </a:p>
          </p:txBody>
        </p:sp>
      </p:grpSp>
      <p:grpSp>
        <p:nvGrpSpPr>
          <p:cNvPr name="Group 51" id="51"/>
          <p:cNvGrpSpPr/>
          <p:nvPr/>
        </p:nvGrpSpPr>
        <p:grpSpPr>
          <a:xfrm rot="0">
            <a:off x="1084583" y="7979159"/>
            <a:ext cx="16118843" cy="1268987"/>
            <a:chOff x="0" y="0"/>
            <a:chExt cx="21491791" cy="1691983"/>
          </a:xfrm>
        </p:grpSpPr>
        <p:sp>
          <p:nvSpPr>
            <p:cNvPr name="Freeform 52" id="52"/>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53" id="53"/>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54" id="54"/>
          <p:cNvGrpSpPr/>
          <p:nvPr/>
        </p:nvGrpSpPr>
        <p:grpSpPr>
          <a:xfrm rot="0">
            <a:off x="1554480" y="8266176"/>
            <a:ext cx="731520" cy="731520"/>
            <a:chOff x="0" y="0"/>
            <a:chExt cx="975360" cy="975360"/>
          </a:xfrm>
        </p:grpSpPr>
        <p:sp>
          <p:nvSpPr>
            <p:cNvPr name="Freeform 55" id="55"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8"/>
              <a:stretch>
                <a:fillRect l="0" t="0" r="0" b="0"/>
              </a:stretch>
            </a:blipFill>
          </p:spPr>
          <p:txBody>
            <a:bodyPr/>
            <a:p/>
          </p:txBody>
        </p:sp>
      </p:grpSp>
      <p:grpSp>
        <p:nvGrpSpPr>
          <p:cNvPr name="Group 56" id="56"/>
          <p:cNvGrpSpPr/>
          <p:nvPr/>
        </p:nvGrpSpPr>
        <p:grpSpPr>
          <a:xfrm rot="0">
            <a:off x="2743200" y="8138160"/>
            <a:ext cx="5486400" cy="585216"/>
            <a:chOff x="0" y="0"/>
            <a:chExt cx="7315200" cy="780288"/>
          </a:xfrm>
        </p:grpSpPr>
        <p:sp>
          <p:nvSpPr>
            <p:cNvPr name="Freeform 57" id="57"/>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58" id="58"/>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i18next + react-i18next</a:t>
              </a:r>
            </a:p>
          </p:txBody>
        </p:sp>
      </p:grpSp>
      <p:grpSp>
        <p:nvGrpSpPr>
          <p:cNvPr name="Group 59" id="59"/>
          <p:cNvGrpSpPr/>
          <p:nvPr/>
        </p:nvGrpSpPr>
        <p:grpSpPr>
          <a:xfrm rot="0">
            <a:off x="2743200" y="8650224"/>
            <a:ext cx="13898880" cy="548640"/>
            <a:chOff x="0" y="0"/>
            <a:chExt cx="18531840" cy="731520"/>
          </a:xfrm>
        </p:grpSpPr>
        <p:sp>
          <p:nvSpPr>
            <p:cNvPr name="Freeform 60" id="60"/>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61" id="61"/>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FR / EN / AR avec auto-détection</a:t>
              </a:r>
            </a:p>
          </p:txBody>
        </p:sp>
      </p:grpSp>
      <p:sp>
        <p:nvSpPr>
          <p:cNvPr name="TextBox 62" id="6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Pile technique — Backend &amp; Données</a:t>
              </a:r>
            </a:p>
          </p:txBody>
        </p:sp>
      </p:grpSp>
      <p:grpSp>
        <p:nvGrpSpPr>
          <p:cNvPr name="Group 7" id="7"/>
          <p:cNvGrpSpPr/>
          <p:nvPr/>
        </p:nvGrpSpPr>
        <p:grpSpPr>
          <a:xfrm rot="0">
            <a:off x="1084583" y="2273303"/>
            <a:ext cx="16118843" cy="1268987"/>
            <a:chOff x="0" y="0"/>
            <a:chExt cx="21491791" cy="1691983"/>
          </a:xfrm>
        </p:grpSpPr>
        <p:sp>
          <p:nvSpPr>
            <p:cNvPr name="Freeform 8" id="8"/>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9" id="9"/>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10" id="10"/>
          <p:cNvGrpSpPr/>
          <p:nvPr/>
        </p:nvGrpSpPr>
        <p:grpSpPr>
          <a:xfrm rot="0">
            <a:off x="1554480" y="2560320"/>
            <a:ext cx="731520" cy="731520"/>
            <a:chOff x="0" y="0"/>
            <a:chExt cx="975360" cy="975360"/>
          </a:xfrm>
        </p:grpSpPr>
        <p:sp>
          <p:nvSpPr>
            <p:cNvPr name="Freeform 11" id="11"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2743200" y="2432304"/>
            <a:ext cx="7315200" cy="585216"/>
            <a:chOff x="0" y="0"/>
            <a:chExt cx="9753600" cy="780288"/>
          </a:xfrm>
        </p:grpSpPr>
        <p:sp>
          <p:nvSpPr>
            <p:cNvPr name="Freeform 13" id="13"/>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txBody>
            <a:bodyPr/>
            <a:p/>
          </p:txBody>
        </p:sp>
        <p:sp>
          <p:nvSpPr>
            <p:cNvPr name="TextBox 14" id="14"/>
            <p:cNvSpPr txBox="true"/>
            <p:nvPr/>
          </p:nvSpPr>
          <p:spPr>
            <a:xfrm>
              <a:off x="0" y="-47625"/>
              <a:ext cx="9753600" cy="827913"/>
            </a:xfrm>
            <a:prstGeom prst="rect">
              <a:avLst/>
            </a:prstGeom>
          </p:spPr>
          <p:txBody>
            <a:bodyPr anchor="ctr" rtlCol="false" tIns="0" lIns="0" bIns="0" rIns="0"/>
            <a:lstStyle/>
            <a:p>
              <a:pPr algn="l">
                <a:lnSpc>
                  <a:spcPts val="3359"/>
                </a:lnSpc>
              </a:pPr>
              <a:r>
                <a:t>FastAPI (Python 3.12)</a:t>
              </a:r>
            </a:p>
          </p:txBody>
        </p:sp>
      </p:grpSp>
      <p:grpSp>
        <p:nvGrpSpPr>
          <p:cNvPr name="Group 15" id="15"/>
          <p:cNvGrpSpPr/>
          <p:nvPr/>
        </p:nvGrpSpPr>
        <p:grpSpPr>
          <a:xfrm rot="0">
            <a:off x="2743200" y="2944368"/>
            <a:ext cx="13898880" cy="548640"/>
            <a:chOff x="0" y="0"/>
            <a:chExt cx="18531840" cy="731520"/>
          </a:xfrm>
        </p:grpSpPr>
        <p:sp>
          <p:nvSpPr>
            <p:cNvPr name="Freeform 16" id="16"/>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17" id="17"/>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Async · Swagger auto · Pydantic</a:t>
              </a:r>
            </a:p>
          </p:txBody>
        </p:sp>
      </p:grpSp>
      <p:grpSp>
        <p:nvGrpSpPr>
          <p:cNvPr name="Group 18" id="18"/>
          <p:cNvGrpSpPr/>
          <p:nvPr/>
        </p:nvGrpSpPr>
        <p:grpSpPr>
          <a:xfrm rot="0">
            <a:off x="1084583" y="3699767"/>
            <a:ext cx="16118843" cy="1268987"/>
            <a:chOff x="0" y="0"/>
            <a:chExt cx="21491791" cy="1691983"/>
          </a:xfrm>
        </p:grpSpPr>
        <p:sp>
          <p:nvSpPr>
            <p:cNvPr name="Freeform 19" id="19"/>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20" id="20"/>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21" id="21"/>
          <p:cNvGrpSpPr/>
          <p:nvPr/>
        </p:nvGrpSpPr>
        <p:grpSpPr>
          <a:xfrm rot="0">
            <a:off x="1554480" y="3986784"/>
            <a:ext cx="731520" cy="731520"/>
            <a:chOff x="0" y="0"/>
            <a:chExt cx="975360" cy="975360"/>
          </a:xfrm>
        </p:grpSpPr>
        <p:sp>
          <p:nvSpPr>
            <p:cNvPr name="Freeform 22" id="22"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2743200" y="3858768"/>
            <a:ext cx="7315200" cy="585216"/>
            <a:chOff x="0" y="0"/>
            <a:chExt cx="9753600" cy="780288"/>
          </a:xfrm>
        </p:grpSpPr>
        <p:sp>
          <p:nvSpPr>
            <p:cNvPr name="Freeform 24" id="24"/>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txBody>
            <a:bodyPr/>
            <a:p/>
          </p:txBody>
        </p:sp>
        <p:sp>
          <p:nvSpPr>
            <p:cNvPr name="TextBox 25" id="25"/>
            <p:cNvSpPr txBox="true"/>
            <p:nvPr/>
          </p:nvSpPr>
          <p:spPr>
            <a:xfrm>
              <a:off x="0" y="-47625"/>
              <a:ext cx="97536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PostgreSQL 15</a:t>
              </a:r>
            </a:p>
          </p:txBody>
        </p:sp>
      </p:grpSp>
      <p:grpSp>
        <p:nvGrpSpPr>
          <p:cNvPr name="Group 26" id="26"/>
          <p:cNvGrpSpPr/>
          <p:nvPr/>
        </p:nvGrpSpPr>
        <p:grpSpPr>
          <a:xfrm rot="0">
            <a:off x="2743200" y="4370832"/>
            <a:ext cx="13898880" cy="548640"/>
            <a:chOff x="0" y="0"/>
            <a:chExt cx="18531840" cy="731520"/>
          </a:xfrm>
        </p:grpSpPr>
        <p:sp>
          <p:nvSpPr>
            <p:cNvPr name="Freeform 27" id="27"/>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28" id="28"/>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Données relationnelles · Migrations Alembic</a:t>
              </a:r>
            </a:p>
          </p:txBody>
        </p:sp>
      </p:grpSp>
      <p:grpSp>
        <p:nvGrpSpPr>
          <p:cNvPr name="Group 29" id="29"/>
          <p:cNvGrpSpPr/>
          <p:nvPr/>
        </p:nvGrpSpPr>
        <p:grpSpPr>
          <a:xfrm rot="0">
            <a:off x="1084583" y="5126231"/>
            <a:ext cx="16118843" cy="1268987"/>
            <a:chOff x="0" y="0"/>
            <a:chExt cx="21491791" cy="1691983"/>
          </a:xfrm>
        </p:grpSpPr>
        <p:sp>
          <p:nvSpPr>
            <p:cNvPr name="Freeform 30" id="30"/>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31" id="31"/>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32" id="32"/>
          <p:cNvGrpSpPr/>
          <p:nvPr/>
        </p:nvGrpSpPr>
        <p:grpSpPr>
          <a:xfrm rot="0">
            <a:off x="1554480" y="5413248"/>
            <a:ext cx="731520" cy="731520"/>
            <a:chOff x="0" y="0"/>
            <a:chExt cx="975360" cy="975360"/>
          </a:xfrm>
        </p:grpSpPr>
        <p:sp>
          <p:nvSpPr>
            <p:cNvPr name="Freeform 33" id="33"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2743200" y="5285232"/>
            <a:ext cx="7315200" cy="585216"/>
            <a:chOff x="0" y="0"/>
            <a:chExt cx="9753600" cy="780288"/>
          </a:xfrm>
        </p:grpSpPr>
        <p:sp>
          <p:nvSpPr>
            <p:cNvPr name="Freeform 35" id="35"/>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txBody>
            <a:bodyPr/>
            <a:p/>
          </p:txBody>
        </p:sp>
        <p:sp>
          <p:nvSpPr>
            <p:cNvPr name="TextBox 36" id="36"/>
            <p:cNvSpPr txBox="true"/>
            <p:nvPr/>
          </p:nvSpPr>
          <p:spPr>
            <a:xfrm>
              <a:off x="0" y="-47625"/>
              <a:ext cx="97536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Redis 7</a:t>
              </a:r>
            </a:p>
          </p:txBody>
        </p:sp>
      </p:grpSp>
      <p:grpSp>
        <p:nvGrpSpPr>
          <p:cNvPr name="Group 37" id="37"/>
          <p:cNvGrpSpPr/>
          <p:nvPr/>
        </p:nvGrpSpPr>
        <p:grpSpPr>
          <a:xfrm rot="0">
            <a:off x="2743200" y="5797296"/>
            <a:ext cx="13898880" cy="548640"/>
            <a:chOff x="0" y="0"/>
            <a:chExt cx="18531840" cy="731520"/>
          </a:xfrm>
        </p:grpSpPr>
        <p:sp>
          <p:nvSpPr>
            <p:cNvPr name="Freeform 38" id="38"/>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39" id="39"/>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Cache 2 niveaux (exact + sémantique)</a:t>
              </a:r>
            </a:p>
          </p:txBody>
        </p:sp>
      </p:grpSp>
      <p:grpSp>
        <p:nvGrpSpPr>
          <p:cNvPr name="Group 40" id="40"/>
          <p:cNvGrpSpPr/>
          <p:nvPr/>
        </p:nvGrpSpPr>
        <p:grpSpPr>
          <a:xfrm rot="0">
            <a:off x="1084583" y="6552695"/>
            <a:ext cx="16118843" cy="1268987"/>
            <a:chOff x="0" y="0"/>
            <a:chExt cx="21491791" cy="1691983"/>
          </a:xfrm>
        </p:grpSpPr>
        <p:sp>
          <p:nvSpPr>
            <p:cNvPr name="Freeform 41" id="41"/>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42" id="42"/>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43" id="43"/>
          <p:cNvGrpSpPr/>
          <p:nvPr/>
        </p:nvGrpSpPr>
        <p:grpSpPr>
          <a:xfrm rot="0">
            <a:off x="1554480" y="6839712"/>
            <a:ext cx="731520" cy="731520"/>
            <a:chOff x="0" y="0"/>
            <a:chExt cx="975360" cy="975360"/>
          </a:xfrm>
        </p:grpSpPr>
        <p:sp>
          <p:nvSpPr>
            <p:cNvPr name="Freeform 44" id="44"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txBody>
            <a:bodyPr/>
            <a:p/>
          </p:txBody>
        </p:sp>
      </p:grpSp>
      <p:grpSp>
        <p:nvGrpSpPr>
          <p:cNvPr name="Group 45" id="45"/>
          <p:cNvGrpSpPr/>
          <p:nvPr/>
        </p:nvGrpSpPr>
        <p:grpSpPr>
          <a:xfrm rot="0">
            <a:off x="2743200" y="6711696"/>
            <a:ext cx="7315200" cy="585216"/>
            <a:chOff x="0" y="0"/>
            <a:chExt cx="9753600" cy="780288"/>
          </a:xfrm>
        </p:grpSpPr>
        <p:sp>
          <p:nvSpPr>
            <p:cNvPr name="Freeform 46" id="46"/>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txBody>
            <a:bodyPr/>
            <a:p/>
          </p:txBody>
        </p:sp>
        <p:sp>
          <p:nvSpPr>
            <p:cNvPr name="TextBox 47" id="47"/>
            <p:cNvSpPr txBox="true"/>
            <p:nvPr/>
          </p:nvSpPr>
          <p:spPr>
            <a:xfrm>
              <a:off x="0" y="-47625"/>
              <a:ext cx="97536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Qdrant 1.17</a:t>
              </a:r>
            </a:p>
          </p:txBody>
        </p:sp>
      </p:grpSp>
      <p:grpSp>
        <p:nvGrpSpPr>
          <p:cNvPr name="Group 48" id="48"/>
          <p:cNvGrpSpPr/>
          <p:nvPr/>
        </p:nvGrpSpPr>
        <p:grpSpPr>
          <a:xfrm rot="0">
            <a:off x="2743200" y="7223760"/>
            <a:ext cx="13898880" cy="548640"/>
            <a:chOff x="0" y="0"/>
            <a:chExt cx="18531840" cy="731520"/>
          </a:xfrm>
        </p:grpSpPr>
        <p:sp>
          <p:nvSpPr>
            <p:cNvPr name="Freeform 49" id="49"/>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50" id="50"/>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Recherche vectorielle (FastEmbed · 384 dim.)</a:t>
              </a:r>
            </a:p>
          </p:txBody>
        </p:sp>
      </p:grpSp>
      <p:grpSp>
        <p:nvGrpSpPr>
          <p:cNvPr name="Group 51" id="51"/>
          <p:cNvGrpSpPr/>
          <p:nvPr/>
        </p:nvGrpSpPr>
        <p:grpSpPr>
          <a:xfrm rot="0">
            <a:off x="1084583" y="7979159"/>
            <a:ext cx="16118843" cy="1268987"/>
            <a:chOff x="0" y="0"/>
            <a:chExt cx="21491791" cy="1691983"/>
          </a:xfrm>
        </p:grpSpPr>
        <p:sp>
          <p:nvSpPr>
            <p:cNvPr name="Freeform 52" id="52"/>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53" id="53"/>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54" id="54"/>
          <p:cNvGrpSpPr/>
          <p:nvPr/>
        </p:nvGrpSpPr>
        <p:grpSpPr>
          <a:xfrm rot="0">
            <a:off x="1554480" y="8266176"/>
            <a:ext cx="731520" cy="731520"/>
            <a:chOff x="0" y="0"/>
            <a:chExt cx="975360" cy="975360"/>
          </a:xfrm>
        </p:grpSpPr>
        <p:sp>
          <p:nvSpPr>
            <p:cNvPr name="Freeform 55" id="55"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8"/>
              <a:stretch>
                <a:fillRect l="0" t="0" r="0" b="0"/>
              </a:stretch>
            </a:blipFill>
          </p:spPr>
          <p:txBody>
            <a:bodyPr/>
            <a:p/>
          </p:txBody>
        </p:sp>
      </p:grpSp>
      <p:grpSp>
        <p:nvGrpSpPr>
          <p:cNvPr name="Group 56" id="56"/>
          <p:cNvGrpSpPr/>
          <p:nvPr/>
        </p:nvGrpSpPr>
        <p:grpSpPr>
          <a:xfrm rot="0">
            <a:off x="2743200" y="8138160"/>
            <a:ext cx="7315200" cy="585216"/>
            <a:chOff x="0" y="0"/>
            <a:chExt cx="9753600" cy="780288"/>
          </a:xfrm>
        </p:grpSpPr>
        <p:sp>
          <p:nvSpPr>
            <p:cNvPr name="Freeform 57" id="57"/>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txBody>
            <a:bodyPr/>
            <a:p/>
          </p:txBody>
        </p:sp>
        <p:sp>
          <p:nvSpPr>
            <p:cNvPr name="TextBox 58" id="58"/>
            <p:cNvSpPr txBox="true"/>
            <p:nvPr/>
          </p:nvSpPr>
          <p:spPr>
            <a:xfrm>
              <a:off x="0" y="-47625"/>
              <a:ext cx="97536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Groq Cloud — LLaMA 3.3-70B</a:t>
              </a:r>
            </a:p>
          </p:txBody>
        </p:sp>
      </p:grpSp>
      <p:grpSp>
        <p:nvGrpSpPr>
          <p:cNvPr name="Group 59" id="59"/>
          <p:cNvGrpSpPr/>
          <p:nvPr/>
        </p:nvGrpSpPr>
        <p:grpSpPr>
          <a:xfrm rot="0">
            <a:off x="2743200" y="8650224"/>
            <a:ext cx="13898880" cy="548640"/>
            <a:chOff x="0" y="0"/>
            <a:chExt cx="18531840" cy="731520"/>
          </a:xfrm>
        </p:grpSpPr>
        <p:sp>
          <p:nvSpPr>
            <p:cNvPr name="Freeform 60" id="60"/>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61" id="61"/>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LLM en streaming SSE rapide</a:t>
              </a:r>
            </a:p>
          </p:txBody>
        </p:sp>
      </p:grpSp>
      <p:sp>
        <p:nvSpPr>
          <p:cNvPr name="TextBox 62" id="6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Le projet en chiffres</a:t>
              </a:r>
            </a:p>
          </p:txBody>
        </p:sp>
      </p:grpSp>
      <p:grpSp>
        <p:nvGrpSpPr>
          <p:cNvPr name="Group 7" id="7"/>
          <p:cNvGrpSpPr/>
          <p:nvPr/>
        </p:nvGrpSpPr>
        <p:grpSpPr>
          <a:xfrm rot="0">
            <a:off x="901703" y="2456183"/>
            <a:ext cx="5328923" cy="3225803"/>
            <a:chOff x="0" y="0"/>
            <a:chExt cx="7105231" cy="4301071"/>
          </a:xfrm>
        </p:grpSpPr>
        <p:sp>
          <p:nvSpPr>
            <p:cNvPr name="Freeform 8" id="8"/>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9" id="9"/>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10" id="10"/>
          <p:cNvGrpSpPr/>
          <p:nvPr/>
        </p:nvGrpSpPr>
        <p:grpSpPr>
          <a:xfrm rot="0">
            <a:off x="914400" y="2468880"/>
            <a:ext cx="5303520" cy="182880"/>
            <a:chOff x="0" y="0"/>
            <a:chExt cx="7071360" cy="243840"/>
          </a:xfrm>
        </p:grpSpPr>
        <p:sp>
          <p:nvSpPr>
            <p:cNvPr name="Freeform 11" id="11"/>
            <p:cNvSpPr/>
            <p:nvPr/>
          </p:nvSpPr>
          <p:spPr>
            <a:xfrm flipH="false" flipV="false" rot="0">
              <a:off x="0" y="0"/>
              <a:ext cx="7071360" cy="243840"/>
            </a:xfrm>
            <a:custGeom>
              <a:avLst/>
              <a:gdLst/>
              <a:ahLst/>
              <a:cxnLst/>
              <a:rect r="r" b="b" t="t" l="l"/>
              <a:pathLst>
                <a:path h="243840" w="7071360">
                  <a:moveTo>
                    <a:pt x="0" y="0"/>
                  </a:moveTo>
                  <a:lnTo>
                    <a:pt x="7071360" y="0"/>
                  </a:lnTo>
                  <a:lnTo>
                    <a:pt x="7071360" y="243840"/>
                  </a:lnTo>
                  <a:lnTo>
                    <a:pt x="0" y="243840"/>
                  </a:lnTo>
                  <a:close/>
                </a:path>
              </a:pathLst>
            </a:custGeom>
            <a:solidFill>
              <a:srgbClr val="2563EB"/>
            </a:solidFill>
          </p:spPr>
          <p:txBody>
            <a:bodyPr/>
            <a:p/>
          </p:txBody>
        </p:sp>
      </p:grpSp>
      <p:grpSp>
        <p:nvGrpSpPr>
          <p:cNvPr name="Group 12" id="12"/>
          <p:cNvGrpSpPr/>
          <p:nvPr/>
        </p:nvGrpSpPr>
        <p:grpSpPr>
          <a:xfrm rot="0">
            <a:off x="1097280" y="2926080"/>
            <a:ext cx="4937760" cy="1371600"/>
            <a:chOff x="0" y="0"/>
            <a:chExt cx="6583680" cy="1828800"/>
          </a:xfrm>
        </p:grpSpPr>
        <p:sp>
          <p:nvSpPr>
            <p:cNvPr name="Freeform 13" id="13"/>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txBody>
            <a:bodyPr/>
            <a:p/>
          </p:txBody>
        </p:sp>
        <p:sp>
          <p:nvSpPr>
            <p:cNvPr name="TextBox 14" id="14"/>
            <p:cNvSpPr txBox="true"/>
            <p:nvPr/>
          </p:nvSpPr>
          <p:spPr>
            <a:xfrm>
              <a:off x="0" y="-152400"/>
              <a:ext cx="6583680" cy="1981200"/>
            </a:xfrm>
            <a:prstGeom prst="rect">
              <a:avLst/>
            </a:prstGeom>
          </p:spPr>
          <p:txBody>
            <a:bodyPr anchor="ctr" rtlCol="false" tIns="0" lIns="0" bIns="0" rIns="0"/>
            <a:lstStyle/>
            <a:p>
              <a:pPr algn="ctr">
                <a:lnSpc>
                  <a:spcPts val="9120"/>
                </a:lnSpc>
              </a:pPr>
              <a:r>
                <a:rPr lang="en-US" sz="7600" b="true">
                  <a:solidFill>
                    <a:srgbClr val="2563EB"/>
                  </a:solidFill>
                  <a:latin typeface="Calibri (MS) Bold"/>
                  <a:ea typeface="Calibri (MS) Bold"/>
                  <a:cs typeface="Calibri (MS) Bold"/>
                  <a:sym typeface="Calibri (MS) Bold"/>
                </a:rPr>
                <a:t>6 000+</a:t>
              </a:r>
            </a:p>
          </p:txBody>
        </p:sp>
      </p:grpSp>
      <p:grpSp>
        <p:nvGrpSpPr>
          <p:cNvPr name="Group 15" id="15"/>
          <p:cNvGrpSpPr/>
          <p:nvPr/>
        </p:nvGrpSpPr>
        <p:grpSpPr>
          <a:xfrm rot="0">
            <a:off x="1097280" y="4389120"/>
            <a:ext cx="4937760" cy="585216"/>
            <a:chOff x="0" y="0"/>
            <a:chExt cx="6583680" cy="780288"/>
          </a:xfrm>
        </p:grpSpPr>
        <p:sp>
          <p:nvSpPr>
            <p:cNvPr name="Freeform 16" id="16"/>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17" id="17"/>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293B"/>
                  </a:solidFill>
                  <a:latin typeface="Calibri (MS) Bold"/>
                  <a:ea typeface="Calibri (MS) Bold"/>
                  <a:cs typeface="Calibri (MS) Bold"/>
                  <a:sym typeface="Calibri (MS) Bold"/>
                </a:rPr>
                <a:t>Lignes de code</a:t>
              </a:r>
            </a:p>
          </p:txBody>
        </p:sp>
      </p:grpSp>
      <p:grpSp>
        <p:nvGrpSpPr>
          <p:cNvPr name="Group 18" id="18"/>
          <p:cNvGrpSpPr/>
          <p:nvPr/>
        </p:nvGrpSpPr>
        <p:grpSpPr>
          <a:xfrm rot="0">
            <a:off x="1097280" y="4992624"/>
            <a:ext cx="4937760" cy="548640"/>
            <a:chOff x="0" y="0"/>
            <a:chExt cx="6583680" cy="731520"/>
          </a:xfrm>
        </p:grpSpPr>
        <p:sp>
          <p:nvSpPr>
            <p:cNvPr name="Freeform 19" id="19"/>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txBody>
            <a:bodyPr/>
            <a:p/>
          </p:txBody>
        </p:sp>
        <p:sp>
          <p:nvSpPr>
            <p:cNvPr name="TextBox 20" id="20"/>
            <p:cNvSpPr txBox="true"/>
            <p:nvPr/>
          </p:nvSpPr>
          <p:spPr>
            <a:xfrm>
              <a:off x="0" y="-47625"/>
              <a:ext cx="6583680" cy="779145"/>
            </a:xfrm>
            <a:prstGeom prst="rect">
              <a:avLst/>
            </a:prstGeom>
          </p:spPr>
          <p:txBody>
            <a:bodyPr anchor="ctr" rtlCol="false" tIns="0" lIns="0" bIns="0" rIns="0"/>
            <a:lstStyle/>
            <a:p>
              <a:pPr algn="ctr">
                <a:lnSpc>
                  <a:spcPts val="2520"/>
                </a:lnSpc>
              </a:pPr>
              <a:r>
                <a:rPr lang="en-US" sz="2100">
                  <a:solidFill>
                    <a:srgbClr val="64748B"/>
                  </a:solidFill>
                  <a:latin typeface="Calibri (MS)"/>
                  <a:ea typeface="Calibri (MS)"/>
                  <a:cs typeface="Calibri (MS)"/>
                  <a:sym typeface="Calibri (MS)"/>
                </a:rPr>
                <a:t>Python + TypeScript</a:t>
              </a:r>
            </a:p>
          </p:txBody>
        </p:sp>
      </p:grpSp>
      <p:grpSp>
        <p:nvGrpSpPr>
          <p:cNvPr name="Group 21" id="21"/>
          <p:cNvGrpSpPr/>
          <p:nvPr/>
        </p:nvGrpSpPr>
        <p:grpSpPr>
          <a:xfrm rot="0">
            <a:off x="6479543" y="2456183"/>
            <a:ext cx="5328923" cy="3225803"/>
            <a:chOff x="0" y="0"/>
            <a:chExt cx="7105231" cy="4301071"/>
          </a:xfrm>
        </p:grpSpPr>
        <p:sp>
          <p:nvSpPr>
            <p:cNvPr name="Freeform 22" id="22"/>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23" id="23"/>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24" id="24"/>
          <p:cNvGrpSpPr/>
          <p:nvPr/>
        </p:nvGrpSpPr>
        <p:grpSpPr>
          <a:xfrm rot="0">
            <a:off x="6492240" y="2468880"/>
            <a:ext cx="5303520" cy="182880"/>
            <a:chOff x="0" y="0"/>
            <a:chExt cx="7071360" cy="243840"/>
          </a:xfrm>
        </p:grpSpPr>
        <p:sp>
          <p:nvSpPr>
            <p:cNvPr name="Freeform 25" id="25"/>
            <p:cNvSpPr/>
            <p:nvPr/>
          </p:nvSpPr>
          <p:spPr>
            <a:xfrm flipH="false" flipV="false" rot="0">
              <a:off x="0" y="0"/>
              <a:ext cx="7071360" cy="243840"/>
            </a:xfrm>
            <a:custGeom>
              <a:avLst/>
              <a:gdLst/>
              <a:ahLst/>
              <a:cxnLst/>
              <a:rect r="r" b="b" t="t" l="l"/>
              <a:pathLst>
                <a:path h="243840" w="7071360">
                  <a:moveTo>
                    <a:pt x="0" y="0"/>
                  </a:moveTo>
                  <a:lnTo>
                    <a:pt x="7071360" y="0"/>
                  </a:lnTo>
                  <a:lnTo>
                    <a:pt x="7071360" y="243840"/>
                  </a:lnTo>
                  <a:lnTo>
                    <a:pt x="0" y="243840"/>
                  </a:lnTo>
                  <a:close/>
                </a:path>
              </a:pathLst>
            </a:custGeom>
            <a:solidFill>
              <a:srgbClr val="06B6D4"/>
            </a:solidFill>
          </p:spPr>
          <p:txBody>
            <a:bodyPr/>
            <a:p/>
          </p:txBody>
        </p:sp>
      </p:grpSp>
      <p:grpSp>
        <p:nvGrpSpPr>
          <p:cNvPr name="Group 26" id="26"/>
          <p:cNvGrpSpPr/>
          <p:nvPr/>
        </p:nvGrpSpPr>
        <p:grpSpPr>
          <a:xfrm rot="0">
            <a:off x="6675120" y="2926080"/>
            <a:ext cx="4937760" cy="1371600"/>
            <a:chOff x="0" y="0"/>
            <a:chExt cx="6583680" cy="1828800"/>
          </a:xfrm>
        </p:grpSpPr>
        <p:sp>
          <p:nvSpPr>
            <p:cNvPr name="Freeform 27" id="27"/>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txBody>
            <a:bodyPr/>
            <a:p/>
          </p:txBody>
        </p:sp>
        <p:sp>
          <p:nvSpPr>
            <p:cNvPr name="TextBox 28" id="28"/>
            <p:cNvSpPr txBox="true"/>
            <p:nvPr/>
          </p:nvSpPr>
          <p:spPr>
            <a:xfrm>
              <a:off x="0" y="-152400"/>
              <a:ext cx="6583680" cy="1981200"/>
            </a:xfrm>
            <a:prstGeom prst="rect">
              <a:avLst/>
            </a:prstGeom>
          </p:spPr>
          <p:txBody>
            <a:bodyPr anchor="ctr" rtlCol="false" tIns="0" lIns="0" bIns="0" rIns="0"/>
            <a:lstStyle/>
            <a:p>
              <a:pPr algn="ctr">
                <a:lnSpc>
                  <a:spcPts val="9120"/>
                </a:lnSpc>
              </a:pPr>
              <a:r>
                <a:rPr lang="en-US" sz="7600" b="true">
                  <a:solidFill>
                    <a:srgbClr val="06B6D4"/>
                  </a:solidFill>
                  <a:latin typeface="Calibri (MS) Bold"/>
                  <a:ea typeface="Calibri (MS) Bold"/>
                  <a:cs typeface="Calibri (MS) Bold"/>
                  <a:sym typeface="Calibri (MS) Bold"/>
                </a:rPr>
                <a:t>30+</a:t>
              </a:r>
            </a:p>
          </p:txBody>
        </p:sp>
      </p:grpSp>
      <p:grpSp>
        <p:nvGrpSpPr>
          <p:cNvPr name="Group 29" id="29"/>
          <p:cNvGrpSpPr/>
          <p:nvPr/>
        </p:nvGrpSpPr>
        <p:grpSpPr>
          <a:xfrm rot="0">
            <a:off x="6675120" y="4389120"/>
            <a:ext cx="4937760" cy="585216"/>
            <a:chOff x="0" y="0"/>
            <a:chExt cx="6583680" cy="780288"/>
          </a:xfrm>
        </p:grpSpPr>
        <p:sp>
          <p:nvSpPr>
            <p:cNvPr name="Freeform 30" id="30"/>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31" id="31"/>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293B"/>
                  </a:solidFill>
                  <a:latin typeface="Calibri (MS) Bold"/>
                  <a:ea typeface="Calibri (MS) Bold"/>
                  <a:cs typeface="Calibri (MS) Bold"/>
                  <a:sym typeface="Calibri (MS) Bold"/>
                </a:rPr>
                <a:t>Endpoints API</a:t>
              </a:r>
            </a:p>
          </p:txBody>
        </p:sp>
      </p:grpSp>
      <p:grpSp>
        <p:nvGrpSpPr>
          <p:cNvPr name="Group 32" id="32"/>
          <p:cNvGrpSpPr/>
          <p:nvPr/>
        </p:nvGrpSpPr>
        <p:grpSpPr>
          <a:xfrm rot="0">
            <a:off x="6675120" y="4992624"/>
            <a:ext cx="4937760" cy="548640"/>
            <a:chOff x="0" y="0"/>
            <a:chExt cx="6583680" cy="731520"/>
          </a:xfrm>
        </p:grpSpPr>
        <p:sp>
          <p:nvSpPr>
            <p:cNvPr name="Freeform 33" id="33"/>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txBody>
            <a:bodyPr/>
            <a:p/>
          </p:txBody>
        </p:sp>
        <p:sp>
          <p:nvSpPr>
            <p:cNvPr name="TextBox 34" id="34"/>
            <p:cNvSpPr txBox="true"/>
            <p:nvPr/>
          </p:nvSpPr>
          <p:spPr>
            <a:xfrm>
              <a:off x="0" y="-47625"/>
              <a:ext cx="6583680" cy="779145"/>
            </a:xfrm>
            <a:prstGeom prst="rect">
              <a:avLst/>
            </a:prstGeom>
          </p:spPr>
          <p:txBody>
            <a:bodyPr anchor="ctr" rtlCol="false" tIns="0" lIns="0" bIns="0" rIns="0"/>
            <a:lstStyle/>
            <a:p>
              <a:pPr algn="ctr">
                <a:lnSpc>
                  <a:spcPts val="2520"/>
                </a:lnSpc>
              </a:pPr>
              <a:r>
                <a:rPr lang="en-US" sz="2100">
                  <a:solidFill>
                    <a:srgbClr val="64748B"/>
                  </a:solidFill>
                  <a:latin typeface="Calibri (MS)"/>
                  <a:ea typeface="Calibri (MS)"/>
                  <a:cs typeface="Calibri (MS)"/>
                  <a:sym typeface="Calibri (MS)"/>
                </a:rPr>
                <a:t>REST documentés Swagger</a:t>
              </a:r>
            </a:p>
          </p:txBody>
        </p:sp>
      </p:grpSp>
      <p:grpSp>
        <p:nvGrpSpPr>
          <p:cNvPr name="Group 35" id="35"/>
          <p:cNvGrpSpPr/>
          <p:nvPr/>
        </p:nvGrpSpPr>
        <p:grpSpPr>
          <a:xfrm rot="0">
            <a:off x="12057383" y="2456183"/>
            <a:ext cx="5328923" cy="3225803"/>
            <a:chOff x="0" y="0"/>
            <a:chExt cx="7105231" cy="4301071"/>
          </a:xfrm>
        </p:grpSpPr>
        <p:sp>
          <p:nvSpPr>
            <p:cNvPr name="Freeform 36" id="36"/>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37" id="37"/>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38" id="38"/>
          <p:cNvGrpSpPr/>
          <p:nvPr/>
        </p:nvGrpSpPr>
        <p:grpSpPr>
          <a:xfrm rot="0">
            <a:off x="12070080" y="2468880"/>
            <a:ext cx="5303520" cy="182880"/>
            <a:chOff x="0" y="0"/>
            <a:chExt cx="7071360" cy="243840"/>
          </a:xfrm>
        </p:grpSpPr>
        <p:sp>
          <p:nvSpPr>
            <p:cNvPr name="Freeform 39" id="39"/>
            <p:cNvSpPr/>
            <p:nvPr/>
          </p:nvSpPr>
          <p:spPr>
            <a:xfrm flipH="false" flipV="false" rot="0">
              <a:off x="0" y="0"/>
              <a:ext cx="7071360" cy="243840"/>
            </a:xfrm>
            <a:custGeom>
              <a:avLst/>
              <a:gdLst/>
              <a:ahLst/>
              <a:cxnLst/>
              <a:rect r="r" b="b" t="t" l="l"/>
              <a:pathLst>
                <a:path h="243840" w="7071360">
                  <a:moveTo>
                    <a:pt x="0" y="0"/>
                  </a:moveTo>
                  <a:lnTo>
                    <a:pt x="7071360" y="0"/>
                  </a:lnTo>
                  <a:lnTo>
                    <a:pt x="7071360" y="243840"/>
                  </a:lnTo>
                  <a:lnTo>
                    <a:pt x="0" y="243840"/>
                  </a:lnTo>
                  <a:close/>
                </a:path>
              </a:pathLst>
            </a:custGeom>
            <a:solidFill>
              <a:srgbClr val="0F766E"/>
            </a:solidFill>
          </p:spPr>
          <p:txBody>
            <a:bodyPr/>
            <a:p/>
          </p:txBody>
        </p:sp>
      </p:grpSp>
      <p:grpSp>
        <p:nvGrpSpPr>
          <p:cNvPr name="Group 40" id="40"/>
          <p:cNvGrpSpPr/>
          <p:nvPr/>
        </p:nvGrpSpPr>
        <p:grpSpPr>
          <a:xfrm rot="0">
            <a:off x="12252960" y="2926080"/>
            <a:ext cx="4937760" cy="1371600"/>
            <a:chOff x="0" y="0"/>
            <a:chExt cx="6583680" cy="1828800"/>
          </a:xfrm>
        </p:grpSpPr>
        <p:sp>
          <p:nvSpPr>
            <p:cNvPr name="Freeform 41" id="41"/>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txBody>
            <a:bodyPr/>
            <a:p/>
          </p:txBody>
        </p:sp>
        <p:sp>
          <p:nvSpPr>
            <p:cNvPr name="TextBox 42" id="42"/>
            <p:cNvSpPr txBox="true"/>
            <p:nvPr/>
          </p:nvSpPr>
          <p:spPr>
            <a:xfrm>
              <a:off x="0" y="-152400"/>
              <a:ext cx="6583680" cy="1981200"/>
            </a:xfrm>
            <a:prstGeom prst="rect">
              <a:avLst/>
            </a:prstGeom>
          </p:spPr>
          <p:txBody>
            <a:bodyPr anchor="ctr" rtlCol="false" tIns="0" lIns="0" bIns="0" rIns="0"/>
            <a:lstStyle/>
            <a:p>
              <a:pPr algn="ctr">
                <a:lnSpc>
                  <a:spcPts val="9120"/>
                </a:lnSpc>
              </a:pPr>
              <a:r>
                <a:rPr lang="en-US" sz="7600" b="true">
                  <a:solidFill>
                    <a:srgbClr val="0F766E"/>
                  </a:solidFill>
                  <a:latin typeface="Calibri (MS) Bold"/>
                  <a:ea typeface="Calibri (MS) Bold"/>
                  <a:cs typeface="Calibri (MS) Bold"/>
                  <a:sym typeface="Calibri (MS) Bold"/>
                </a:rPr>
                <a:t>9</a:t>
              </a:r>
            </a:p>
          </p:txBody>
        </p:sp>
      </p:grpSp>
      <p:grpSp>
        <p:nvGrpSpPr>
          <p:cNvPr name="Group 43" id="43"/>
          <p:cNvGrpSpPr/>
          <p:nvPr/>
        </p:nvGrpSpPr>
        <p:grpSpPr>
          <a:xfrm rot="0">
            <a:off x="12252960" y="4389120"/>
            <a:ext cx="4937760" cy="585216"/>
            <a:chOff x="0" y="0"/>
            <a:chExt cx="6583680" cy="780288"/>
          </a:xfrm>
        </p:grpSpPr>
        <p:sp>
          <p:nvSpPr>
            <p:cNvPr name="Freeform 44" id="44"/>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45" id="45"/>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293B"/>
                  </a:solidFill>
                  <a:latin typeface="Calibri (MS) Bold"/>
                  <a:ea typeface="Calibri (MS) Bold"/>
                  <a:cs typeface="Calibri (MS) Bold"/>
                  <a:sym typeface="Calibri (MS) Bold"/>
                </a:rPr>
                <a:t>Tables PostgreSQL</a:t>
              </a:r>
            </a:p>
          </p:txBody>
        </p:sp>
      </p:grpSp>
      <p:grpSp>
        <p:nvGrpSpPr>
          <p:cNvPr name="Group 46" id="46"/>
          <p:cNvGrpSpPr/>
          <p:nvPr/>
        </p:nvGrpSpPr>
        <p:grpSpPr>
          <a:xfrm rot="0">
            <a:off x="12252960" y="4992624"/>
            <a:ext cx="4937760" cy="548640"/>
            <a:chOff x="0" y="0"/>
            <a:chExt cx="6583680" cy="731520"/>
          </a:xfrm>
        </p:grpSpPr>
        <p:sp>
          <p:nvSpPr>
            <p:cNvPr name="Freeform 47" id="47"/>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txBody>
            <a:bodyPr/>
            <a:p/>
          </p:txBody>
        </p:sp>
        <p:sp>
          <p:nvSpPr>
            <p:cNvPr name="TextBox 48" id="48"/>
            <p:cNvSpPr txBox="true"/>
            <p:nvPr/>
          </p:nvSpPr>
          <p:spPr>
            <a:xfrm>
              <a:off x="0" y="-47625"/>
              <a:ext cx="6583680" cy="779145"/>
            </a:xfrm>
            <a:prstGeom prst="rect">
              <a:avLst/>
            </a:prstGeom>
          </p:spPr>
          <p:txBody>
            <a:bodyPr anchor="ctr" rtlCol="false" tIns="0" lIns="0" bIns="0" rIns="0"/>
            <a:lstStyle/>
            <a:p>
              <a:pPr algn="ctr">
                <a:lnSpc>
                  <a:spcPts val="2520"/>
                </a:lnSpc>
              </a:pPr>
              <a:r>
                <a:rPr lang="en-US" sz="2100">
                  <a:solidFill>
                    <a:srgbClr val="64748B"/>
                  </a:solidFill>
                  <a:latin typeface="Calibri (MS)"/>
                  <a:ea typeface="Calibri (MS)"/>
                  <a:cs typeface="Calibri (MS)"/>
                  <a:sym typeface="Calibri (MS)"/>
                </a:rPr>
                <a:t>Schéma avec migrations</a:t>
              </a:r>
            </a:p>
          </p:txBody>
        </p:sp>
      </p:grpSp>
      <p:grpSp>
        <p:nvGrpSpPr>
          <p:cNvPr name="Group 49" id="49"/>
          <p:cNvGrpSpPr/>
          <p:nvPr/>
        </p:nvGrpSpPr>
        <p:grpSpPr>
          <a:xfrm rot="0">
            <a:off x="901703" y="6022343"/>
            <a:ext cx="5328923" cy="3225803"/>
            <a:chOff x="0" y="0"/>
            <a:chExt cx="7105231" cy="4301071"/>
          </a:xfrm>
        </p:grpSpPr>
        <p:sp>
          <p:nvSpPr>
            <p:cNvPr name="Freeform 50" id="50"/>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51" id="51"/>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52" id="52"/>
          <p:cNvGrpSpPr/>
          <p:nvPr/>
        </p:nvGrpSpPr>
        <p:grpSpPr>
          <a:xfrm rot="0">
            <a:off x="914400" y="6035040"/>
            <a:ext cx="5303520" cy="182880"/>
            <a:chOff x="0" y="0"/>
            <a:chExt cx="7071360" cy="243840"/>
          </a:xfrm>
        </p:grpSpPr>
        <p:sp>
          <p:nvSpPr>
            <p:cNvPr name="Freeform 53" id="53"/>
            <p:cNvSpPr/>
            <p:nvPr/>
          </p:nvSpPr>
          <p:spPr>
            <a:xfrm flipH="false" flipV="false" rot="0">
              <a:off x="0" y="0"/>
              <a:ext cx="7071360" cy="243840"/>
            </a:xfrm>
            <a:custGeom>
              <a:avLst/>
              <a:gdLst/>
              <a:ahLst/>
              <a:cxnLst/>
              <a:rect r="r" b="b" t="t" l="l"/>
              <a:pathLst>
                <a:path h="243840" w="7071360">
                  <a:moveTo>
                    <a:pt x="0" y="0"/>
                  </a:moveTo>
                  <a:lnTo>
                    <a:pt x="7071360" y="0"/>
                  </a:lnTo>
                  <a:lnTo>
                    <a:pt x="7071360" y="243840"/>
                  </a:lnTo>
                  <a:lnTo>
                    <a:pt x="0" y="243840"/>
                  </a:lnTo>
                  <a:close/>
                </a:path>
              </a:pathLst>
            </a:custGeom>
            <a:solidFill>
              <a:srgbClr val="6D28D9"/>
            </a:solidFill>
          </p:spPr>
          <p:txBody>
            <a:bodyPr/>
            <a:p/>
          </p:txBody>
        </p:sp>
      </p:grpSp>
      <p:grpSp>
        <p:nvGrpSpPr>
          <p:cNvPr name="Group 54" id="54"/>
          <p:cNvGrpSpPr/>
          <p:nvPr/>
        </p:nvGrpSpPr>
        <p:grpSpPr>
          <a:xfrm rot="0">
            <a:off x="1097280" y="6492240"/>
            <a:ext cx="4937760" cy="1371600"/>
            <a:chOff x="0" y="0"/>
            <a:chExt cx="6583680" cy="1828800"/>
          </a:xfrm>
        </p:grpSpPr>
        <p:sp>
          <p:nvSpPr>
            <p:cNvPr name="Freeform 55" id="55"/>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txBody>
            <a:bodyPr/>
            <a:p/>
          </p:txBody>
        </p:sp>
        <p:sp>
          <p:nvSpPr>
            <p:cNvPr name="TextBox 56" id="56"/>
            <p:cNvSpPr txBox="true"/>
            <p:nvPr/>
          </p:nvSpPr>
          <p:spPr>
            <a:xfrm>
              <a:off x="0" y="-152400"/>
              <a:ext cx="6583680" cy="1981200"/>
            </a:xfrm>
            <a:prstGeom prst="rect">
              <a:avLst/>
            </a:prstGeom>
          </p:spPr>
          <p:txBody>
            <a:bodyPr anchor="ctr" rtlCol="false" tIns="0" lIns="0" bIns="0" rIns="0"/>
            <a:lstStyle/>
            <a:p>
              <a:r>
                <a:t>127</a:t>
              </a:r>
            </a:p>
          </p:txBody>
        </p:sp>
      </p:grpSp>
      <p:grpSp>
        <p:nvGrpSpPr>
          <p:cNvPr name="Group 57" id="57"/>
          <p:cNvGrpSpPr/>
          <p:nvPr/>
        </p:nvGrpSpPr>
        <p:grpSpPr>
          <a:xfrm rot="0">
            <a:off x="1097280" y="7955280"/>
            <a:ext cx="4937760" cy="585216"/>
            <a:chOff x="0" y="0"/>
            <a:chExt cx="6583680" cy="780288"/>
          </a:xfrm>
        </p:grpSpPr>
        <p:sp>
          <p:nvSpPr>
            <p:cNvPr name="Freeform 58" id="58"/>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59" id="59"/>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293B"/>
                  </a:solidFill>
                  <a:latin typeface="Calibri (MS) Bold"/>
                  <a:ea typeface="Calibri (MS) Bold"/>
                  <a:cs typeface="Calibri (MS) Bold"/>
                  <a:sym typeface="Calibri (MS) Bold"/>
                </a:rPr>
                <a:t>Tests automatisés</a:t>
              </a:r>
            </a:p>
          </p:txBody>
        </p:sp>
      </p:grpSp>
      <p:grpSp>
        <p:nvGrpSpPr>
          <p:cNvPr name="Group 60" id="60"/>
          <p:cNvGrpSpPr/>
          <p:nvPr/>
        </p:nvGrpSpPr>
        <p:grpSpPr>
          <a:xfrm rot="0">
            <a:off x="1097280" y="8558784"/>
            <a:ext cx="4937760" cy="548640"/>
            <a:chOff x="0" y="0"/>
            <a:chExt cx="6583680" cy="731520"/>
          </a:xfrm>
        </p:grpSpPr>
        <p:sp>
          <p:nvSpPr>
            <p:cNvPr name="Freeform 61" id="61"/>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txBody>
            <a:bodyPr/>
            <a:p/>
          </p:txBody>
        </p:sp>
        <p:sp>
          <p:nvSpPr>
            <p:cNvPr name="TextBox 62" id="62"/>
            <p:cNvSpPr txBox="true"/>
            <p:nvPr/>
          </p:nvSpPr>
          <p:spPr>
            <a:xfrm>
              <a:off x="0" y="-47625"/>
              <a:ext cx="6583680" cy="779145"/>
            </a:xfrm>
            <a:prstGeom prst="rect">
              <a:avLst/>
            </a:prstGeom>
          </p:spPr>
          <p:txBody>
            <a:bodyPr anchor="ctr" rtlCol="false" tIns="0" lIns="0" bIns="0" rIns="0"/>
            <a:lstStyle/>
            <a:p>
              <a:pPr algn="ctr">
                <a:lnSpc>
                  <a:spcPts val="2520"/>
                </a:lnSpc>
              </a:pPr>
              <a:r>
                <a:rPr lang="en-US" sz="2100">
                  <a:solidFill>
                    <a:srgbClr val="64748B"/>
                  </a:solidFill>
                  <a:latin typeface="Calibri (MS)"/>
                  <a:ea typeface="Calibri (MS)"/>
                  <a:cs typeface="Calibri (MS)"/>
                  <a:sym typeface="Calibri (MS)"/>
                </a:rPr>
                <a:t>Exécutés en CI/CD</a:t>
              </a:r>
            </a:p>
          </p:txBody>
        </p:sp>
      </p:grpSp>
      <p:grpSp>
        <p:nvGrpSpPr>
          <p:cNvPr name="Group 63" id="63"/>
          <p:cNvGrpSpPr/>
          <p:nvPr/>
        </p:nvGrpSpPr>
        <p:grpSpPr>
          <a:xfrm rot="0">
            <a:off x="6479543" y="6022343"/>
            <a:ext cx="5328923" cy="3225803"/>
            <a:chOff x="0" y="0"/>
            <a:chExt cx="7105231" cy="4301071"/>
          </a:xfrm>
        </p:grpSpPr>
        <p:sp>
          <p:nvSpPr>
            <p:cNvPr name="Freeform 64" id="64"/>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65" id="65"/>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66" id="66"/>
          <p:cNvGrpSpPr/>
          <p:nvPr/>
        </p:nvGrpSpPr>
        <p:grpSpPr>
          <a:xfrm rot="0">
            <a:off x="6492240" y="6035040"/>
            <a:ext cx="5303520" cy="182880"/>
            <a:chOff x="0" y="0"/>
            <a:chExt cx="7071360" cy="243840"/>
          </a:xfrm>
        </p:grpSpPr>
        <p:sp>
          <p:nvSpPr>
            <p:cNvPr name="Freeform 67" id="67"/>
            <p:cNvSpPr/>
            <p:nvPr/>
          </p:nvSpPr>
          <p:spPr>
            <a:xfrm flipH="false" flipV="false" rot="0">
              <a:off x="0" y="0"/>
              <a:ext cx="7071360" cy="243840"/>
            </a:xfrm>
            <a:custGeom>
              <a:avLst/>
              <a:gdLst/>
              <a:ahLst/>
              <a:cxnLst/>
              <a:rect r="r" b="b" t="t" l="l"/>
              <a:pathLst>
                <a:path h="243840" w="7071360">
                  <a:moveTo>
                    <a:pt x="0" y="0"/>
                  </a:moveTo>
                  <a:lnTo>
                    <a:pt x="7071360" y="0"/>
                  </a:lnTo>
                  <a:lnTo>
                    <a:pt x="7071360" y="243840"/>
                  </a:lnTo>
                  <a:lnTo>
                    <a:pt x="0" y="243840"/>
                  </a:lnTo>
                  <a:close/>
                </a:path>
              </a:pathLst>
            </a:custGeom>
            <a:solidFill>
              <a:srgbClr val="DC2626"/>
            </a:solidFill>
          </p:spPr>
          <p:txBody>
            <a:bodyPr/>
            <a:p/>
          </p:txBody>
        </p:sp>
      </p:grpSp>
      <p:grpSp>
        <p:nvGrpSpPr>
          <p:cNvPr name="Group 68" id="68"/>
          <p:cNvGrpSpPr/>
          <p:nvPr/>
        </p:nvGrpSpPr>
        <p:grpSpPr>
          <a:xfrm rot="0">
            <a:off x="6675120" y="6492240"/>
            <a:ext cx="4937760" cy="1371600"/>
            <a:chOff x="0" y="0"/>
            <a:chExt cx="6583680" cy="1828800"/>
          </a:xfrm>
        </p:grpSpPr>
        <p:sp>
          <p:nvSpPr>
            <p:cNvPr name="Freeform 69" id="69"/>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txBody>
            <a:bodyPr/>
            <a:p/>
          </p:txBody>
        </p:sp>
        <p:sp>
          <p:nvSpPr>
            <p:cNvPr name="TextBox 70" id="70"/>
            <p:cNvSpPr txBox="true"/>
            <p:nvPr/>
          </p:nvSpPr>
          <p:spPr>
            <a:xfrm>
              <a:off x="0" y="-152400"/>
              <a:ext cx="6583680" cy="1981200"/>
            </a:xfrm>
            <a:prstGeom prst="rect">
              <a:avLst/>
            </a:prstGeom>
          </p:spPr>
          <p:txBody>
            <a:bodyPr anchor="ctr" rtlCol="false" tIns="0" lIns="0" bIns="0" rIns="0"/>
            <a:lstStyle/>
            <a:p>
              <a:pPr algn="ctr">
                <a:lnSpc>
                  <a:spcPts val="9120"/>
                </a:lnSpc>
              </a:pPr>
              <a:r>
                <a:rPr lang="en-US" sz="7600" b="true">
                  <a:solidFill>
                    <a:srgbClr val="DC2626"/>
                  </a:solidFill>
                  <a:latin typeface="Calibri (MS) Bold"/>
                  <a:ea typeface="Calibri (MS) Bold"/>
                  <a:cs typeface="Calibri (MS) Bold"/>
                  <a:sym typeface="Calibri (MS) Bold"/>
                </a:rPr>
                <a:t>5</a:t>
              </a:r>
            </a:p>
          </p:txBody>
        </p:sp>
      </p:grpSp>
      <p:grpSp>
        <p:nvGrpSpPr>
          <p:cNvPr name="Group 71" id="71"/>
          <p:cNvGrpSpPr/>
          <p:nvPr/>
        </p:nvGrpSpPr>
        <p:grpSpPr>
          <a:xfrm rot="0">
            <a:off x="6675120" y="7955280"/>
            <a:ext cx="4937760" cy="585216"/>
            <a:chOff x="0" y="0"/>
            <a:chExt cx="6583680" cy="780288"/>
          </a:xfrm>
        </p:grpSpPr>
        <p:sp>
          <p:nvSpPr>
            <p:cNvPr name="Freeform 72" id="72"/>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73" id="73"/>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293B"/>
                  </a:solidFill>
                  <a:latin typeface="Calibri (MS) Bold"/>
                  <a:ea typeface="Calibri (MS) Bold"/>
                  <a:cs typeface="Calibri (MS) Bold"/>
                  <a:sym typeface="Calibri (MS) Bold"/>
                </a:rPr>
                <a:t>Services Docker</a:t>
              </a:r>
            </a:p>
          </p:txBody>
        </p:sp>
      </p:grpSp>
      <p:grpSp>
        <p:nvGrpSpPr>
          <p:cNvPr name="Group 74" id="74"/>
          <p:cNvGrpSpPr/>
          <p:nvPr/>
        </p:nvGrpSpPr>
        <p:grpSpPr>
          <a:xfrm rot="0">
            <a:off x="6675120" y="8558784"/>
            <a:ext cx="4937760" cy="548640"/>
            <a:chOff x="0" y="0"/>
            <a:chExt cx="6583680" cy="731520"/>
          </a:xfrm>
        </p:grpSpPr>
        <p:sp>
          <p:nvSpPr>
            <p:cNvPr name="Freeform 75" id="75"/>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txBody>
            <a:bodyPr/>
            <a:p/>
          </p:txBody>
        </p:sp>
        <p:sp>
          <p:nvSpPr>
            <p:cNvPr name="TextBox 76" id="76"/>
            <p:cNvSpPr txBox="true"/>
            <p:nvPr/>
          </p:nvSpPr>
          <p:spPr>
            <a:xfrm>
              <a:off x="0" y="-47625"/>
              <a:ext cx="6583680" cy="779145"/>
            </a:xfrm>
            <a:prstGeom prst="rect">
              <a:avLst/>
            </a:prstGeom>
          </p:spPr>
          <p:txBody>
            <a:bodyPr anchor="ctr" rtlCol="false" tIns="0" lIns="0" bIns="0" rIns="0"/>
            <a:lstStyle/>
            <a:p>
              <a:pPr algn="ctr">
                <a:lnSpc>
                  <a:spcPts val="2520"/>
                </a:lnSpc>
              </a:pPr>
              <a:r>
                <a:rPr lang="en-US" sz="2100">
                  <a:solidFill>
                    <a:srgbClr val="64748B"/>
                  </a:solidFill>
                  <a:latin typeface="Calibri (MS)"/>
                  <a:ea typeface="Calibri (MS)"/>
                  <a:cs typeface="Calibri (MS)"/>
                  <a:sym typeface="Calibri (MS)"/>
                </a:rPr>
                <a:t>Stack reproductible</a:t>
              </a:r>
            </a:p>
          </p:txBody>
        </p:sp>
      </p:grpSp>
      <p:grpSp>
        <p:nvGrpSpPr>
          <p:cNvPr name="Group 77" id="77"/>
          <p:cNvGrpSpPr/>
          <p:nvPr/>
        </p:nvGrpSpPr>
        <p:grpSpPr>
          <a:xfrm rot="0">
            <a:off x="12057383" y="6022343"/>
            <a:ext cx="5328923" cy="3225803"/>
            <a:chOff x="0" y="0"/>
            <a:chExt cx="7105231" cy="4301071"/>
          </a:xfrm>
        </p:grpSpPr>
        <p:sp>
          <p:nvSpPr>
            <p:cNvPr name="Freeform 78" id="78"/>
            <p:cNvSpPr/>
            <p:nvPr/>
          </p:nvSpPr>
          <p:spPr>
            <a:xfrm flipH="false" flipV="false" rot="0">
              <a:off x="16891" y="16891"/>
              <a:ext cx="7071360" cy="4267200"/>
            </a:xfrm>
            <a:custGeom>
              <a:avLst/>
              <a:gdLst/>
              <a:ahLst/>
              <a:cxnLst/>
              <a:rect r="r" b="b" t="t" l="l"/>
              <a:pathLst>
                <a:path h="4267200" w="7071360">
                  <a:moveTo>
                    <a:pt x="0" y="0"/>
                  </a:moveTo>
                  <a:lnTo>
                    <a:pt x="7071360" y="0"/>
                  </a:lnTo>
                  <a:lnTo>
                    <a:pt x="7071360" y="4267200"/>
                  </a:lnTo>
                  <a:lnTo>
                    <a:pt x="0" y="4267200"/>
                  </a:lnTo>
                  <a:close/>
                </a:path>
              </a:pathLst>
            </a:custGeom>
            <a:solidFill>
              <a:srgbClr val="FFFFFF"/>
            </a:solidFill>
          </p:spPr>
          <p:txBody>
            <a:bodyPr/>
            <a:p/>
          </p:txBody>
        </p:sp>
        <p:sp>
          <p:nvSpPr>
            <p:cNvPr name="Freeform 79" id="79"/>
            <p:cNvSpPr/>
            <p:nvPr/>
          </p:nvSpPr>
          <p:spPr>
            <a:xfrm flipH="false" flipV="false" rot="0">
              <a:off x="0" y="0"/>
              <a:ext cx="7105142" cy="4300982"/>
            </a:xfrm>
            <a:custGeom>
              <a:avLst/>
              <a:gdLst/>
              <a:ahLst/>
              <a:cxnLst/>
              <a:rect r="r" b="b" t="t" l="l"/>
              <a:pathLst>
                <a:path h="4300982" w="7105142">
                  <a:moveTo>
                    <a:pt x="16891" y="0"/>
                  </a:moveTo>
                  <a:lnTo>
                    <a:pt x="7088251" y="0"/>
                  </a:lnTo>
                  <a:cubicBezTo>
                    <a:pt x="7097649" y="0"/>
                    <a:pt x="7105142" y="7620"/>
                    <a:pt x="7105142" y="16891"/>
                  </a:cubicBezTo>
                  <a:lnTo>
                    <a:pt x="7105142" y="4284091"/>
                  </a:lnTo>
                  <a:cubicBezTo>
                    <a:pt x="7105142" y="4293489"/>
                    <a:pt x="7097522" y="4300982"/>
                    <a:pt x="7088251"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7088251" y="4267200"/>
                  </a:lnTo>
                  <a:lnTo>
                    <a:pt x="7088251" y="4284091"/>
                  </a:lnTo>
                  <a:lnTo>
                    <a:pt x="7071360" y="4284091"/>
                  </a:lnTo>
                  <a:lnTo>
                    <a:pt x="7071360" y="16891"/>
                  </a:lnTo>
                  <a:lnTo>
                    <a:pt x="7088251" y="16891"/>
                  </a:lnTo>
                  <a:lnTo>
                    <a:pt x="7088251" y="33909"/>
                  </a:lnTo>
                  <a:lnTo>
                    <a:pt x="16891" y="33909"/>
                  </a:lnTo>
                  <a:close/>
                </a:path>
              </a:pathLst>
            </a:custGeom>
            <a:solidFill>
              <a:srgbClr val="E2E8F0"/>
            </a:solidFill>
          </p:spPr>
          <p:txBody>
            <a:bodyPr/>
            <a:p/>
          </p:txBody>
        </p:sp>
      </p:grpSp>
      <p:grpSp>
        <p:nvGrpSpPr>
          <p:cNvPr name="Group 80" id="80"/>
          <p:cNvGrpSpPr/>
          <p:nvPr/>
        </p:nvGrpSpPr>
        <p:grpSpPr>
          <a:xfrm rot="0">
            <a:off x="12070080" y="6035040"/>
            <a:ext cx="5303520" cy="182880"/>
            <a:chOff x="0" y="0"/>
            <a:chExt cx="7071360" cy="243840"/>
          </a:xfrm>
        </p:grpSpPr>
        <p:sp>
          <p:nvSpPr>
            <p:cNvPr name="Freeform 81" id="81"/>
            <p:cNvSpPr/>
            <p:nvPr/>
          </p:nvSpPr>
          <p:spPr>
            <a:xfrm flipH="false" flipV="false" rot="0">
              <a:off x="0" y="0"/>
              <a:ext cx="7071360" cy="243840"/>
            </a:xfrm>
            <a:custGeom>
              <a:avLst/>
              <a:gdLst/>
              <a:ahLst/>
              <a:cxnLst/>
              <a:rect r="r" b="b" t="t" l="l"/>
              <a:pathLst>
                <a:path h="243840" w="7071360">
                  <a:moveTo>
                    <a:pt x="0" y="0"/>
                  </a:moveTo>
                  <a:lnTo>
                    <a:pt x="7071360" y="0"/>
                  </a:lnTo>
                  <a:lnTo>
                    <a:pt x="7071360" y="243840"/>
                  </a:lnTo>
                  <a:lnTo>
                    <a:pt x="0" y="243840"/>
                  </a:lnTo>
                  <a:close/>
                </a:path>
              </a:pathLst>
            </a:custGeom>
            <a:solidFill>
              <a:srgbClr val="059669"/>
            </a:solidFill>
          </p:spPr>
          <p:txBody>
            <a:bodyPr/>
            <a:p/>
          </p:txBody>
        </p:sp>
      </p:grpSp>
      <p:grpSp>
        <p:nvGrpSpPr>
          <p:cNvPr name="Group 82" id="82"/>
          <p:cNvGrpSpPr/>
          <p:nvPr/>
        </p:nvGrpSpPr>
        <p:grpSpPr>
          <a:xfrm rot="0">
            <a:off x="12252960" y="6492240"/>
            <a:ext cx="4937760" cy="1371600"/>
            <a:chOff x="0" y="0"/>
            <a:chExt cx="6583680" cy="1828800"/>
          </a:xfrm>
        </p:grpSpPr>
        <p:sp>
          <p:nvSpPr>
            <p:cNvPr name="Freeform 83" id="83"/>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txBody>
            <a:bodyPr/>
            <a:p/>
          </p:txBody>
        </p:sp>
        <p:sp>
          <p:nvSpPr>
            <p:cNvPr name="TextBox 84" id="84"/>
            <p:cNvSpPr txBox="true"/>
            <p:nvPr/>
          </p:nvSpPr>
          <p:spPr>
            <a:xfrm>
              <a:off x="0" y="-152400"/>
              <a:ext cx="6583680" cy="1981200"/>
            </a:xfrm>
            <a:prstGeom prst="rect">
              <a:avLst/>
            </a:prstGeom>
          </p:spPr>
          <p:txBody>
            <a:bodyPr anchor="ctr" rtlCol="false" tIns="0" lIns="0" bIns="0" rIns="0"/>
            <a:lstStyle/>
            <a:p>
              <a:pPr algn="ctr">
                <a:lnSpc>
                  <a:spcPts val="9120"/>
                </a:lnSpc>
              </a:pPr>
              <a:r>
                <a:rPr lang="en-US" sz="7600" b="true">
                  <a:solidFill>
                    <a:srgbClr val="059669"/>
                  </a:solidFill>
                  <a:latin typeface="Calibri (MS) Bold"/>
                  <a:ea typeface="Calibri (MS) Bold"/>
                  <a:cs typeface="Calibri (MS) Bold"/>
                  <a:sym typeface="Calibri (MS) Bold"/>
                </a:rPr>
                <a:t>3</a:t>
              </a:r>
            </a:p>
          </p:txBody>
        </p:sp>
      </p:grpSp>
      <p:grpSp>
        <p:nvGrpSpPr>
          <p:cNvPr name="Group 85" id="85"/>
          <p:cNvGrpSpPr/>
          <p:nvPr/>
        </p:nvGrpSpPr>
        <p:grpSpPr>
          <a:xfrm rot="0">
            <a:off x="12252960" y="7955280"/>
            <a:ext cx="4937760" cy="585216"/>
            <a:chOff x="0" y="0"/>
            <a:chExt cx="6583680" cy="780288"/>
          </a:xfrm>
        </p:grpSpPr>
        <p:sp>
          <p:nvSpPr>
            <p:cNvPr name="Freeform 86" id="86"/>
            <p:cNvSpPr/>
            <p:nvPr/>
          </p:nvSpPr>
          <p:spPr>
            <a:xfrm flipH="false" flipV="false" rot="0">
              <a:off x="0" y="0"/>
              <a:ext cx="6583680" cy="780288"/>
            </a:xfrm>
            <a:custGeom>
              <a:avLst/>
              <a:gdLst/>
              <a:ahLst/>
              <a:cxnLst/>
              <a:rect r="r" b="b" t="t" l="l"/>
              <a:pathLst>
                <a:path h="780288" w="6583680">
                  <a:moveTo>
                    <a:pt x="0" y="0"/>
                  </a:moveTo>
                  <a:lnTo>
                    <a:pt x="6583680" y="0"/>
                  </a:lnTo>
                  <a:lnTo>
                    <a:pt x="6583680" y="780288"/>
                  </a:lnTo>
                  <a:lnTo>
                    <a:pt x="0" y="780288"/>
                  </a:lnTo>
                  <a:close/>
                </a:path>
              </a:pathLst>
            </a:custGeom>
            <a:blipFill>
              <a:blip r:embed="rId3">
                <a:alphaModFix amt="0"/>
              </a:blip>
              <a:stretch>
                <a:fillRect l="0" t="-114405" r="0" b="-114405"/>
              </a:stretch>
            </a:blipFill>
          </p:spPr>
          <p:txBody>
            <a:bodyPr/>
            <a:p/>
          </p:txBody>
        </p:sp>
        <p:sp>
          <p:nvSpPr>
            <p:cNvPr name="TextBox 87" id="87"/>
            <p:cNvSpPr txBox="true"/>
            <p:nvPr/>
          </p:nvSpPr>
          <p:spPr>
            <a:xfrm>
              <a:off x="0" y="-57150"/>
              <a:ext cx="6583680" cy="837438"/>
            </a:xfrm>
            <a:prstGeom prst="rect">
              <a:avLst/>
            </a:prstGeom>
          </p:spPr>
          <p:txBody>
            <a:bodyPr anchor="ctr" rtlCol="false" tIns="0" lIns="0" bIns="0" rIns="0"/>
            <a:lstStyle/>
            <a:p>
              <a:pPr algn="ctr">
                <a:lnSpc>
                  <a:spcPts val="3120"/>
                </a:lnSpc>
              </a:pPr>
              <a:r>
                <a:rPr lang="en-US" sz="2600" b="true">
                  <a:solidFill>
                    <a:srgbClr val="1E293B"/>
                  </a:solidFill>
                  <a:latin typeface="Calibri (MS) Bold"/>
                  <a:ea typeface="Calibri (MS) Bold"/>
                  <a:cs typeface="Calibri (MS) Bold"/>
                  <a:sym typeface="Calibri (MS) Bold"/>
                </a:rPr>
                <a:t>Langues supportées</a:t>
              </a:r>
            </a:p>
          </p:txBody>
        </p:sp>
      </p:grpSp>
      <p:grpSp>
        <p:nvGrpSpPr>
          <p:cNvPr name="Group 88" id="88"/>
          <p:cNvGrpSpPr/>
          <p:nvPr/>
        </p:nvGrpSpPr>
        <p:grpSpPr>
          <a:xfrm rot="0">
            <a:off x="12252960" y="8558784"/>
            <a:ext cx="4937760" cy="548640"/>
            <a:chOff x="0" y="0"/>
            <a:chExt cx="6583680" cy="731520"/>
          </a:xfrm>
        </p:grpSpPr>
        <p:sp>
          <p:nvSpPr>
            <p:cNvPr name="Freeform 89" id="89"/>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txBody>
            <a:bodyPr/>
            <a:p/>
          </p:txBody>
        </p:sp>
        <p:sp>
          <p:nvSpPr>
            <p:cNvPr name="TextBox 90" id="90"/>
            <p:cNvSpPr txBox="true"/>
            <p:nvPr/>
          </p:nvSpPr>
          <p:spPr>
            <a:xfrm>
              <a:off x="0" y="-47625"/>
              <a:ext cx="6583680" cy="779145"/>
            </a:xfrm>
            <a:prstGeom prst="rect">
              <a:avLst/>
            </a:prstGeom>
          </p:spPr>
          <p:txBody>
            <a:bodyPr anchor="ctr" rtlCol="false" tIns="0" lIns="0" bIns="0" rIns="0"/>
            <a:lstStyle/>
            <a:p>
              <a:pPr algn="ctr">
                <a:lnSpc>
                  <a:spcPts val="2520"/>
                </a:lnSpc>
              </a:pPr>
              <a:r>
                <a:rPr lang="en-US" sz="2100">
                  <a:solidFill>
                    <a:srgbClr val="64748B"/>
                  </a:solidFill>
                  <a:latin typeface="Calibri (MS)"/>
                  <a:ea typeface="Calibri (MS)"/>
                  <a:cs typeface="Calibri (MS)"/>
                  <a:sym typeface="Calibri (MS)"/>
                </a:rPr>
                <a:t>FR · EN · AR (RTL)</a:t>
              </a:r>
            </a:p>
          </p:txBody>
        </p:sp>
      </p:grpSp>
      <p:sp>
        <p:nvSpPr>
          <p:cNvPr name="TextBox 91" id="9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2926080"/>
            <a:ext cx="16093440" cy="914400"/>
            <a:chOff x="0" y="0"/>
            <a:chExt cx="21457920" cy="1219200"/>
          </a:xfrm>
        </p:grpSpPr>
        <p:sp>
          <p:nvSpPr>
            <p:cNvPr name="Freeform 5" id="5"/>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6" id="6"/>
            <p:cNvSpPr txBox="true"/>
            <p:nvPr/>
          </p:nvSpPr>
          <p:spPr>
            <a:xfrm>
              <a:off x="0" y="-47625"/>
              <a:ext cx="21457920" cy="1266825"/>
            </a:xfrm>
            <a:prstGeom prst="rect">
              <a:avLst/>
            </a:prstGeom>
          </p:spPr>
          <p:txBody>
            <a:bodyPr anchor="ctr" rtlCol="false" tIns="0" lIns="0" bIns="0" rIns="0"/>
            <a:lstStyle/>
            <a:p>
              <a:pPr algn="l">
                <a:lnSpc>
                  <a:spcPts val="3359"/>
                </a:lnSpc>
              </a:pPr>
              <a:r>
                <a:rPr lang="en-US" sz="2799" b="true">
                  <a:solidFill>
                    <a:srgbClr val="06B6D4"/>
                  </a:solidFill>
                  <a:latin typeface="Calibri (MS) Bold"/>
                  <a:ea typeface="Calibri (MS) Bold"/>
                  <a:cs typeface="Calibri (MS) Bold"/>
                  <a:sym typeface="Calibri (MS) Bold"/>
                </a:rPr>
                <a:t>03</a:t>
              </a:r>
            </a:p>
          </p:txBody>
        </p:sp>
      </p:grpSp>
      <p:grpSp>
        <p:nvGrpSpPr>
          <p:cNvPr name="Group 7" id="7"/>
          <p:cNvGrpSpPr/>
          <p:nvPr/>
        </p:nvGrpSpPr>
        <p:grpSpPr>
          <a:xfrm rot="0">
            <a:off x="1097280" y="3749040"/>
            <a:ext cx="16093440" cy="2011680"/>
            <a:chOff x="0" y="0"/>
            <a:chExt cx="21457920" cy="2682240"/>
          </a:xfrm>
        </p:grpSpPr>
        <p:sp>
          <p:nvSpPr>
            <p:cNvPr name="Freeform 8" id="8"/>
            <p:cNvSpPr/>
            <p:nvPr/>
          </p:nvSpPr>
          <p:spPr>
            <a:xfrm flipH="false" flipV="false" rot="0">
              <a:off x="0" y="0"/>
              <a:ext cx="21457920" cy="2682240"/>
            </a:xfrm>
            <a:custGeom>
              <a:avLst/>
              <a:gdLst/>
              <a:ahLst/>
              <a:cxnLst/>
              <a:rect r="r" b="b" t="t" l="l"/>
              <a:pathLst>
                <a:path h="2682240" w="21457920">
                  <a:moveTo>
                    <a:pt x="0" y="0"/>
                  </a:moveTo>
                  <a:lnTo>
                    <a:pt x="21457920" y="0"/>
                  </a:lnTo>
                  <a:lnTo>
                    <a:pt x="21457920" y="2682240"/>
                  </a:lnTo>
                  <a:lnTo>
                    <a:pt x="0" y="2682240"/>
                  </a:lnTo>
                  <a:close/>
                </a:path>
              </a:pathLst>
            </a:custGeom>
            <a:blipFill>
              <a:blip r:embed="rId3">
                <a:alphaModFix amt="0"/>
              </a:blip>
              <a:stretch>
                <a:fillRect l="0" t="-105880" r="0" b="-105880"/>
              </a:stretch>
            </a:blipFill>
          </p:spPr>
          <p:txBody>
            <a:bodyPr/>
            <a:p/>
          </p:txBody>
        </p:sp>
        <p:sp>
          <p:nvSpPr>
            <p:cNvPr name="TextBox 9" id="9"/>
            <p:cNvSpPr txBox="true"/>
            <p:nvPr/>
          </p:nvSpPr>
          <p:spPr>
            <a:xfrm>
              <a:off x="0" y="-161925"/>
              <a:ext cx="21457920" cy="284416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Moteur RAG &amp; LLM</a:t>
              </a:r>
            </a:p>
          </p:txBody>
        </p:sp>
      </p:grpSp>
      <p:grpSp>
        <p:nvGrpSpPr>
          <p:cNvPr name="Group 10" id="10"/>
          <p:cNvGrpSpPr/>
          <p:nvPr/>
        </p:nvGrpSpPr>
        <p:grpSpPr>
          <a:xfrm rot="0">
            <a:off x="1097280" y="5943600"/>
            <a:ext cx="16093440" cy="914400"/>
            <a:chOff x="0" y="0"/>
            <a:chExt cx="21457920" cy="1219200"/>
          </a:xfrm>
        </p:grpSpPr>
        <p:sp>
          <p:nvSpPr>
            <p:cNvPr name="Freeform 11" id="11"/>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12" id="12"/>
            <p:cNvSpPr txBox="true"/>
            <p:nvPr/>
          </p:nvSpPr>
          <p:spPr>
            <a:xfrm>
              <a:off x="0" y="-66675"/>
              <a:ext cx="21457920" cy="1285875"/>
            </a:xfrm>
            <a:prstGeom prst="rect">
              <a:avLst/>
            </a:prstGeom>
          </p:spPr>
          <p:txBody>
            <a:bodyPr anchor="ctr" rtlCol="false" tIns="0" lIns="0" bIns="0" rIns="0"/>
            <a:lstStyle/>
            <a:p>
              <a:pPr algn="l">
                <a:lnSpc>
                  <a:spcPts val="4320"/>
                </a:lnSpc>
              </a:pPr>
              <a:r>
                <a:rPr lang="en-US" sz="3600">
                  <a:solidFill>
                    <a:srgbClr val="CFFAFE"/>
                  </a:solidFill>
                  <a:latin typeface="Calibri (MS)"/>
                  <a:ea typeface="Calibri (MS)"/>
                  <a:cs typeface="Calibri (MS)"/>
                  <a:sym typeface="Calibri (MS)"/>
                </a:rPr>
                <a:t>Retrieval-Augmented Generation</a:t>
              </a:r>
            </a:p>
          </p:txBody>
        </p:sp>
      </p:gr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Pourquoi RAG ?</a:t>
              </a:r>
            </a:p>
          </p:txBody>
        </p:sp>
      </p:grpSp>
      <p:grpSp>
        <p:nvGrpSpPr>
          <p:cNvPr name="Group 7" id="7"/>
          <p:cNvGrpSpPr/>
          <p:nvPr/>
        </p:nvGrpSpPr>
        <p:grpSpPr>
          <a:xfrm rot="0">
            <a:off x="914400" y="2103120"/>
            <a:ext cx="16459200" cy="822960"/>
            <a:chOff x="0" y="0"/>
            <a:chExt cx="21945600" cy="1097280"/>
          </a:xfrm>
        </p:grpSpPr>
        <p:sp>
          <p:nvSpPr>
            <p:cNvPr name="Freeform 8" id="8"/>
            <p:cNvSpPr/>
            <p:nvPr/>
          </p:nvSpPr>
          <p:spPr>
            <a:xfrm flipH="false" flipV="false" rot="0">
              <a:off x="0" y="0"/>
              <a:ext cx="21945600" cy="1097280"/>
            </a:xfrm>
            <a:custGeom>
              <a:avLst/>
              <a:gdLst/>
              <a:ahLst/>
              <a:cxnLst/>
              <a:rect r="r" b="b" t="t" l="l"/>
              <a:pathLst>
                <a:path h="1097280" w="21945600">
                  <a:moveTo>
                    <a:pt x="0" y="0"/>
                  </a:moveTo>
                  <a:lnTo>
                    <a:pt x="21945600" y="0"/>
                  </a:lnTo>
                  <a:lnTo>
                    <a:pt x="21945600" y="1097280"/>
                  </a:lnTo>
                  <a:lnTo>
                    <a:pt x="0" y="1097280"/>
                  </a:lnTo>
                  <a:close/>
                </a:path>
              </a:pathLst>
            </a:custGeom>
            <a:blipFill>
              <a:blip r:embed="rId3">
                <a:alphaModFix amt="0"/>
              </a:blip>
              <a:stretch>
                <a:fillRect l="0" t="-339700" r="0" b="-339700"/>
              </a:stretch>
            </a:blipFill>
          </p:spPr>
          <p:txBody>
            <a:bodyPr/>
            <a:p/>
          </p:txBody>
        </p:sp>
        <p:sp>
          <p:nvSpPr>
            <p:cNvPr name="TextBox 9" id="9"/>
            <p:cNvSpPr txBox="true"/>
            <p:nvPr/>
          </p:nvSpPr>
          <p:spPr>
            <a:xfrm>
              <a:off x="0" y="-66675"/>
              <a:ext cx="21945600" cy="1163955"/>
            </a:xfrm>
            <a:prstGeom prst="rect">
              <a:avLst/>
            </a:prstGeom>
          </p:spPr>
          <p:txBody>
            <a:bodyPr anchor="ctr" rtlCol="false" tIns="0" lIns="0" bIns="0" rIns="0"/>
            <a:lstStyle/>
            <a:p>
              <a:pPr algn="ctr">
                <a:lnSpc>
                  <a:spcPts val="3600"/>
                </a:lnSpc>
              </a:pPr>
              <a:r>
                <a:rPr lang="en-US" sz="3000" i="true">
                  <a:solidFill>
                    <a:srgbClr val="64748B"/>
                  </a:solidFill>
                  <a:latin typeface="Calibri (MS) Italics"/>
                  <a:ea typeface="Calibri (MS) Italics"/>
                  <a:cs typeface="Calibri (MS) Italics"/>
                  <a:sym typeface="Calibri (MS) Italics"/>
                </a:rPr>
                <a:t>Limiter les hallucinations en ancrant le modèle sur des documents institutionnels</a:t>
              </a:r>
            </a:p>
          </p:txBody>
        </p:sp>
      </p:grpSp>
      <p:grpSp>
        <p:nvGrpSpPr>
          <p:cNvPr name="Group 10" id="10"/>
          <p:cNvGrpSpPr/>
          <p:nvPr/>
        </p:nvGrpSpPr>
        <p:grpSpPr>
          <a:xfrm rot="0">
            <a:off x="1084583" y="3370583"/>
            <a:ext cx="7889243" cy="6060443"/>
            <a:chOff x="0" y="0"/>
            <a:chExt cx="10518991" cy="8080591"/>
          </a:xfrm>
        </p:grpSpPr>
        <p:sp>
          <p:nvSpPr>
            <p:cNvPr name="Freeform 11" id="11"/>
            <p:cNvSpPr/>
            <p:nvPr/>
          </p:nvSpPr>
          <p:spPr>
            <a:xfrm flipH="false" flipV="false" rot="0">
              <a:off x="16891" y="16891"/>
              <a:ext cx="10485120" cy="8046720"/>
            </a:xfrm>
            <a:custGeom>
              <a:avLst/>
              <a:gdLst/>
              <a:ahLst/>
              <a:cxnLst/>
              <a:rect r="r" b="b" t="t" l="l"/>
              <a:pathLst>
                <a:path h="8046720" w="10485120">
                  <a:moveTo>
                    <a:pt x="0" y="0"/>
                  </a:moveTo>
                  <a:lnTo>
                    <a:pt x="10485120" y="0"/>
                  </a:lnTo>
                  <a:lnTo>
                    <a:pt x="10485120" y="8046720"/>
                  </a:lnTo>
                  <a:lnTo>
                    <a:pt x="0" y="8046720"/>
                  </a:lnTo>
                  <a:close/>
                </a:path>
              </a:pathLst>
            </a:custGeom>
            <a:solidFill>
              <a:srgbClr val="FEF2F2"/>
            </a:solidFill>
          </p:spPr>
          <p:txBody>
            <a:bodyPr/>
            <a:p/>
          </p:txBody>
        </p:sp>
        <p:sp>
          <p:nvSpPr>
            <p:cNvPr name="Freeform 12" id="12"/>
            <p:cNvSpPr/>
            <p:nvPr/>
          </p:nvSpPr>
          <p:spPr>
            <a:xfrm flipH="false" flipV="false" rot="0">
              <a:off x="0" y="0"/>
              <a:ext cx="10518901" cy="8080501"/>
            </a:xfrm>
            <a:custGeom>
              <a:avLst/>
              <a:gdLst/>
              <a:ahLst/>
              <a:cxnLst/>
              <a:rect r="r" b="b" t="t" l="l"/>
              <a:pathLst>
                <a:path h="8080501" w="10518901">
                  <a:moveTo>
                    <a:pt x="16891" y="0"/>
                  </a:moveTo>
                  <a:lnTo>
                    <a:pt x="10502011" y="0"/>
                  </a:lnTo>
                  <a:cubicBezTo>
                    <a:pt x="10511409" y="0"/>
                    <a:pt x="10518901" y="7620"/>
                    <a:pt x="10518901" y="16891"/>
                  </a:cubicBezTo>
                  <a:lnTo>
                    <a:pt x="10518901" y="8063611"/>
                  </a:lnTo>
                  <a:cubicBezTo>
                    <a:pt x="10518901" y="8073009"/>
                    <a:pt x="10511282" y="8080501"/>
                    <a:pt x="10502011" y="8080501"/>
                  </a:cubicBezTo>
                  <a:lnTo>
                    <a:pt x="16891" y="8080501"/>
                  </a:lnTo>
                  <a:cubicBezTo>
                    <a:pt x="7493" y="8080501"/>
                    <a:pt x="0" y="8072882"/>
                    <a:pt x="0" y="8063611"/>
                  </a:cubicBezTo>
                  <a:lnTo>
                    <a:pt x="0" y="16891"/>
                  </a:lnTo>
                  <a:cubicBezTo>
                    <a:pt x="0" y="7620"/>
                    <a:pt x="7620" y="0"/>
                    <a:pt x="16891" y="0"/>
                  </a:cubicBezTo>
                  <a:moveTo>
                    <a:pt x="16891" y="33909"/>
                  </a:moveTo>
                  <a:lnTo>
                    <a:pt x="16891" y="16891"/>
                  </a:lnTo>
                  <a:lnTo>
                    <a:pt x="33909" y="16891"/>
                  </a:lnTo>
                  <a:lnTo>
                    <a:pt x="33909" y="8063611"/>
                  </a:lnTo>
                  <a:lnTo>
                    <a:pt x="16891" y="8063611"/>
                  </a:lnTo>
                  <a:lnTo>
                    <a:pt x="16891" y="8046720"/>
                  </a:lnTo>
                  <a:lnTo>
                    <a:pt x="10502011" y="8046720"/>
                  </a:lnTo>
                  <a:lnTo>
                    <a:pt x="10502011" y="8063611"/>
                  </a:lnTo>
                  <a:lnTo>
                    <a:pt x="10485120" y="8063611"/>
                  </a:lnTo>
                  <a:lnTo>
                    <a:pt x="10485120" y="16891"/>
                  </a:lnTo>
                  <a:lnTo>
                    <a:pt x="10502011" y="16891"/>
                  </a:lnTo>
                  <a:lnTo>
                    <a:pt x="10502011" y="33909"/>
                  </a:lnTo>
                  <a:lnTo>
                    <a:pt x="16891" y="33909"/>
                  </a:lnTo>
                  <a:close/>
                </a:path>
              </a:pathLst>
            </a:custGeom>
            <a:solidFill>
              <a:srgbClr val="FCA5A5"/>
            </a:solidFill>
          </p:spPr>
          <p:txBody>
            <a:bodyPr/>
            <a:p/>
          </p:txBody>
        </p:sp>
      </p:grpSp>
      <p:grpSp>
        <p:nvGrpSpPr>
          <p:cNvPr name="Group 13" id="13"/>
          <p:cNvGrpSpPr/>
          <p:nvPr/>
        </p:nvGrpSpPr>
        <p:grpSpPr>
          <a:xfrm rot="0">
            <a:off x="1097280" y="3383280"/>
            <a:ext cx="7863840" cy="914400"/>
            <a:chOff x="0" y="0"/>
            <a:chExt cx="10485120" cy="1219200"/>
          </a:xfrm>
        </p:grpSpPr>
        <p:sp>
          <p:nvSpPr>
            <p:cNvPr name="Freeform 14" id="14"/>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solidFill>
              <a:srgbClr val="DC2626"/>
            </a:solidFill>
          </p:spPr>
          <p:txBody>
            <a:bodyPr/>
            <a:p/>
          </p:txBody>
        </p:sp>
      </p:grpSp>
      <p:grpSp>
        <p:nvGrpSpPr>
          <p:cNvPr name="Group 15" id="15"/>
          <p:cNvGrpSpPr/>
          <p:nvPr/>
        </p:nvGrpSpPr>
        <p:grpSpPr>
          <a:xfrm rot="0">
            <a:off x="1097280" y="3383280"/>
            <a:ext cx="7863840" cy="914400"/>
            <a:chOff x="0" y="0"/>
            <a:chExt cx="10485120" cy="1219200"/>
          </a:xfrm>
        </p:grpSpPr>
        <p:sp>
          <p:nvSpPr>
            <p:cNvPr name="Freeform 16" id="16"/>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blipFill>
              <a:blip r:embed="rId3">
                <a:alphaModFix amt="0"/>
              </a:blip>
              <a:stretch>
                <a:fillRect l="0" t="-117571" r="0" b="-117571"/>
              </a:stretch>
            </a:blipFill>
          </p:spPr>
          <p:txBody>
            <a:bodyPr/>
            <a:p/>
          </p:txBody>
        </p:sp>
        <p:sp>
          <p:nvSpPr>
            <p:cNvPr name="TextBox 17" id="17"/>
            <p:cNvSpPr txBox="true"/>
            <p:nvPr/>
          </p:nvSpPr>
          <p:spPr>
            <a:xfrm>
              <a:off x="0" y="-57150"/>
              <a:ext cx="10485120" cy="127635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LLM seul</a:t>
              </a:r>
            </a:p>
          </p:txBody>
        </p:sp>
      </p:grpSp>
      <p:grpSp>
        <p:nvGrpSpPr>
          <p:cNvPr name="Group 18" id="18"/>
          <p:cNvGrpSpPr/>
          <p:nvPr/>
        </p:nvGrpSpPr>
        <p:grpSpPr>
          <a:xfrm rot="0">
            <a:off x="1645920" y="4663440"/>
            <a:ext cx="6949440" cy="822960"/>
            <a:chOff x="0" y="0"/>
            <a:chExt cx="9265920" cy="1097280"/>
          </a:xfrm>
        </p:grpSpPr>
        <p:sp>
          <p:nvSpPr>
            <p:cNvPr name="Freeform 19" id="19"/>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20" id="20"/>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DC2626"/>
                  </a:solidFill>
                  <a:latin typeface="Calibri (MS)"/>
                  <a:ea typeface="Calibri (MS)"/>
                  <a:cs typeface="Calibri (MS)"/>
                  <a:sym typeface="Calibri (MS)"/>
                </a:rPr>
                <a:t>✗  Réponses génériques</a:t>
              </a:r>
            </a:p>
          </p:txBody>
        </p:sp>
      </p:grpSp>
      <p:grpSp>
        <p:nvGrpSpPr>
          <p:cNvPr name="Group 21" id="21"/>
          <p:cNvGrpSpPr/>
          <p:nvPr/>
        </p:nvGrpSpPr>
        <p:grpSpPr>
          <a:xfrm rot="0">
            <a:off x="1645920" y="5669280"/>
            <a:ext cx="6949440" cy="822960"/>
            <a:chOff x="0" y="0"/>
            <a:chExt cx="9265920" cy="1097280"/>
          </a:xfrm>
        </p:grpSpPr>
        <p:sp>
          <p:nvSpPr>
            <p:cNvPr name="Freeform 22" id="22"/>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23" id="23"/>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DC2626"/>
                  </a:solidFill>
                  <a:latin typeface="Calibri (MS)"/>
                  <a:ea typeface="Calibri (MS)"/>
                  <a:cs typeface="Calibri (MS)"/>
                  <a:sym typeface="Calibri (MS)"/>
                </a:rPr>
                <a:t>✗  Risque d'hallucinations</a:t>
              </a:r>
            </a:p>
          </p:txBody>
        </p:sp>
      </p:grpSp>
      <p:grpSp>
        <p:nvGrpSpPr>
          <p:cNvPr name="Group 24" id="24"/>
          <p:cNvGrpSpPr/>
          <p:nvPr/>
        </p:nvGrpSpPr>
        <p:grpSpPr>
          <a:xfrm rot="0">
            <a:off x="1645920" y="6675120"/>
            <a:ext cx="6949440" cy="822960"/>
            <a:chOff x="0" y="0"/>
            <a:chExt cx="9265920" cy="1097280"/>
          </a:xfrm>
        </p:grpSpPr>
        <p:sp>
          <p:nvSpPr>
            <p:cNvPr name="Freeform 25" id="25"/>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26" id="26"/>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DC2626"/>
                  </a:solidFill>
                  <a:latin typeface="Calibri (MS)"/>
                  <a:ea typeface="Calibri (MS)"/>
                  <a:cs typeface="Calibri (MS)"/>
                  <a:sym typeface="Calibri (MS)"/>
                </a:rPr>
                <a:t>✗  Pas d'info à jour</a:t>
              </a:r>
            </a:p>
          </p:txBody>
        </p:sp>
      </p:grpSp>
      <p:grpSp>
        <p:nvGrpSpPr>
          <p:cNvPr name="Group 27" id="27"/>
          <p:cNvGrpSpPr/>
          <p:nvPr/>
        </p:nvGrpSpPr>
        <p:grpSpPr>
          <a:xfrm rot="0">
            <a:off x="1645920" y="7680960"/>
            <a:ext cx="6949440" cy="822960"/>
            <a:chOff x="0" y="0"/>
            <a:chExt cx="9265920" cy="1097280"/>
          </a:xfrm>
        </p:grpSpPr>
        <p:sp>
          <p:nvSpPr>
            <p:cNvPr name="Freeform 28" id="28"/>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29" id="29"/>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DC2626"/>
                  </a:solidFill>
                  <a:latin typeface="Calibri (MS)"/>
                  <a:ea typeface="Calibri (MS)"/>
                  <a:cs typeface="Calibri (MS)"/>
                  <a:sym typeface="Calibri (MS)"/>
                </a:rPr>
                <a:t>✗  Pas de source citable</a:t>
              </a:r>
            </a:p>
          </p:txBody>
        </p:sp>
      </p:grpSp>
      <p:grpSp>
        <p:nvGrpSpPr>
          <p:cNvPr name="Group 30" id="30"/>
          <p:cNvGrpSpPr/>
          <p:nvPr/>
        </p:nvGrpSpPr>
        <p:grpSpPr>
          <a:xfrm rot="0">
            <a:off x="9314183" y="3370583"/>
            <a:ext cx="7889243" cy="6060443"/>
            <a:chOff x="0" y="0"/>
            <a:chExt cx="10518991" cy="8080591"/>
          </a:xfrm>
        </p:grpSpPr>
        <p:sp>
          <p:nvSpPr>
            <p:cNvPr name="Freeform 31" id="31"/>
            <p:cNvSpPr/>
            <p:nvPr/>
          </p:nvSpPr>
          <p:spPr>
            <a:xfrm flipH="false" flipV="false" rot="0">
              <a:off x="16891" y="16891"/>
              <a:ext cx="10485120" cy="8046720"/>
            </a:xfrm>
            <a:custGeom>
              <a:avLst/>
              <a:gdLst/>
              <a:ahLst/>
              <a:cxnLst/>
              <a:rect r="r" b="b" t="t" l="l"/>
              <a:pathLst>
                <a:path h="8046720" w="10485120">
                  <a:moveTo>
                    <a:pt x="0" y="0"/>
                  </a:moveTo>
                  <a:lnTo>
                    <a:pt x="10485120" y="0"/>
                  </a:lnTo>
                  <a:lnTo>
                    <a:pt x="10485120" y="8046720"/>
                  </a:lnTo>
                  <a:lnTo>
                    <a:pt x="0" y="8046720"/>
                  </a:lnTo>
                  <a:close/>
                </a:path>
              </a:pathLst>
            </a:custGeom>
            <a:solidFill>
              <a:srgbClr val="F0FDF4"/>
            </a:solidFill>
          </p:spPr>
          <p:txBody>
            <a:bodyPr/>
            <a:p/>
          </p:txBody>
        </p:sp>
        <p:sp>
          <p:nvSpPr>
            <p:cNvPr name="Freeform 32" id="32"/>
            <p:cNvSpPr/>
            <p:nvPr/>
          </p:nvSpPr>
          <p:spPr>
            <a:xfrm flipH="false" flipV="false" rot="0">
              <a:off x="0" y="0"/>
              <a:ext cx="10518901" cy="8080501"/>
            </a:xfrm>
            <a:custGeom>
              <a:avLst/>
              <a:gdLst/>
              <a:ahLst/>
              <a:cxnLst/>
              <a:rect r="r" b="b" t="t" l="l"/>
              <a:pathLst>
                <a:path h="8080501" w="10518901">
                  <a:moveTo>
                    <a:pt x="16891" y="0"/>
                  </a:moveTo>
                  <a:lnTo>
                    <a:pt x="10502011" y="0"/>
                  </a:lnTo>
                  <a:cubicBezTo>
                    <a:pt x="10511409" y="0"/>
                    <a:pt x="10518901" y="7620"/>
                    <a:pt x="10518901" y="16891"/>
                  </a:cubicBezTo>
                  <a:lnTo>
                    <a:pt x="10518901" y="8063611"/>
                  </a:lnTo>
                  <a:cubicBezTo>
                    <a:pt x="10518901" y="8073009"/>
                    <a:pt x="10511282" y="8080501"/>
                    <a:pt x="10502011" y="8080501"/>
                  </a:cubicBezTo>
                  <a:lnTo>
                    <a:pt x="16891" y="8080501"/>
                  </a:lnTo>
                  <a:cubicBezTo>
                    <a:pt x="7493" y="8080501"/>
                    <a:pt x="0" y="8072882"/>
                    <a:pt x="0" y="8063611"/>
                  </a:cubicBezTo>
                  <a:lnTo>
                    <a:pt x="0" y="16891"/>
                  </a:lnTo>
                  <a:cubicBezTo>
                    <a:pt x="0" y="7620"/>
                    <a:pt x="7620" y="0"/>
                    <a:pt x="16891" y="0"/>
                  </a:cubicBezTo>
                  <a:moveTo>
                    <a:pt x="16891" y="33909"/>
                  </a:moveTo>
                  <a:lnTo>
                    <a:pt x="16891" y="16891"/>
                  </a:lnTo>
                  <a:lnTo>
                    <a:pt x="33909" y="16891"/>
                  </a:lnTo>
                  <a:lnTo>
                    <a:pt x="33909" y="8063611"/>
                  </a:lnTo>
                  <a:lnTo>
                    <a:pt x="16891" y="8063611"/>
                  </a:lnTo>
                  <a:lnTo>
                    <a:pt x="16891" y="8046720"/>
                  </a:lnTo>
                  <a:lnTo>
                    <a:pt x="10502011" y="8046720"/>
                  </a:lnTo>
                  <a:lnTo>
                    <a:pt x="10502011" y="8063611"/>
                  </a:lnTo>
                  <a:lnTo>
                    <a:pt x="10485120" y="8063611"/>
                  </a:lnTo>
                  <a:lnTo>
                    <a:pt x="10485120" y="16891"/>
                  </a:lnTo>
                  <a:lnTo>
                    <a:pt x="10502011" y="16891"/>
                  </a:lnTo>
                  <a:lnTo>
                    <a:pt x="10502011" y="33909"/>
                  </a:lnTo>
                  <a:lnTo>
                    <a:pt x="16891" y="33909"/>
                  </a:lnTo>
                  <a:close/>
                </a:path>
              </a:pathLst>
            </a:custGeom>
            <a:solidFill>
              <a:srgbClr val="86EFAC"/>
            </a:solidFill>
          </p:spPr>
          <p:txBody>
            <a:bodyPr/>
            <a:p/>
          </p:txBody>
        </p:sp>
      </p:grpSp>
      <p:grpSp>
        <p:nvGrpSpPr>
          <p:cNvPr name="Group 33" id="33"/>
          <p:cNvGrpSpPr/>
          <p:nvPr/>
        </p:nvGrpSpPr>
        <p:grpSpPr>
          <a:xfrm rot="0">
            <a:off x="9326880" y="3383280"/>
            <a:ext cx="7863840" cy="914400"/>
            <a:chOff x="0" y="0"/>
            <a:chExt cx="10485120" cy="1219200"/>
          </a:xfrm>
        </p:grpSpPr>
        <p:sp>
          <p:nvSpPr>
            <p:cNvPr name="Freeform 34" id="34"/>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solidFill>
              <a:srgbClr val="059669"/>
            </a:solidFill>
          </p:spPr>
          <p:txBody>
            <a:bodyPr/>
            <a:p/>
          </p:txBody>
        </p:sp>
      </p:grpSp>
      <p:grpSp>
        <p:nvGrpSpPr>
          <p:cNvPr name="Group 35" id="35"/>
          <p:cNvGrpSpPr/>
          <p:nvPr/>
        </p:nvGrpSpPr>
        <p:grpSpPr>
          <a:xfrm rot="0">
            <a:off x="9326880" y="3383280"/>
            <a:ext cx="7863840" cy="914400"/>
            <a:chOff x="0" y="0"/>
            <a:chExt cx="10485120" cy="1219200"/>
          </a:xfrm>
        </p:grpSpPr>
        <p:sp>
          <p:nvSpPr>
            <p:cNvPr name="Freeform 36" id="36"/>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blipFill>
              <a:blip r:embed="rId3">
                <a:alphaModFix amt="0"/>
              </a:blip>
              <a:stretch>
                <a:fillRect l="0" t="-117571" r="0" b="-117571"/>
              </a:stretch>
            </a:blipFill>
          </p:spPr>
          <p:txBody>
            <a:bodyPr/>
            <a:p/>
          </p:txBody>
        </p:sp>
        <p:sp>
          <p:nvSpPr>
            <p:cNvPr name="TextBox 37" id="37"/>
            <p:cNvSpPr txBox="true"/>
            <p:nvPr/>
          </p:nvSpPr>
          <p:spPr>
            <a:xfrm>
              <a:off x="0" y="-57150"/>
              <a:ext cx="10485120" cy="127635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LLM + RAG</a:t>
              </a:r>
            </a:p>
          </p:txBody>
        </p:sp>
      </p:grpSp>
      <p:grpSp>
        <p:nvGrpSpPr>
          <p:cNvPr name="Group 38" id="38"/>
          <p:cNvGrpSpPr/>
          <p:nvPr/>
        </p:nvGrpSpPr>
        <p:grpSpPr>
          <a:xfrm rot="0">
            <a:off x="9875520" y="4663440"/>
            <a:ext cx="6949440" cy="822960"/>
            <a:chOff x="0" y="0"/>
            <a:chExt cx="9265920" cy="1097280"/>
          </a:xfrm>
        </p:grpSpPr>
        <p:sp>
          <p:nvSpPr>
            <p:cNvPr name="Freeform 39" id="39"/>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40" id="40"/>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059669"/>
                  </a:solidFill>
                  <a:latin typeface="Calibri (MS)"/>
                  <a:ea typeface="Calibri (MS)"/>
                  <a:cs typeface="Calibri (MS)"/>
                  <a:sym typeface="Calibri (MS)"/>
                </a:rPr>
                <a:t>✓  Ancré sur documents officiels</a:t>
              </a:r>
            </a:p>
          </p:txBody>
        </p:sp>
      </p:grpSp>
      <p:grpSp>
        <p:nvGrpSpPr>
          <p:cNvPr name="Group 41" id="41"/>
          <p:cNvGrpSpPr/>
          <p:nvPr/>
        </p:nvGrpSpPr>
        <p:grpSpPr>
          <a:xfrm rot="0">
            <a:off x="9875520" y="5669280"/>
            <a:ext cx="6949440" cy="822960"/>
            <a:chOff x="0" y="0"/>
            <a:chExt cx="9265920" cy="1097280"/>
          </a:xfrm>
        </p:grpSpPr>
        <p:sp>
          <p:nvSpPr>
            <p:cNvPr name="Freeform 42" id="42"/>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43" id="43"/>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059669"/>
                  </a:solidFill>
                  <a:latin typeface="Calibri (MS)"/>
                  <a:ea typeface="Calibri (MS)"/>
                  <a:cs typeface="Calibri (MS)"/>
                  <a:sym typeface="Calibri (MS)"/>
                </a:rPr>
                <a:t>✓  Score de confiance retourné</a:t>
              </a:r>
            </a:p>
          </p:txBody>
        </p:sp>
      </p:grpSp>
      <p:grpSp>
        <p:nvGrpSpPr>
          <p:cNvPr name="Group 44" id="44"/>
          <p:cNvGrpSpPr/>
          <p:nvPr/>
        </p:nvGrpSpPr>
        <p:grpSpPr>
          <a:xfrm rot="0">
            <a:off x="9875520" y="6675120"/>
            <a:ext cx="6949440" cy="822960"/>
            <a:chOff x="0" y="0"/>
            <a:chExt cx="9265920" cy="1097280"/>
          </a:xfrm>
        </p:grpSpPr>
        <p:sp>
          <p:nvSpPr>
            <p:cNvPr name="Freeform 45" id="45"/>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46" id="46"/>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059669"/>
                  </a:solidFill>
                  <a:latin typeface="Calibri (MS)"/>
                  <a:ea typeface="Calibri (MS)"/>
                  <a:cs typeface="Calibri (MS)"/>
                  <a:sym typeface="Calibri (MS)"/>
                </a:rPr>
                <a:t>✓  Source documentaire citée</a:t>
              </a:r>
            </a:p>
          </p:txBody>
        </p:sp>
      </p:grpSp>
      <p:grpSp>
        <p:nvGrpSpPr>
          <p:cNvPr name="Group 47" id="47"/>
          <p:cNvGrpSpPr/>
          <p:nvPr/>
        </p:nvGrpSpPr>
        <p:grpSpPr>
          <a:xfrm rot="0">
            <a:off x="9875520" y="7680960"/>
            <a:ext cx="6949440" cy="822960"/>
            <a:chOff x="0" y="0"/>
            <a:chExt cx="9265920" cy="1097280"/>
          </a:xfrm>
        </p:grpSpPr>
        <p:sp>
          <p:nvSpPr>
            <p:cNvPr name="Freeform 48" id="48"/>
            <p:cNvSpPr/>
            <p:nvPr/>
          </p:nvSpPr>
          <p:spPr>
            <a:xfrm flipH="false" flipV="false" rot="0">
              <a:off x="0" y="0"/>
              <a:ext cx="9265920" cy="1097280"/>
            </a:xfrm>
            <a:custGeom>
              <a:avLst/>
              <a:gdLst/>
              <a:ahLst/>
              <a:cxnLst/>
              <a:rect r="r" b="b" t="t" l="l"/>
              <a:pathLst>
                <a:path h="1097280" w="9265920">
                  <a:moveTo>
                    <a:pt x="0" y="0"/>
                  </a:moveTo>
                  <a:lnTo>
                    <a:pt x="9265920" y="0"/>
                  </a:lnTo>
                  <a:lnTo>
                    <a:pt x="9265920" y="1097280"/>
                  </a:lnTo>
                  <a:lnTo>
                    <a:pt x="0" y="1097280"/>
                  </a:lnTo>
                  <a:close/>
                </a:path>
              </a:pathLst>
            </a:custGeom>
            <a:blipFill>
              <a:blip r:embed="rId3">
                <a:alphaModFix amt="0"/>
              </a:blip>
              <a:stretch>
                <a:fillRect l="0" t="-114540" r="0" b="-114540"/>
              </a:stretch>
            </a:blipFill>
          </p:spPr>
          <p:txBody>
            <a:bodyPr/>
            <a:p/>
          </p:txBody>
        </p:sp>
        <p:sp>
          <p:nvSpPr>
            <p:cNvPr name="TextBox 49" id="49"/>
            <p:cNvSpPr txBox="true"/>
            <p:nvPr/>
          </p:nvSpPr>
          <p:spPr>
            <a:xfrm>
              <a:off x="0" y="-47625"/>
              <a:ext cx="9265920" cy="1144905"/>
            </a:xfrm>
            <a:prstGeom prst="rect">
              <a:avLst/>
            </a:prstGeom>
          </p:spPr>
          <p:txBody>
            <a:bodyPr anchor="ctr" rtlCol="false" tIns="0" lIns="0" bIns="0" rIns="0"/>
            <a:lstStyle/>
            <a:p>
              <a:pPr algn="l">
                <a:lnSpc>
                  <a:spcPts val="3359"/>
                </a:lnSpc>
              </a:pPr>
              <a:r>
                <a:rPr lang="en-US" sz="2799">
                  <a:solidFill>
                    <a:srgbClr val="059669"/>
                  </a:solidFill>
                  <a:latin typeface="Calibri (MS)"/>
                  <a:ea typeface="Calibri (MS)"/>
                  <a:cs typeface="Calibri (MS)"/>
                  <a:sym typeface="Calibri (MS)"/>
                </a:rPr>
                <a:t>✓  Contenu mis à jour facilement</a:t>
              </a:r>
            </a:p>
          </p:txBody>
        </p:sp>
      </p:grpSp>
      <p:sp>
        <p:nvSpPr>
          <p:cNvPr name="TextBox 50" id="5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Pipeline RAG</a:t>
              </a:r>
            </a:p>
          </p:txBody>
        </p:sp>
      </p:grpSp>
      <p:grpSp>
        <p:nvGrpSpPr>
          <p:cNvPr name="Group 7" id="7"/>
          <p:cNvGrpSpPr/>
          <p:nvPr/>
        </p:nvGrpSpPr>
        <p:grpSpPr>
          <a:xfrm rot="0">
            <a:off x="1084583" y="2273303"/>
            <a:ext cx="16118843" cy="1268987"/>
            <a:chOff x="0" y="0"/>
            <a:chExt cx="21491791" cy="1691983"/>
          </a:xfrm>
        </p:grpSpPr>
        <p:sp>
          <p:nvSpPr>
            <p:cNvPr name="Freeform 8" id="8"/>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9" id="9"/>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10" id="10"/>
          <p:cNvGrpSpPr/>
          <p:nvPr/>
        </p:nvGrpSpPr>
        <p:grpSpPr>
          <a:xfrm rot="0">
            <a:off x="1554480" y="2542032"/>
            <a:ext cx="768096" cy="768096"/>
            <a:chOff x="0" y="0"/>
            <a:chExt cx="1024128" cy="1024128"/>
          </a:xfrm>
        </p:grpSpPr>
        <p:sp>
          <p:nvSpPr>
            <p:cNvPr name="Freeform 11" id="11"/>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2563EB"/>
            </a:solidFill>
          </p:spPr>
          <p:txBody>
            <a:bodyPr/>
            <a:p/>
          </p:txBody>
        </p:sp>
      </p:grpSp>
      <p:grpSp>
        <p:nvGrpSpPr>
          <p:cNvPr name="Group 12" id="12"/>
          <p:cNvGrpSpPr/>
          <p:nvPr/>
        </p:nvGrpSpPr>
        <p:grpSpPr>
          <a:xfrm rot="0">
            <a:off x="1554480" y="2542032"/>
            <a:ext cx="768096" cy="768096"/>
            <a:chOff x="0" y="0"/>
            <a:chExt cx="1024128" cy="1024128"/>
          </a:xfrm>
        </p:grpSpPr>
        <p:sp>
          <p:nvSpPr>
            <p:cNvPr name="Freeform 13" id="13"/>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14" id="14"/>
            <p:cNvSpPr txBox="true"/>
            <p:nvPr/>
          </p:nvSpPr>
          <p:spPr>
            <a:xfrm>
              <a:off x="0" y="-57150"/>
              <a:ext cx="1024128" cy="1081278"/>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1</a:t>
              </a:r>
            </a:p>
          </p:txBody>
        </p:sp>
      </p:grpSp>
      <p:grpSp>
        <p:nvGrpSpPr>
          <p:cNvPr name="Group 15" id="15"/>
          <p:cNvGrpSpPr/>
          <p:nvPr/>
        </p:nvGrpSpPr>
        <p:grpSpPr>
          <a:xfrm rot="0">
            <a:off x="2743200" y="2432304"/>
            <a:ext cx="6400800" cy="548640"/>
            <a:chOff x="0" y="0"/>
            <a:chExt cx="8534400" cy="731520"/>
          </a:xfrm>
        </p:grpSpPr>
        <p:sp>
          <p:nvSpPr>
            <p:cNvPr name="Freeform 16" id="16"/>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17" id="17"/>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Prétraitement</a:t>
              </a:r>
            </a:p>
          </p:txBody>
        </p:sp>
      </p:grpSp>
      <p:grpSp>
        <p:nvGrpSpPr>
          <p:cNvPr name="Group 18" id="18"/>
          <p:cNvGrpSpPr/>
          <p:nvPr/>
        </p:nvGrpSpPr>
        <p:grpSpPr>
          <a:xfrm rot="0">
            <a:off x="2743200" y="2944368"/>
            <a:ext cx="13898880" cy="548640"/>
            <a:chOff x="0" y="0"/>
            <a:chExt cx="18531840" cy="731520"/>
          </a:xfrm>
        </p:grpSpPr>
        <p:sp>
          <p:nvSpPr>
            <p:cNvPr name="Freeform 19" id="19"/>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20" id="20"/>
            <p:cNvSpPr txBox="true"/>
            <p:nvPr/>
          </p:nvSpPr>
          <p:spPr>
            <a:xfrm>
              <a:off x="0" y="-47625"/>
              <a:ext cx="18531840" cy="779145"/>
            </a:xfrm>
            <a:prstGeom prst="rect">
              <a:avLst/>
            </a:prstGeom>
          </p:spPr>
          <p:txBody>
            <a:bodyPr anchor="ctr" rtlCol="false" tIns="0" lIns="0" bIns="0" rIns="0"/>
            <a:lstStyle/>
            <a:p>
              <a:pPr algn="l">
                <a:lnSpc>
                  <a:spcPts val="2760"/>
                </a:lnSpc>
              </a:pPr>
              <a:r>
                <a:t>Normalisation ? detection langue ? langue utilisateur</a:t>
              </a:r>
            </a:p>
          </p:txBody>
        </p:sp>
      </p:grpSp>
      <p:grpSp>
        <p:nvGrpSpPr>
          <p:cNvPr name="Group 21" id="21"/>
          <p:cNvGrpSpPr/>
          <p:nvPr/>
        </p:nvGrpSpPr>
        <p:grpSpPr>
          <a:xfrm rot="0">
            <a:off x="1084583" y="3699767"/>
            <a:ext cx="16118843" cy="1268987"/>
            <a:chOff x="0" y="0"/>
            <a:chExt cx="21491791" cy="1691983"/>
          </a:xfrm>
        </p:grpSpPr>
        <p:sp>
          <p:nvSpPr>
            <p:cNvPr name="Freeform 22" id="22"/>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23" id="23"/>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24" id="24"/>
          <p:cNvGrpSpPr/>
          <p:nvPr/>
        </p:nvGrpSpPr>
        <p:grpSpPr>
          <a:xfrm rot="0">
            <a:off x="1554480" y="3968496"/>
            <a:ext cx="768096" cy="768096"/>
            <a:chOff x="0" y="0"/>
            <a:chExt cx="1024128" cy="1024128"/>
          </a:xfrm>
        </p:grpSpPr>
        <p:sp>
          <p:nvSpPr>
            <p:cNvPr name="Freeform 25" id="25"/>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2563EB"/>
            </a:solidFill>
          </p:spPr>
          <p:txBody>
            <a:bodyPr/>
            <a:p/>
          </p:txBody>
        </p:sp>
      </p:grpSp>
      <p:grpSp>
        <p:nvGrpSpPr>
          <p:cNvPr name="Group 26" id="26"/>
          <p:cNvGrpSpPr/>
          <p:nvPr/>
        </p:nvGrpSpPr>
        <p:grpSpPr>
          <a:xfrm rot="0">
            <a:off x="1554480" y="3968496"/>
            <a:ext cx="768096" cy="768096"/>
            <a:chOff x="0" y="0"/>
            <a:chExt cx="1024128" cy="1024128"/>
          </a:xfrm>
        </p:grpSpPr>
        <p:sp>
          <p:nvSpPr>
            <p:cNvPr name="Freeform 27" id="27"/>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28" id="28"/>
            <p:cNvSpPr txBox="true"/>
            <p:nvPr/>
          </p:nvSpPr>
          <p:spPr>
            <a:xfrm>
              <a:off x="0" y="-57150"/>
              <a:ext cx="1024128" cy="1081278"/>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2</a:t>
              </a:r>
            </a:p>
          </p:txBody>
        </p:sp>
      </p:grpSp>
      <p:grpSp>
        <p:nvGrpSpPr>
          <p:cNvPr name="Group 29" id="29"/>
          <p:cNvGrpSpPr/>
          <p:nvPr/>
        </p:nvGrpSpPr>
        <p:grpSpPr>
          <a:xfrm rot="0">
            <a:off x="2743200" y="3858768"/>
            <a:ext cx="6400800" cy="548640"/>
            <a:chOff x="0" y="0"/>
            <a:chExt cx="8534400" cy="731520"/>
          </a:xfrm>
        </p:grpSpPr>
        <p:sp>
          <p:nvSpPr>
            <p:cNvPr name="Freeform 30" id="30"/>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31" id="31"/>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Augmentation</a:t>
              </a:r>
            </a:p>
          </p:txBody>
        </p:sp>
      </p:grpSp>
      <p:grpSp>
        <p:nvGrpSpPr>
          <p:cNvPr name="Group 32" id="32"/>
          <p:cNvGrpSpPr/>
          <p:nvPr/>
        </p:nvGrpSpPr>
        <p:grpSpPr>
          <a:xfrm rot="0">
            <a:off x="2743200" y="4370832"/>
            <a:ext cx="13898880" cy="548640"/>
            <a:chOff x="0" y="0"/>
            <a:chExt cx="18531840" cy="731520"/>
          </a:xfrm>
        </p:grpSpPr>
        <p:sp>
          <p:nvSpPr>
            <p:cNvPr name="Freeform 33" id="33"/>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34" id="34"/>
            <p:cNvSpPr txBox="true"/>
            <p:nvPr/>
          </p:nvSpPr>
          <p:spPr>
            <a:xfrm>
              <a:off x="0" y="-47625"/>
              <a:ext cx="185318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Reformulations synonymiques · réécriture intentionnelle</a:t>
              </a:r>
            </a:p>
          </p:txBody>
        </p:sp>
      </p:grpSp>
      <p:grpSp>
        <p:nvGrpSpPr>
          <p:cNvPr name="Group 35" id="35"/>
          <p:cNvGrpSpPr/>
          <p:nvPr/>
        </p:nvGrpSpPr>
        <p:grpSpPr>
          <a:xfrm rot="0">
            <a:off x="1084583" y="5126231"/>
            <a:ext cx="16118843" cy="1268987"/>
            <a:chOff x="0" y="0"/>
            <a:chExt cx="21491791" cy="1691983"/>
          </a:xfrm>
        </p:grpSpPr>
        <p:sp>
          <p:nvSpPr>
            <p:cNvPr name="Freeform 36" id="36"/>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37" id="37"/>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38" id="38"/>
          <p:cNvGrpSpPr/>
          <p:nvPr/>
        </p:nvGrpSpPr>
        <p:grpSpPr>
          <a:xfrm rot="0">
            <a:off x="1554480" y="5394960"/>
            <a:ext cx="768096" cy="768096"/>
            <a:chOff x="0" y="0"/>
            <a:chExt cx="1024128" cy="1024128"/>
          </a:xfrm>
        </p:grpSpPr>
        <p:sp>
          <p:nvSpPr>
            <p:cNvPr name="Freeform 39" id="39"/>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2563EB"/>
            </a:solidFill>
          </p:spPr>
          <p:txBody>
            <a:bodyPr/>
            <a:p/>
          </p:txBody>
        </p:sp>
      </p:grpSp>
      <p:grpSp>
        <p:nvGrpSpPr>
          <p:cNvPr name="Group 40" id="40"/>
          <p:cNvGrpSpPr/>
          <p:nvPr/>
        </p:nvGrpSpPr>
        <p:grpSpPr>
          <a:xfrm rot="0">
            <a:off x="1554480" y="5394960"/>
            <a:ext cx="768096" cy="768096"/>
            <a:chOff x="0" y="0"/>
            <a:chExt cx="1024128" cy="1024128"/>
          </a:xfrm>
        </p:grpSpPr>
        <p:sp>
          <p:nvSpPr>
            <p:cNvPr name="Freeform 41" id="41"/>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42" id="42"/>
            <p:cNvSpPr txBox="true"/>
            <p:nvPr/>
          </p:nvSpPr>
          <p:spPr>
            <a:xfrm>
              <a:off x="0" y="-57150"/>
              <a:ext cx="1024128" cy="1081278"/>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3</a:t>
              </a:r>
            </a:p>
          </p:txBody>
        </p:sp>
      </p:grpSp>
      <p:grpSp>
        <p:nvGrpSpPr>
          <p:cNvPr name="Group 43" id="43"/>
          <p:cNvGrpSpPr/>
          <p:nvPr/>
        </p:nvGrpSpPr>
        <p:grpSpPr>
          <a:xfrm rot="0">
            <a:off x="2743200" y="5285232"/>
            <a:ext cx="6400800" cy="548640"/>
            <a:chOff x="0" y="0"/>
            <a:chExt cx="8534400" cy="731520"/>
          </a:xfrm>
        </p:grpSpPr>
        <p:sp>
          <p:nvSpPr>
            <p:cNvPr name="Freeform 44" id="44"/>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45" id="45"/>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Classification</a:t>
              </a:r>
            </a:p>
          </p:txBody>
        </p:sp>
      </p:grpSp>
      <p:grpSp>
        <p:nvGrpSpPr>
          <p:cNvPr name="Group 46" id="46"/>
          <p:cNvGrpSpPr/>
          <p:nvPr/>
        </p:nvGrpSpPr>
        <p:grpSpPr>
          <a:xfrm rot="0">
            <a:off x="2743200" y="5797296"/>
            <a:ext cx="13898880" cy="548640"/>
            <a:chOff x="0" y="0"/>
            <a:chExt cx="18531840" cy="731520"/>
          </a:xfrm>
        </p:grpSpPr>
        <p:sp>
          <p:nvSpPr>
            <p:cNvPr name="Freeform 47" id="47"/>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48" id="48"/>
            <p:cNvSpPr txBox="true"/>
            <p:nvPr/>
          </p:nvSpPr>
          <p:spPr>
            <a:xfrm>
              <a:off x="0" y="-47625"/>
              <a:ext cx="185318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5 intentions : contact · localisation · liste · définition · général</a:t>
              </a:r>
            </a:p>
          </p:txBody>
        </p:sp>
      </p:grpSp>
      <p:grpSp>
        <p:nvGrpSpPr>
          <p:cNvPr name="Group 49" id="49"/>
          <p:cNvGrpSpPr/>
          <p:nvPr/>
        </p:nvGrpSpPr>
        <p:grpSpPr>
          <a:xfrm rot="0">
            <a:off x="1084583" y="6552695"/>
            <a:ext cx="16118843" cy="1268987"/>
            <a:chOff x="0" y="0"/>
            <a:chExt cx="21491791" cy="1691983"/>
          </a:xfrm>
        </p:grpSpPr>
        <p:sp>
          <p:nvSpPr>
            <p:cNvPr name="Freeform 50" id="50"/>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51" id="51"/>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52" id="52"/>
          <p:cNvGrpSpPr/>
          <p:nvPr/>
        </p:nvGrpSpPr>
        <p:grpSpPr>
          <a:xfrm rot="0">
            <a:off x="1554480" y="6821424"/>
            <a:ext cx="768096" cy="768096"/>
            <a:chOff x="0" y="0"/>
            <a:chExt cx="1024128" cy="1024128"/>
          </a:xfrm>
        </p:grpSpPr>
        <p:sp>
          <p:nvSpPr>
            <p:cNvPr name="Freeform 53" id="53"/>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2563EB"/>
            </a:solidFill>
          </p:spPr>
          <p:txBody>
            <a:bodyPr/>
            <a:p/>
          </p:txBody>
        </p:sp>
      </p:grpSp>
      <p:grpSp>
        <p:nvGrpSpPr>
          <p:cNvPr name="Group 54" id="54"/>
          <p:cNvGrpSpPr/>
          <p:nvPr/>
        </p:nvGrpSpPr>
        <p:grpSpPr>
          <a:xfrm rot="0">
            <a:off x="1554480" y="6821424"/>
            <a:ext cx="768096" cy="768096"/>
            <a:chOff x="0" y="0"/>
            <a:chExt cx="1024128" cy="1024128"/>
          </a:xfrm>
        </p:grpSpPr>
        <p:sp>
          <p:nvSpPr>
            <p:cNvPr name="Freeform 55" id="55"/>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56" id="56"/>
            <p:cNvSpPr txBox="true"/>
            <p:nvPr/>
          </p:nvSpPr>
          <p:spPr>
            <a:xfrm>
              <a:off x="0" y="-57150"/>
              <a:ext cx="1024128" cy="1081278"/>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4</a:t>
              </a:r>
            </a:p>
          </p:txBody>
        </p:sp>
      </p:grpSp>
      <p:grpSp>
        <p:nvGrpSpPr>
          <p:cNvPr name="Group 57" id="57"/>
          <p:cNvGrpSpPr/>
          <p:nvPr/>
        </p:nvGrpSpPr>
        <p:grpSpPr>
          <a:xfrm rot="0">
            <a:off x="2743200" y="6711696"/>
            <a:ext cx="6400800" cy="548640"/>
            <a:chOff x="0" y="0"/>
            <a:chExt cx="8534400" cy="731520"/>
          </a:xfrm>
        </p:grpSpPr>
        <p:sp>
          <p:nvSpPr>
            <p:cNvPr name="Freeform 58" id="58"/>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59" id="59"/>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Recherche</a:t>
              </a:r>
            </a:p>
          </p:txBody>
        </p:sp>
      </p:grpSp>
      <p:grpSp>
        <p:nvGrpSpPr>
          <p:cNvPr name="Group 60" id="60"/>
          <p:cNvGrpSpPr/>
          <p:nvPr/>
        </p:nvGrpSpPr>
        <p:grpSpPr>
          <a:xfrm rot="0">
            <a:off x="2743200" y="7223760"/>
            <a:ext cx="13898880" cy="548640"/>
            <a:chOff x="0" y="0"/>
            <a:chExt cx="18531840" cy="731520"/>
          </a:xfrm>
        </p:grpSpPr>
        <p:sp>
          <p:nvSpPr>
            <p:cNvPr name="Freeform 61" id="61"/>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62" id="62"/>
            <p:cNvSpPr txBox="true"/>
            <p:nvPr/>
          </p:nvSpPr>
          <p:spPr>
            <a:xfrm>
              <a:off x="0" y="-47625"/>
              <a:ext cx="185318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Vectorielle Qdrant (cosinus) · repli lexical si indisponible</a:t>
              </a:r>
            </a:p>
          </p:txBody>
        </p:sp>
      </p:grpSp>
      <p:grpSp>
        <p:nvGrpSpPr>
          <p:cNvPr name="Group 63" id="63"/>
          <p:cNvGrpSpPr/>
          <p:nvPr/>
        </p:nvGrpSpPr>
        <p:grpSpPr>
          <a:xfrm rot="0">
            <a:off x="1084583" y="7979159"/>
            <a:ext cx="16118843" cy="1268987"/>
            <a:chOff x="0" y="0"/>
            <a:chExt cx="21491791" cy="1691983"/>
          </a:xfrm>
        </p:grpSpPr>
        <p:sp>
          <p:nvSpPr>
            <p:cNvPr name="Freeform 64" id="64"/>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65" id="65"/>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66" id="66"/>
          <p:cNvGrpSpPr/>
          <p:nvPr/>
        </p:nvGrpSpPr>
        <p:grpSpPr>
          <a:xfrm rot="0">
            <a:off x="1554480" y="8247888"/>
            <a:ext cx="768096" cy="768096"/>
            <a:chOff x="0" y="0"/>
            <a:chExt cx="1024128" cy="1024128"/>
          </a:xfrm>
        </p:grpSpPr>
        <p:sp>
          <p:nvSpPr>
            <p:cNvPr name="Freeform 67" id="67"/>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2563EB"/>
            </a:solidFill>
          </p:spPr>
          <p:txBody>
            <a:bodyPr/>
            <a:p/>
          </p:txBody>
        </p:sp>
      </p:grpSp>
      <p:grpSp>
        <p:nvGrpSpPr>
          <p:cNvPr name="Group 68" id="68"/>
          <p:cNvGrpSpPr/>
          <p:nvPr/>
        </p:nvGrpSpPr>
        <p:grpSpPr>
          <a:xfrm rot="0">
            <a:off x="1554480" y="8247888"/>
            <a:ext cx="768096" cy="768096"/>
            <a:chOff x="0" y="0"/>
            <a:chExt cx="1024128" cy="1024128"/>
          </a:xfrm>
        </p:grpSpPr>
        <p:sp>
          <p:nvSpPr>
            <p:cNvPr name="Freeform 69" id="69"/>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70" id="70"/>
            <p:cNvSpPr txBox="true"/>
            <p:nvPr/>
          </p:nvSpPr>
          <p:spPr>
            <a:xfrm>
              <a:off x="0" y="-57150"/>
              <a:ext cx="1024128" cy="1081278"/>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5</a:t>
              </a:r>
            </a:p>
          </p:txBody>
        </p:sp>
      </p:grpSp>
      <p:grpSp>
        <p:nvGrpSpPr>
          <p:cNvPr name="Group 71" id="71"/>
          <p:cNvGrpSpPr/>
          <p:nvPr/>
        </p:nvGrpSpPr>
        <p:grpSpPr>
          <a:xfrm rot="0">
            <a:off x="2743200" y="8138160"/>
            <a:ext cx="6400800" cy="548640"/>
            <a:chOff x="0" y="0"/>
            <a:chExt cx="8534400" cy="731520"/>
          </a:xfrm>
        </p:grpSpPr>
        <p:sp>
          <p:nvSpPr>
            <p:cNvPr name="Freeform 72" id="72"/>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73" id="73"/>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Génération</a:t>
              </a:r>
            </a:p>
          </p:txBody>
        </p:sp>
      </p:grpSp>
      <p:grpSp>
        <p:nvGrpSpPr>
          <p:cNvPr name="Group 74" id="74"/>
          <p:cNvGrpSpPr/>
          <p:nvPr/>
        </p:nvGrpSpPr>
        <p:grpSpPr>
          <a:xfrm rot="0">
            <a:off x="2743200" y="8650224"/>
            <a:ext cx="13898880" cy="548640"/>
            <a:chOff x="0" y="0"/>
            <a:chExt cx="18531840" cy="731520"/>
          </a:xfrm>
        </p:grpSpPr>
        <p:sp>
          <p:nvSpPr>
            <p:cNvPr name="Freeform 75" id="75"/>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76" id="76"/>
            <p:cNvSpPr txBox="true"/>
            <p:nvPr/>
          </p:nvSpPr>
          <p:spPr>
            <a:xfrm>
              <a:off x="0" y="-47625"/>
              <a:ext cx="185318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Groq LLM avec contexte + historique + source citée</a:t>
              </a:r>
            </a:p>
          </p:txBody>
        </p:sp>
      </p:grpSp>
      <p:sp>
        <p:nvSpPr>
          <p:cNvPr name="TextBox 77" id="7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Évaluation de la confiance</a:t>
              </a:r>
            </a:p>
          </p:txBody>
        </p:sp>
      </p:grpSp>
      <p:grpSp>
        <p:nvGrpSpPr>
          <p:cNvPr name="Group 7" id="7"/>
          <p:cNvGrpSpPr/>
          <p:nvPr/>
        </p:nvGrpSpPr>
        <p:grpSpPr>
          <a:xfrm rot="0">
            <a:off x="914400" y="2103120"/>
            <a:ext cx="16459200" cy="731520"/>
            <a:chOff x="0" y="0"/>
            <a:chExt cx="21945600" cy="975360"/>
          </a:xfrm>
        </p:grpSpPr>
        <p:sp>
          <p:nvSpPr>
            <p:cNvPr name="Freeform 8" id="8"/>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txBody>
            <a:bodyPr/>
            <a:p/>
          </p:txBody>
        </p:sp>
        <p:sp>
          <p:nvSpPr>
            <p:cNvPr name="TextBox 9" id="9"/>
            <p:cNvSpPr txBox="true"/>
            <p:nvPr/>
          </p:nvSpPr>
          <p:spPr>
            <a:xfrm>
              <a:off x="0" y="-66675"/>
              <a:ext cx="21945600" cy="1042035"/>
            </a:xfrm>
            <a:prstGeom prst="rect">
              <a:avLst/>
            </a:prstGeom>
          </p:spPr>
          <p:txBody>
            <a:bodyPr anchor="ctr" rtlCol="false" tIns="0" lIns="0" bIns="0" rIns="0"/>
            <a:lstStyle/>
            <a:p>
              <a:pPr algn="ctr">
                <a:lnSpc>
                  <a:spcPts val="3600"/>
                </a:lnSpc>
              </a:pPr>
              <a:r>
                <a:rPr lang="en-US" sz="3000" i="true">
                  <a:solidFill>
                    <a:srgbClr val="64748B"/>
                  </a:solidFill>
                  <a:latin typeface="Calibri (MS) Italics"/>
                  <a:ea typeface="Calibri (MS) Italics"/>
                  <a:cs typeface="Calibri (MS) Italics"/>
                  <a:sym typeface="Calibri (MS) Italics"/>
                </a:rPr>
                <a:t>Chaque réponse RAG est accompagnée d'un score de confiance</a:t>
              </a:r>
            </a:p>
          </p:txBody>
        </p:sp>
      </p:grpSp>
      <p:grpSp>
        <p:nvGrpSpPr>
          <p:cNvPr name="Group 10" id="10"/>
          <p:cNvGrpSpPr/>
          <p:nvPr/>
        </p:nvGrpSpPr>
        <p:grpSpPr>
          <a:xfrm rot="0">
            <a:off x="1816103" y="3553463"/>
            <a:ext cx="14655803" cy="1707899"/>
            <a:chOff x="0" y="0"/>
            <a:chExt cx="19541071" cy="2277199"/>
          </a:xfrm>
        </p:grpSpPr>
        <p:sp>
          <p:nvSpPr>
            <p:cNvPr name="Freeform 11" id="11"/>
            <p:cNvSpPr/>
            <p:nvPr/>
          </p:nvSpPr>
          <p:spPr>
            <a:xfrm flipH="false" flipV="false" rot="0">
              <a:off x="16891" y="16891"/>
              <a:ext cx="19507199" cy="2243328"/>
            </a:xfrm>
            <a:custGeom>
              <a:avLst/>
              <a:gdLst/>
              <a:ahLst/>
              <a:cxnLst/>
              <a:rect r="r" b="b" t="t" l="l"/>
              <a:pathLst>
                <a:path h="2243328" w="19507199">
                  <a:moveTo>
                    <a:pt x="0" y="0"/>
                  </a:moveTo>
                  <a:lnTo>
                    <a:pt x="19507199" y="0"/>
                  </a:lnTo>
                  <a:lnTo>
                    <a:pt x="19507199" y="2243328"/>
                  </a:lnTo>
                  <a:lnTo>
                    <a:pt x="0" y="2243328"/>
                  </a:lnTo>
                  <a:close/>
                </a:path>
              </a:pathLst>
            </a:custGeom>
            <a:solidFill>
              <a:srgbClr val="FFFFFF"/>
            </a:solidFill>
          </p:spPr>
          <p:txBody>
            <a:bodyPr/>
            <a:p/>
          </p:txBody>
        </p:sp>
        <p:sp>
          <p:nvSpPr>
            <p:cNvPr name="Freeform 12" id="12"/>
            <p:cNvSpPr/>
            <p:nvPr/>
          </p:nvSpPr>
          <p:spPr>
            <a:xfrm flipH="false" flipV="false" rot="0">
              <a:off x="0" y="0"/>
              <a:ext cx="19540982" cy="2277110"/>
            </a:xfrm>
            <a:custGeom>
              <a:avLst/>
              <a:gdLst/>
              <a:ahLst/>
              <a:cxnLst/>
              <a:rect r="r" b="b" t="t" l="l"/>
              <a:pathLst>
                <a:path h="2277110" w="19540982">
                  <a:moveTo>
                    <a:pt x="16891" y="0"/>
                  </a:moveTo>
                  <a:lnTo>
                    <a:pt x="19524090" y="0"/>
                  </a:lnTo>
                  <a:cubicBezTo>
                    <a:pt x="19533490" y="0"/>
                    <a:pt x="19540982" y="7620"/>
                    <a:pt x="19540982" y="16891"/>
                  </a:cubicBezTo>
                  <a:lnTo>
                    <a:pt x="19540982" y="2260219"/>
                  </a:lnTo>
                  <a:cubicBezTo>
                    <a:pt x="19540982" y="2269617"/>
                    <a:pt x="19533363" y="2277110"/>
                    <a:pt x="19524090"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19524090" y="2243328"/>
                  </a:lnTo>
                  <a:lnTo>
                    <a:pt x="19524090" y="2260219"/>
                  </a:lnTo>
                  <a:lnTo>
                    <a:pt x="19507200" y="2260219"/>
                  </a:lnTo>
                  <a:lnTo>
                    <a:pt x="19507200" y="16891"/>
                  </a:lnTo>
                  <a:lnTo>
                    <a:pt x="19524090" y="16891"/>
                  </a:lnTo>
                  <a:lnTo>
                    <a:pt x="19524090" y="33909"/>
                  </a:lnTo>
                  <a:lnTo>
                    <a:pt x="16891" y="33909"/>
                  </a:lnTo>
                  <a:close/>
                </a:path>
              </a:pathLst>
            </a:custGeom>
            <a:solidFill>
              <a:srgbClr val="E2E8F0"/>
            </a:solidFill>
          </p:spPr>
          <p:txBody>
            <a:bodyPr/>
            <a:p/>
          </p:txBody>
        </p:sp>
      </p:grpSp>
      <p:grpSp>
        <p:nvGrpSpPr>
          <p:cNvPr name="Group 13" id="13"/>
          <p:cNvGrpSpPr/>
          <p:nvPr/>
        </p:nvGrpSpPr>
        <p:grpSpPr>
          <a:xfrm rot="0">
            <a:off x="1828800" y="3566160"/>
            <a:ext cx="365760" cy="1682496"/>
            <a:chOff x="0" y="0"/>
            <a:chExt cx="487680" cy="2243328"/>
          </a:xfrm>
        </p:grpSpPr>
        <p:sp>
          <p:nvSpPr>
            <p:cNvPr name="Freeform 14" id="14"/>
            <p:cNvSpPr/>
            <p:nvPr/>
          </p:nvSpPr>
          <p:spPr>
            <a:xfrm flipH="false" flipV="false" rot="0">
              <a:off x="0" y="0"/>
              <a:ext cx="487680" cy="2243328"/>
            </a:xfrm>
            <a:custGeom>
              <a:avLst/>
              <a:gdLst/>
              <a:ahLst/>
              <a:cxnLst/>
              <a:rect r="r" b="b" t="t" l="l"/>
              <a:pathLst>
                <a:path h="2243328" w="487680">
                  <a:moveTo>
                    <a:pt x="0" y="0"/>
                  </a:moveTo>
                  <a:lnTo>
                    <a:pt x="487680" y="0"/>
                  </a:lnTo>
                  <a:lnTo>
                    <a:pt x="487680" y="2243328"/>
                  </a:lnTo>
                  <a:lnTo>
                    <a:pt x="0" y="2243328"/>
                  </a:lnTo>
                  <a:close/>
                </a:path>
              </a:pathLst>
            </a:custGeom>
            <a:solidFill>
              <a:srgbClr val="059669"/>
            </a:solidFill>
          </p:spPr>
          <p:txBody>
            <a:bodyPr/>
            <a:p/>
          </p:txBody>
        </p:sp>
      </p:grpSp>
      <p:grpSp>
        <p:nvGrpSpPr>
          <p:cNvPr name="Group 15" id="15"/>
          <p:cNvGrpSpPr/>
          <p:nvPr/>
        </p:nvGrpSpPr>
        <p:grpSpPr>
          <a:xfrm rot="0">
            <a:off x="2560320" y="3566160"/>
            <a:ext cx="3291840" cy="1682496"/>
            <a:chOff x="0" y="0"/>
            <a:chExt cx="4389120" cy="2243328"/>
          </a:xfrm>
        </p:grpSpPr>
        <p:sp>
          <p:nvSpPr>
            <p:cNvPr name="Freeform 16" id="16"/>
            <p:cNvSpPr/>
            <p:nvPr/>
          </p:nvSpPr>
          <p:spPr>
            <a:xfrm flipH="false" flipV="false" rot="0">
              <a:off x="0" y="0"/>
              <a:ext cx="4389120" cy="2243328"/>
            </a:xfrm>
            <a:custGeom>
              <a:avLst/>
              <a:gdLst/>
              <a:ahLst/>
              <a:cxnLst/>
              <a:rect r="r" b="b" t="t" l="l"/>
              <a:pathLst>
                <a:path h="2243328" w="4389120">
                  <a:moveTo>
                    <a:pt x="0" y="0"/>
                  </a:moveTo>
                  <a:lnTo>
                    <a:pt x="4389120" y="0"/>
                  </a:lnTo>
                  <a:lnTo>
                    <a:pt x="4389120" y="2243328"/>
                  </a:lnTo>
                  <a:lnTo>
                    <a:pt x="0" y="2243328"/>
                  </a:lnTo>
                  <a:close/>
                </a:path>
              </a:pathLst>
            </a:custGeom>
            <a:blipFill>
              <a:blip r:embed="rId3">
                <a:alphaModFix amt="0"/>
              </a:blip>
              <a:stretch>
                <a:fillRect l="-15577" t="0" r="-15577" b="0"/>
              </a:stretch>
            </a:blipFill>
          </p:spPr>
          <p:txBody>
            <a:bodyPr/>
            <a:p/>
          </p:txBody>
        </p:sp>
        <p:sp>
          <p:nvSpPr>
            <p:cNvPr name="TextBox 17" id="17"/>
            <p:cNvSpPr txBox="true"/>
            <p:nvPr/>
          </p:nvSpPr>
          <p:spPr>
            <a:xfrm>
              <a:off x="0" y="-66675"/>
              <a:ext cx="4389120" cy="2310003"/>
            </a:xfrm>
            <a:prstGeom prst="rect">
              <a:avLst/>
            </a:prstGeom>
          </p:spPr>
          <p:txBody>
            <a:bodyPr anchor="ctr" rtlCol="false" tIns="0" lIns="0" bIns="0" rIns="0"/>
            <a:lstStyle/>
            <a:p>
              <a:r>
                <a:t>≥ 0.70</a:t>
              </a:r>
            </a:p>
          </p:txBody>
        </p:sp>
      </p:grpSp>
      <p:grpSp>
        <p:nvGrpSpPr>
          <p:cNvPr name="Group 18" id="18"/>
          <p:cNvGrpSpPr/>
          <p:nvPr/>
        </p:nvGrpSpPr>
        <p:grpSpPr>
          <a:xfrm rot="0">
            <a:off x="6035040" y="3566160"/>
            <a:ext cx="2194560" cy="1682496"/>
            <a:chOff x="0" y="0"/>
            <a:chExt cx="2926080" cy="2243328"/>
          </a:xfrm>
        </p:grpSpPr>
        <p:sp>
          <p:nvSpPr>
            <p:cNvPr name="Freeform 19" id="19"/>
            <p:cNvSpPr/>
            <p:nvPr/>
          </p:nvSpPr>
          <p:spPr>
            <a:xfrm flipH="false" flipV="false" rot="0">
              <a:off x="0" y="0"/>
              <a:ext cx="2926080" cy="2243328"/>
            </a:xfrm>
            <a:custGeom>
              <a:avLst/>
              <a:gdLst/>
              <a:ahLst/>
              <a:cxnLst/>
              <a:rect r="r" b="b" t="t" l="l"/>
              <a:pathLst>
                <a:path h="2243328" w="2926080">
                  <a:moveTo>
                    <a:pt x="0" y="0"/>
                  </a:moveTo>
                  <a:lnTo>
                    <a:pt x="2926080" y="0"/>
                  </a:lnTo>
                  <a:lnTo>
                    <a:pt x="2926080" y="2243328"/>
                  </a:lnTo>
                  <a:lnTo>
                    <a:pt x="0" y="2243328"/>
                  </a:lnTo>
                  <a:close/>
                </a:path>
              </a:pathLst>
            </a:custGeom>
            <a:blipFill>
              <a:blip r:embed="rId3">
                <a:alphaModFix amt="0"/>
              </a:blip>
              <a:stretch>
                <a:fillRect l="-48366" t="0" r="-48366" b="0"/>
              </a:stretch>
            </a:blipFill>
          </p:spPr>
          <p:txBody>
            <a:bodyPr/>
            <a:p/>
          </p:txBody>
        </p:sp>
        <p:sp>
          <p:nvSpPr>
            <p:cNvPr name="TextBox 20" id="20"/>
            <p:cNvSpPr txBox="true"/>
            <p:nvPr/>
          </p:nvSpPr>
          <p:spPr>
            <a:xfrm>
              <a:off x="0" y="-57150"/>
              <a:ext cx="2926080" cy="2300478"/>
            </a:xfrm>
            <a:prstGeom prst="rect">
              <a:avLst/>
            </a:prstGeom>
          </p:spPr>
          <p:txBody>
            <a:bodyPr anchor="ctr" rtlCol="false" tIns="0" lIns="0" bIns="0" rIns="0"/>
            <a:lstStyle/>
            <a:p>
              <a:pPr algn="l">
                <a:lnSpc>
                  <a:spcPts val="3840"/>
                </a:lnSpc>
              </a:pPr>
              <a:r>
                <a:rPr lang="en-US" sz="3200" b="true">
                  <a:solidFill>
                    <a:srgbClr val="059669"/>
                  </a:solidFill>
                  <a:latin typeface="Calibri (MS) Bold"/>
                  <a:ea typeface="Calibri (MS) Bold"/>
                  <a:cs typeface="Calibri (MS) Bold"/>
                  <a:sym typeface="Calibri (MS) Bold"/>
                </a:rPr>
                <a:t>HIGH</a:t>
              </a:r>
            </a:p>
          </p:txBody>
        </p:sp>
      </p:grpSp>
      <p:grpSp>
        <p:nvGrpSpPr>
          <p:cNvPr name="Group 21" id="21"/>
          <p:cNvGrpSpPr/>
          <p:nvPr/>
        </p:nvGrpSpPr>
        <p:grpSpPr>
          <a:xfrm rot="0">
            <a:off x="8412480" y="3566160"/>
            <a:ext cx="7680960" cy="1682496"/>
            <a:chOff x="0" y="0"/>
            <a:chExt cx="10241280" cy="2243328"/>
          </a:xfrm>
        </p:grpSpPr>
        <p:sp>
          <p:nvSpPr>
            <p:cNvPr name="Freeform 22" id="22"/>
            <p:cNvSpPr/>
            <p:nvPr/>
          </p:nvSpPr>
          <p:spPr>
            <a:xfrm flipH="false" flipV="false" rot="0">
              <a:off x="0" y="0"/>
              <a:ext cx="10241280" cy="2243328"/>
            </a:xfrm>
            <a:custGeom>
              <a:avLst/>
              <a:gdLst/>
              <a:ahLst/>
              <a:cxnLst/>
              <a:rect r="r" b="b" t="t" l="l"/>
              <a:pathLst>
                <a:path h="2243328" w="10241280">
                  <a:moveTo>
                    <a:pt x="0" y="0"/>
                  </a:moveTo>
                  <a:lnTo>
                    <a:pt x="10241280" y="0"/>
                  </a:lnTo>
                  <a:lnTo>
                    <a:pt x="10241280" y="2243328"/>
                  </a:lnTo>
                  <a:lnTo>
                    <a:pt x="0" y="2243328"/>
                  </a:lnTo>
                  <a:close/>
                </a:path>
              </a:pathLst>
            </a:custGeom>
            <a:blipFill>
              <a:blip r:embed="rId3">
                <a:alphaModFix amt="0"/>
              </a:blip>
              <a:stretch>
                <a:fillRect l="0" t="-38953" r="0" b="-38953"/>
              </a:stretch>
            </a:blipFill>
          </p:spPr>
          <p:txBody>
            <a:bodyPr/>
            <a:p/>
          </p:txBody>
        </p:sp>
        <p:sp>
          <p:nvSpPr>
            <p:cNvPr name="TextBox 23" id="23"/>
            <p:cNvSpPr txBox="true"/>
            <p:nvPr/>
          </p:nvSpPr>
          <p:spPr>
            <a:xfrm>
              <a:off x="0" y="-47625"/>
              <a:ext cx="10241280" cy="2290953"/>
            </a:xfrm>
            <a:prstGeom prst="rect">
              <a:avLst/>
            </a:prstGeom>
          </p:spPr>
          <p:txBody>
            <a:bodyPr anchor="ctr" rtlCol="false" tIns="0" lIns="0" bIns="0" rIns="0"/>
            <a:lstStyle/>
            <a:p>
              <a:r>
                <a:t>Contexte proche, réponse appuyée par les passages</a:t>
              </a:r>
            </a:p>
          </p:txBody>
        </p:sp>
      </p:grpSp>
      <p:grpSp>
        <p:nvGrpSpPr>
          <p:cNvPr name="Group 24" id="24"/>
          <p:cNvGrpSpPr/>
          <p:nvPr/>
        </p:nvGrpSpPr>
        <p:grpSpPr>
          <a:xfrm rot="0">
            <a:off x="1816103" y="5473703"/>
            <a:ext cx="14655803" cy="1707899"/>
            <a:chOff x="0" y="0"/>
            <a:chExt cx="19541071" cy="2277199"/>
          </a:xfrm>
        </p:grpSpPr>
        <p:sp>
          <p:nvSpPr>
            <p:cNvPr name="Freeform 25" id="25"/>
            <p:cNvSpPr/>
            <p:nvPr/>
          </p:nvSpPr>
          <p:spPr>
            <a:xfrm flipH="false" flipV="false" rot="0">
              <a:off x="16891" y="16891"/>
              <a:ext cx="19507199" cy="2243328"/>
            </a:xfrm>
            <a:custGeom>
              <a:avLst/>
              <a:gdLst/>
              <a:ahLst/>
              <a:cxnLst/>
              <a:rect r="r" b="b" t="t" l="l"/>
              <a:pathLst>
                <a:path h="2243328" w="19507199">
                  <a:moveTo>
                    <a:pt x="0" y="0"/>
                  </a:moveTo>
                  <a:lnTo>
                    <a:pt x="19507199" y="0"/>
                  </a:lnTo>
                  <a:lnTo>
                    <a:pt x="19507199" y="2243328"/>
                  </a:lnTo>
                  <a:lnTo>
                    <a:pt x="0" y="2243328"/>
                  </a:lnTo>
                  <a:close/>
                </a:path>
              </a:pathLst>
            </a:custGeom>
            <a:solidFill>
              <a:srgbClr val="FFFFFF"/>
            </a:solidFill>
          </p:spPr>
          <p:txBody>
            <a:bodyPr/>
            <a:p/>
          </p:txBody>
        </p:sp>
        <p:sp>
          <p:nvSpPr>
            <p:cNvPr name="Freeform 26" id="26"/>
            <p:cNvSpPr/>
            <p:nvPr/>
          </p:nvSpPr>
          <p:spPr>
            <a:xfrm flipH="false" flipV="false" rot="0">
              <a:off x="0" y="0"/>
              <a:ext cx="19540982" cy="2277110"/>
            </a:xfrm>
            <a:custGeom>
              <a:avLst/>
              <a:gdLst/>
              <a:ahLst/>
              <a:cxnLst/>
              <a:rect r="r" b="b" t="t" l="l"/>
              <a:pathLst>
                <a:path h="2277110" w="19540982">
                  <a:moveTo>
                    <a:pt x="16891" y="0"/>
                  </a:moveTo>
                  <a:lnTo>
                    <a:pt x="19524090" y="0"/>
                  </a:lnTo>
                  <a:cubicBezTo>
                    <a:pt x="19533490" y="0"/>
                    <a:pt x="19540982" y="7620"/>
                    <a:pt x="19540982" y="16891"/>
                  </a:cubicBezTo>
                  <a:lnTo>
                    <a:pt x="19540982" y="2260219"/>
                  </a:lnTo>
                  <a:cubicBezTo>
                    <a:pt x="19540982" y="2269617"/>
                    <a:pt x="19533363" y="2277110"/>
                    <a:pt x="19524090"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19524090" y="2243328"/>
                  </a:lnTo>
                  <a:lnTo>
                    <a:pt x="19524090" y="2260219"/>
                  </a:lnTo>
                  <a:lnTo>
                    <a:pt x="19507200" y="2260219"/>
                  </a:lnTo>
                  <a:lnTo>
                    <a:pt x="19507200" y="16891"/>
                  </a:lnTo>
                  <a:lnTo>
                    <a:pt x="19524090" y="16891"/>
                  </a:lnTo>
                  <a:lnTo>
                    <a:pt x="19524090" y="33909"/>
                  </a:lnTo>
                  <a:lnTo>
                    <a:pt x="16891" y="33909"/>
                  </a:lnTo>
                  <a:close/>
                </a:path>
              </a:pathLst>
            </a:custGeom>
            <a:solidFill>
              <a:srgbClr val="E2E8F0"/>
            </a:solidFill>
          </p:spPr>
          <p:txBody>
            <a:bodyPr/>
            <a:p/>
          </p:txBody>
        </p:sp>
      </p:grpSp>
      <p:grpSp>
        <p:nvGrpSpPr>
          <p:cNvPr name="Group 27" id="27"/>
          <p:cNvGrpSpPr/>
          <p:nvPr/>
        </p:nvGrpSpPr>
        <p:grpSpPr>
          <a:xfrm rot="0">
            <a:off x="1828800" y="5486400"/>
            <a:ext cx="365760" cy="1682496"/>
            <a:chOff x="0" y="0"/>
            <a:chExt cx="487680" cy="2243328"/>
          </a:xfrm>
        </p:grpSpPr>
        <p:sp>
          <p:nvSpPr>
            <p:cNvPr name="Freeform 28" id="28"/>
            <p:cNvSpPr/>
            <p:nvPr/>
          </p:nvSpPr>
          <p:spPr>
            <a:xfrm flipH="false" flipV="false" rot="0">
              <a:off x="0" y="0"/>
              <a:ext cx="487680" cy="2243328"/>
            </a:xfrm>
            <a:custGeom>
              <a:avLst/>
              <a:gdLst/>
              <a:ahLst/>
              <a:cxnLst/>
              <a:rect r="r" b="b" t="t" l="l"/>
              <a:pathLst>
                <a:path h="2243328" w="487680">
                  <a:moveTo>
                    <a:pt x="0" y="0"/>
                  </a:moveTo>
                  <a:lnTo>
                    <a:pt x="487680" y="0"/>
                  </a:lnTo>
                  <a:lnTo>
                    <a:pt x="487680" y="2243328"/>
                  </a:lnTo>
                  <a:lnTo>
                    <a:pt x="0" y="2243328"/>
                  </a:lnTo>
                  <a:close/>
                </a:path>
              </a:pathLst>
            </a:custGeom>
            <a:solidFill>
              <a:srgbClr val="D97706"/>
            </a:solidFill>
          </p:spPr>
          <p:txBody>
            <a:bodyPr/>
            <a:p/>
          </p:txBody>
        </p:sp>
      </p:grpSp>
      <p:grpSp>
        <p:nvGrpSpPr>
          <p:cNvPr name="Group 29" id="29"/>
          <p:cNvGrpSpPr/>
          <p:nvPr/>
        </p:nvGrpSpPr>
        <p:grpSpPr>
          <a:xfrm rot="0">
            <a:off x="2560320" y="5486400"/>
            <a:ext cx="3291840" cy="1682496"/>
            <a:chOff x="0" y="0"/>
            <a:chExt cx="4389120" cy="2243328"/>
          </a:xfrm>
        </p:grpSpPr>
        <p:sp>
          <p:nvSpPr>
            <p:cNvPr name="Freeform 30" id="30"/>
            <p:cNvSpPr/>
            <p:nvPr/>
          </p:nvSpPr>
          <p:spPr>
            <a:xfrm flipH="false" flipV="false" rot="0">
              <a:off x="0" y="0"/>
              <a:ext cx="4389120" cy="2243328"/>
            </a:xfrm>
            <a:custGeom>
              <a:avLst/>
              <a:gdLst/>
              <a:ahLst/>
              <a:cxnLst/>
              <a:rect r="r" b="b" t="t" l="l"/>
              <a:pathLst>
                <a:path h="2243328" w="4389120">
                  <a:moveTo>
                    <a:pt x="0" y="0"/>
                  </a:moveTo>
                  <a:lnTo>
                    <a:pt x="4389120" y="0"/>
                  </a:lnTo>
                  <a:lnTo>
                    <a:pt x="4389120" y="2243328"/>
                  </a:lnTo>
                  <a:lnTo>
                    <a:pt x="0" y="2243328"/>
                  </a:lnTo>
                  <a:close/>
                </a:path>
              </a:pathLst>
            </a:custGeom>
            <a:blipFill>
              <a:blip r:embed="rId3">
                <a:alphaModFix amt="0"/>
              </a:blip>
              <a:stretch>
                <a:fillRect l="-15577" t="0" r="-15577" b="0"/>
              </a:stretch>
            </a:blipFill>
          </p:spPr>
          <p:txBody>
            <a:bodyPr/>
            <a:p/>
          </p:txBody>
        </p:sp>
        <p:sp>
          <p:nvSpPr>
            <p:cNvPr name="TextBox 31" id="31"/>
            <p:cNvSpPr txBox="true"/>
            <p:nvPr/>
          </p:nvSpPr>
          <p:spPr>
            <a:xfrm>
              <a:off x="0" y="-66675"/>
              <a:ext cx="4389120" cy="2310003"/>
            </a:xfrm>
            <a:prstGeom prst="rect">
              <a:avLst/>
            </a:prstGeom>
          </p:spPr>
          <p:txBody>
            <a:bodyPr anchor="ctr" rtlCol="false" tIns="0" lIns="0" bIns="0" rIns="0"/>
            <a:lstStyle/>
            <a:p>
              <a:r>
                <a:t>≥ 0.40</a:t>
              </a:r>
            </a:p>
          </p:txBody>
        </p:sp>
      </p:grpSp>
      <p:grpSp>
        <p:nvGrpSpPr>
          <p:cNvPr name="Group 32" id="32"/>
          <p:cNvGrpSpPr/>
          <p:nvPr/>
        </p:nvGrpSpPr>
        <p:grpSpPr>
          <a:xfrm rot="0">
            <a:off x="6035040" y="5486400"/>
            <a:ext cx="2194560" cy="1682496"/>
            <a:chOff x="0" y="0"/>
            <a:chExt cx="2926080" cy="2243328"/>
          </a:xfrm>
        </p:grpSpPr>
        <p:sp>
          <p:nvSpPr>
            <p:cNvPr name="Freeform 33" id="33"/>
            <p:cNvSpPr/>
            <p:nvPr/>
          </p:nvSpPr>
          <p:spPr>
            <a:xfrm flipH="false" flipV="false" rot="0">
              <a:off x="0" y="0"/>
              <a:ext cx="2926080" cy="2243328"/>
            </a:xfrm>
            <a:custGeom>
              <a:avLst/>
              <a:gdLst/>
              <a:ahLst/>
              <a:cxnLst/>
              <a:rect r="r" b="b" t="t" l="l"/>
              <a:pathLst>
                <a:path h="2243328" w="2926080">
                  <a:moveTo>
                    <a:pt x="0" y="0"/>
                  </a:moveTo>
                  <a:lnTo>
                    <a:pt x="2926080" y="0"/>
                  </a:lnTo>
                  <a:lnTo>
                    <a:pt x="2926080" y="2243328"/>
                  </a:lnTo>
                  <a:lnTo>
                    <a:pt x="0" y="2243328"/>
                  </a:lnTo>
                  <a:close/>
                </a:path>
              </a:pathLst>
            </a:custGeom>
            <a:blipFill>
              <a:blip r:embed="rId3">
                <a:alphaModFix amt="0"/>
              </a:blip>
              <a:stretch>
                <a:fillRect l="-48366" t="0" r="-48366" b="0"/>
              </a:stretch>
            </a:blipFill>
          </p:spPr>
          <p:txBody>
            <a:bodyPr/>
            <a:p/>
          </p:txBody>
        </p:sp>
        <p:sp>
          <p:nvSpPr>
            <p:cNvPr name="TextBox 34" id="34"/>
            <p:cNvSpPr txBox="true"/>
            <p:nvPr/>
          </p:nvSpPr>
          <p:spPr>
            <a:xfrm>
              <a:off x="0" y="-57150"/>
              <a:ext cx="2926080" cy="2300478"/>
            </a:xfrm>
            <a:prstGeom prst="rect">
              <a:avLst/>
            </a:prstGeom>
          </p:spPr>
          <p:txBody>
            <a:bodyPr anchor="ctr" rtlCol="false" tIns="0" lIns="0" bIns="0" rIns="0"/>
            <a:lstStyle/>
            <a:p>
              <a:pPr algn="l">
                <a:lnSpc>
                  <a:spcPts val="3840"/>
                </a:lnSpc>
              </a:pPr>
              <a:r>
                <a:rPr lang="en-US" sz="3200" b="true">
                  <a:solidFill>
                    <a:srgbClr val="D97706"/>
                  </a:solidFill>
                  <a:latin typeface="Calibri (MS) Bold"/>
                  <a:ea typeface="Calibri (MS) Bold"/>
                  <a:cs typeface="Calibri (MS) Bold"/>
                  <a:sym typeface="Calibri (MS) Bold"/>
                </a:rPr>
                <a:t>MEDIUM</a:t>
              </a:r>
            </a:p>
          </p:txBody>
        </p:sp>
      </p:grpSp>
      <p:grpSp>
        <p:nvGrpSpPr>
          <p:cNvPr name="Group 35" id="35"/>
          <p:cNvGrpSpPr/>
          <p:nvPr/>
        </p:nvGrpSpPr>
        <p:grpSpPr>
          <a:xfrm rot="0">
            <a:off x="8412480" y="5486400"/>
            <a:ext cx="7680960" cy="1682496"/>
            <a:chOff x="0" y="0"/>
            <a:chExt cx="10241280" cy="2243328"/>
          </a:xfrm>
        </p:grpSpPr>
        <p:sp>
          <p:nvSpPr>
            <p:cNvPr name="Freeform 36" id="36"/>
            <p:cNvSpPr/>
            <p:nvPr/>
          </p:nvSpPr>
          <p:spPr>
            <a:xfrm flipH="false" flipV="false" rot="0">
              <a:off x="0" y="0"/>
              <a:ext cx="10241280" cy="2243328"/>
            </a:xfrm>
            <a:custGeom>
              <a:avLst/>
              <a:gdLst/>
              <a:ahLst/>
              <a:cxnLst/>
              <a:rect r="r" b="b" t="t" l="l"/>
              <a:pathLst>
                <a:path h="2243328" w="10241280">
                  <a:moveTo>
                    <a:pt x="0" y="0"/>
                  </a:moveTo>
                  <a:lnTo>
                    <a:pt x="10241280" y="0"/>
                  </a:lnTo>
                  <a:lnTo>
                    <a:pt x="10241280" y="2243328"/>
                  </a:lnTo>
                  <a:lnTo>
                    <a:pt x="0" y="2243328"/>
                  </a:lnTo>
                  <a:close/>
                </a:path>
              </a:pathLst>
            </a:custGeom>
            <a:blipFill>
              <a:blip r:embed="rId3">
                <a:alphaModFix amt="0"/>
              </a:blip>
              <a:stretch>
                <a:fillRect l="0" t="-38953" r="0" b="-38953"/>
              </a:stretch>
            </a:blipFill>
          </p:spPr>
          <p:txBody>
            <a:bodyPr/>
            <a:p/>
          </p:txBody>
        </p:sp>
        <p:sp>
          <p:nvSpPr>
            <p:cNvPr name="TextBox 37" id="37"/>
            <p:cNvSpPr txBox="true"/>
            <p:nvPr/>
          </p:nvSpPr>
          <p:spPr>
            <a:xfrm>
              <a:off x="0" y="-47625"/>
              <a:ext cx="10241280" cy="2290953"/>
            </a:xfrm>
            <a:prstGeom prst="rect">
              <a:avLst/>
            </a:prstGeom>
          </p:spPr>
          <p:txBody>
            <a:bodyPr anchor="ctr" rtlCol="false" tIns="0" lIns="0" bIns="0" rIns="0"/>
            <a:lstStyle/>
            <a:p>
              <a:r>
                <a:t>Contexte exploitable, mais partiel</a:t>
              </a:r>
            </a:p>
          </p:txBody>
        </p:sp>
      </p:grpSp>
      <p:grpSp>
        <p:nvGrpSpPr>
          <p:cNvPr name="Group 38" id="38"/>
          <p:cNvGrpSpPr/>
          <p:nvPr/>
        </p:nvGrpSpPr>
        <p:grpSpPr>
          <a:xfrm rot="0">
            <a:off x="1816103" y="7393943"/>
            <a:ext cx="14655803" cy="1707899"/>
            <a:chOff x="0" y="0"/>
            <a:chExt cx="19541071" cy="2277199"/>
          </a:xfrm>
        </p:grpSpPr>
        <p:sp>
          <p:nvSpPr>
            <p:cNvPr name="Freeform 39" id="39"/>
            <p:cNvSpPr/>
            <p:nvPr/>
          </p:nvSpPr>
          <p:spPr>
            <a:xfrm flipH="false" flipV="false" rot="0">
              <a:off x="16891" y="16891"/>
              <a:ext cx="19507199" cy="2243328"/>
            </a:xfrm>
            <a:custGeom>
              <a:avLst/>
              <a:gdLst/>
              <a:ahLst/>
              <a:cxnLst/>
              <a:rect r="r" b="b" t="t" l="l"/>
              <a:pathLst>
                <a:path h="2243328" w="19507199">
                  <a:moveTo>
                    <a:pt x="0" y="0"/>
                  </a:moveTo>
                  <a:lnTo>
                    <a:pt x="19507199" y="0"/>
                  </a:lnTo>
                  <a:lnTo>
                    <a:pt x="19507199" y="2243328"/>
                  </a:lnTo>
                  <a:lnTo>
                    <a:pt x="0" y="2243328"/>
                  </a:lnTo>
                  <a:close/>
                </a:path>
              </a:pathLst>
            </a:custGeom>
            <a:solidFill>
              <a:srgbClr val="FFFFFF"/>
            </a:solidFill>
          </p:spPr>
          <p:txBody>
            <a:bodyPr/>
            <a:p/>
          </p:txBody>
        </p:sp>
        <p:sp>
          <p:nvSpPr>
            <p:cNvPr name="Freeform 40" id="40"/>
            <p:cNvSpPr/>
            <p:nvPr/>
          </p:nvSpPr>
          <p:spPr>
            <a:xfrm flipH="false" flipV="false" rot="0">
              <a:off x="0" y="0"/>
              <a:ext cx="19540982" cy="2277110"/>
            </a:xfrm>
            <a:custGeom>
              <a:avLst/>
              <a:gdLst/>
              <a:ahLst/>
              <a:cxnLst/>
              <a:rect r="r" b="b" t="t" l="l"/>
              <a:pathLst>
                <a:path h="2277110" w="19540982">
                  <a:moveTo>
                    <a:pt x="16891" y="0"/>
                  </a:moveTo>
                  <a:lnTo>
                    <a:pt x="19524090" y="0"/>
                  </a:lnTo>
                  <a:cubicBezTo>
                    <a:pt x="19533490" y="0"/>
                    <a:pt x="19540982" y="7620"/>
                    <a:pt x="19540982" y="16891"/>
                  </a:cubicBezTo>
                  <a:lnTo>
                    <a:pt x="19540982" y="2260219"/>
                  </a:lnTo>
                  <a:cubicBezTo>
                    <a:pt x="19540982" y="2269617"/>
                    <a:pt x="19533363" y="2277110"/>
                    <a:pt x="19524090"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19524090" y="2243328"/>
                  </a:lnTo>
                  <a:lnTo>
                    <a:pt x="19524090" y="2260219"/>
                  </a:lnTo>
                  <a:lnTo>
                    <a:pt x="19507200" y="2260219"/>
                  </a:lnTo>
                  <a:lnTo>
                    <a:pt x="19507200" y="16891"/>
                  </a:lnTo>
                  <a:lnTo>
                    <a:pt x="19524090" y="16891"/>
                  </a:lnTo>
                  <a:lnTo>
                    <a:pt x="19524090" y="33909"/>
                  </a:lnTo>
                  <a:lnTo>
                    <a:pt x="16891" y="33909"/>
                  </a:lnTo>
                  <a:close/>
                </a:path>
              </a:pathLst>
            </a:custGeom>
            <a:solidFill>
              <a:srgbClr val="E2E8F0"/>
            </a:solidFill>
          </p:spPr>
          <p:txBody>
            <a:bodyPr/>
            <a:p/>
          </p:txBody>
        </p:sp>
      </p:grpSp>
      <p:grpSp>
        <p:nvGrpSpPr>
          <p:cNvPr name="Group 41" id="41"/>
          <p:cNvGrpSpPr/>
          <p:nvPr/>
        </p:nvGrpSpPr>
        <p:grpSpPr>
          <a:xfrm rot="0">
            <a:off x="1828800" y="7406640"/>
            <a:ext cx="365760" cy="1682496"/>
            <a:chOff x="0" y="0"/>
            <a:chExt cx="487680" cy="2243328"/>
          </a:xfrm>
        </p:grpSpPr>
        <p:sp>
          <p:nvSpPr>
            <p:cNvPr name="Freeform 42" id="42"/>
            <p:cNvSpPr/>
            <p:nvPr/>
          </p:nvSpPr>
          <p:spPr>
            <a:xfrm flipH="false" flipV="false" rot="0">
              <a:off x="0" y="0"/>
              <a:ext cx="487680" cy="2243328"/>
            </a:xfrm>
            <a:custGeom>
              <a:avLst/>
              <a:gdLst/>
              <a:ahLst/>
              <a:cxnLst/>
              <a:rect r="r" b="b" t="t" l="l"/>
              <a:pathLst>
                <a:path h="2243328" w="487680">
                  <a:moveTo>
                    <a:pt x="0" y="0"/>
                  </a:moveTo>
                  <a:lnTo>
                    <a:pt x="487680" y="0"/>
                  </a:lnTo>
                  <a:lnTo>
                    <a:pt x="487680" y="2243328"/>
                  </a:lnTo>
                  <a:lnTo>
                    <a:pt x="0" y="2243328"/>
                  </a:lnTo>
                  <a:close/>
                </a:path>
              </a:pathLst>
            </a:custGeom>
            <a:solidFill>
              <a:srgbClr val="DC2626"/>
            </a:solidFill>
          </p:spPr>
          <p:txBody>
            <a:bodyPr/>
            <a:p/>
          </p:txBody>
        </p:sp>
      </p:grpSp>
      <p:grpSp>
        <p:nvGrpSpPr>
          <p:cNvPr name="Group 43" id="43"/>
          <p:cNvGrpSpPr/>
          <p:nvPr/>
        </p:nvGrpSpPr>
        <p:grpSpPr>
          <a:xfrm rot="0">
            <a:off x="2560320" y="7406640"/>
            <a:ext cx="3291840" cy="1682496"/>
            <a:chOff x="0" y="0"/>
            <a:chExt cx="4389120" cy="2243328"/>
          </a:xfrm>
        </p:grpSpPr>
        <p:sp>
          <p:nvSpPr>
            <p:cNvPr name="Freeform 44" id="44"/>
            <p:cNvSpPr/>
            <p:nvPr/>
          </p:nvSpPr>
          <p:spPr>
            <a:xfrm flipH="false" flipV="false" rot="0">
              <a:off x="0" y="0"/>
              <a:ext cx="4389120" cy="2243328"/>
            </a:xfrm>
            <a:custGeom>
              <a:avLst/>
              <a:gdLst/>
              <a:ahLst/>
              <a:cxnLst/>
              <a:rect r="r" b="b" t="t" l="l"/>
              <a:pathLst>
                <a:path h="2243328" w="4389120">
                  <a:moveTo>
                    <a:pt x="0" y="0"/>
                  </a:moveTo>
                  <a:lnTo>
                    <a:pt x="4389120" y="0"/>
                  </a:lnTo>
                  <a:lnTo>
                    <a:pt x="4389120" y="2243328"/>
                  </a:lnTo>
                  <a:lnTo>
                    <a:pt x="0" y="2243328"/>
                  </a:lnTo>
                  <a:close/>
                </a:path>
              </a:pathLst>
            </a:custGeom>
            <a:blipFill>
              <a:blip r:embed="rId3">
                <a:alphaModFix amt="0"/>
              </a:blip>
              <a:stretch>
                <a:fillRect l="-15577" t="0" r="-15577" b="0"/>
              </a:stretch>
            </a:blipFill>
          </p:spPr>
          <p:txBody>
            <a:bodyPr/>
            <a:p/>
          </p:txBody>
        </p:sp>
        <p:sp>
          <p:nvSpPr>
            <p:cNvPr name="TextBox 45" id="45"/>
            <p:cNvSpPr txBox="true"/>
            <p:nvPr/>
          </p:nvSpPr>
          <p:spPr>
            <a:xfrm>
              <a:off x="0" y="-66675"/>
              <a:ext cx="4389120" cy="2310003"/>
            </a:xfrm>
            <a:prstGeom prst="rect">
              <a:avLst/>
            </a:prstGeom>
          </p:spPr>
          <p:txBody>
            <a:bodyPr anchor="ctr" rtlCol="false" tIns="0" lIns="0" bIns="0" rIns="0"/>
            <a:lstStyle/>
            <a:p>
              <a:r>
                <a:t>&lt; 0.40</a:t>
              </a:r>
            </a:p>
          </p:txBody>
        </p:sp>
      </p:grpSp>
      <p:grpSp>
        <p:nvGrpSpPr>
          <p:cNvPr name="Group 46" id="46"/>
          <p:cNvGrpSpPr/>
          <p:nvPr/>
        </p:nvGrpSpPr>
        <p:grpSpPr>
          <a:xfrm rot="0">
            <a:off x="6035040" y="7406640"/>
            <a:ext cx="2194560" cy="1682496"/>
            <a:chOff x="0" y="0"/>
            <a:chExt cx="2926080" cy="2243328"/>
          </a:xfrm>
        </p:grpSpPr>
        <p:sp>
          <p:nvSpPr>
            <p:cNvPr name="Freeform 47" id="47"/>
            <p:cNvSpPr/>
            <p:nvPr/>
          </p:nvSpPr>
          <p:spPr>
            <a:xfrm flipH="false" flipV="false" rot="0">
              <a:off x="0" y="0"/>
              <a:ext cx="2926080" cy="2243328"/>
            </a:xfrm>
            <a:custGeom>
              <a:avLst/>
              <a:gdLst/>
              <a:ahLst/>
              <a:cxnLst/>
              <a:rect r="r" b="b" t="t" l="l"/>
              <a:pathLst>
                <a:path h="2243328" w="2926080">
                  <a:moveTo>
                    <a:pt x="0" y="0"/>
                  </a:moveTo>
                  <a:lnTo>
                    <a:pt x="2926080" y="0"/>
                  </a:lnTo>
                  <a:lnTo>
                    <a:pt x="2926080" y="2243328"/>
                  </a:lnTo>
                  <a:lnTo>
                    <a:pt x="0" y="2243328"/>
                  </a:lnTo>
                  <a:close/>
                </a:path>
              </a:pathLst>
            </a:custGeom>
            <a:blipFill>
              <a:blip r:embed="rId3">
                <a:alphaModFix amt="0"/>
              </a:blip>
              <a:stretch>
                <a:fillRect l="-48366" t="0" r="-48366" b="0"/>
              </a:stretch>
            </a:blipFill>
          </p:spPr>
          <p:txBody>
            <a:bodyPr/>
            <a:p/>
          </p:txBody>
        </p:sp>
        <p:sp>
          <p:nvSpPr>
            <p:cNvPr name="TextBox 48" id="48"/>
            <p:cNvSpPr txBox="true"/>
            <p:nvPr/>
          </p:nvSpPr>
          <p:spPr>
            <a:xfrm>
              <a:off x="0" y="-57150"/>
              <a:ext cx="2926080" cy="2300478"/>
            </a:xfrm>
            <a:prstGeom prst="rect">
              <a:avLst/>
            </a:prstGeom>
          </p:spPr>
          <p:txBody>
            <a:bodyPr anchor="ctr" rtlCol="false" tIns="0" lIns="0" bIns="0" rIns="0"/>
            <a:lstStyle/>
            <a:p>
              <a:pPr algn="l">
                <a:lnSpc>
                  <a:spcPts val="3840"/>
                </a:lnSpc>
              </a:pPr>
              <a:r>
                <a:rPr lang="en-US" sz="3200" b="true">
                  <a:solidFill>
                    <a:srgbClr val="DC2626"/>
                  </a:solidFill>
                  <a:latin typeface="Calibri (MS) Bold"/>
                  <a:ea typeface="Calibri (MS) Bold"/>
                  <a:cs typeface="Calibri (MS) Bold"/>
                  <a:sym typeface="Calibri (MS) Bold"/>
                </a:rPr>
                <a:t>LOW</a:t>
              </a:r>
            </a:p>
          </p:txBody>
        </p:sp>
      </p:grpSp>
      <p:grpSp>
        <p:nvGrpSpPr>
          <p:cNvPr name="Group 49" id="49"/>
          <p:cNvGrpSpPr/>
          <p:nvPr/>
        </p:nvGrpSpPr>
        <p:grpSpPr>
          <a:xfrm rot="0">
            <a:off x="8412480" y="7406640"/>
            <a:ext cx="7680960" cy="1682496"/>
            <a:chOff x="0" y="0"/>
            <a:chExt cx="10241280" cy="2243328"/>
          </a:xfrm>
        </p:grpSpPr>
        <p:sp>
          <p:nvSpPr>
            <p:cNvPr name="Freeform 50" id="50"/>
            <p:cNvSpPr/>
            <p:nvPr/>
          </p:nvSpPr>
          <p:spPr>
            <a:xfrm flipH="false" flipV="false" rot="0">
              <a:off x="0" y="0"/>
              <a:ext cx="10241280" cy="2243328"/>
            </a:xfrm>
            <a:custGeom>
              <a:avLst/>
              <a:gdLst/>
              <a:ahLst/>
              <a:cxnLst/>
              <a:rect r="r" b="b" t="t" l="l"/>
              <a:pathLst>
                <a:path h="2243328" w="10241280">
                  <a:moveTo>
                    <a:pt x="0" y="0"/>
                  </a:moveTo>
                  <a:lnTo>
                    <a:pt x="10241280" y="0"/>
                  </a:lnTo>
                  <a:lnTo>
                    <a:pt x="10241280" y="2243328"/>
                  </a:lnTo>
                  <a:lnTo>
                    <a:pt x="0" y="2243328"/>
                  </a:lnTo>
                  <a:close/>
                </a:path>
              </a:pathLst>
            </a:custGeom>
            <a:blipFill>
              <a:blip r:embed="rId3">
                <a:alphaModFix amt="0"/>
              </a:blip>
              <a:stretch>
                <a:fillRect l="0" t="-38953" r="0" b="-38953"/>
              </a:stretch>
            </a:blipFill>
          </p:spPr>
          <p:txBody>
            <a:bodyPr/>
            <a:p/>
          </p:txBody>
        </p:sp>
        <p:sp>
          <p:nvSpPr>
            <p:cNvPr name="TextBox 51" id="51"/>
            <p:cNvSpPr txBox="true"/>
            <p:nvPr/>
          </p:nvSpPr>
          <p:spPr>
            <a:xfrm>
              <a:off x="0" y="-47625"/>
              <a:ext cx="10241280" cy="2290953"/>
            </a:xfrm>
            <a:prstGeom prst="rect">
              <a:avLst/>
            </a:prstGeom>
          </p:spPr>
          <p:txBody>
            <a:bodyPr anchor="ctr" rtlCol="false" tIns="0" lIns="0" bIns="0" rIns="0"/>
            <a:lstStyle/>
            <a:p>
              <a:pPr algn="l">
                <a:lnSpc>
                  <a:spcPts val="2999"/>
                </a:lnSpc>
              </a:pPr>
              <a:r>
                <a:rPr lang="en-US" sz="2499">
                  <a:solidFill>
                    <a:srgbClr val="1E293B"/>
                  </a:solidFill>
                  <a:latin typeface="Calibri (MS)"/>
                  <a:ea typeface="Calibri (MS)"/>
                  <a:cs typeface="Calibri (MS)"/>
                  <a:sym typeface="Calibri (MS)"/>
                </a:rPr>
                <a:t>Contexte insuffisant, réponse à valider</a:t>
              </a:r>
            </a:p>
          </p:txBody>
        </p:sp>
      </p:grpSp>
      <p:grpSp>
        <p:nvGrpSpPr>
          <p:cNvPr name="Group 52" id="52"/>
          <p:cNvGrpSpPr/>
          <p:nvPr/>
        </p:nvGrpSpPr>
        <p:grpSpPr>
          <a:xfrm rot="0">
            <a:off x="914400" y="9509760"/>
            <a:ext cx="16459200" cy="640080"/>
            <a:chOff x="0" y="0"/>
            <a:chExt cx="21945600" cy="853440"/>
          </a:xfrm>
        </p:grpSpPr>
        <p:sp>
          <p:nvSpPr>
            <p:cNvPr name="Freeform 53" id="53"/>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txBody>
            <a:bodyPr/>
            <a:p/>
          </p:txBody>
        </p:sp>
        <p:sp>
          <p:nvSpPr>
            <p:cNvPr name="TextBox 54" id="54"/>
            <p:cNvSpPr txBox="true"/>
            <p:nvPr/>
          </p:nvSpPr>
          <p:spPr>
            <a:xfrm>
              <a:off x="0" y="-47625"/>
              <a:ext cx="21945600" cy="901065"/>
            </a:xfrm>
            <a:prstGeom prst="rect">
              <a:avLst/>
            </a:prstGeom>
          </p:spPr>
          <p:txBody>
            <a:bodyPr anchor="ctr" rtlCol="false" tIns="0" lIns="0" bIns="0" rIns="0"/>
            <a:lstStyle/>
            <a:p>
              <a:r>
                <a:t>Le score indique une proximité sémantique, pas une preuve automatique de vérité</a:t>
              </a:r>
            </a:p>
          </p:txBody>
        </p:sp>
      </p:grpSp>
      <p:sp>
        <p:nvSpPr>
          <p:cNvPr name="TextBox 55" id="5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Cache à 2 couches</a:t>
              </a:r>
            </a:p>
          </p:txBody>
        </p:sp>
      </p:grpSp>
      <p:grpSp>
        <p:nvGrpSpPr>
          <p:cNvPr name="Group 7" id="7"/>
          <p:cNvGrpSpPr/>
          <p:nvPr/>
        </p:nvGrpSpPr>
        <p:grpSpPr>
          <a:xfrm rot="0">
            <a:off x="914400" y="2103120"/>
            <a:ext cx="16459200" cy="731520"/>
            <a:chOff x="0" y="0"/>
            <a:chExt cx="21945600" cy="975360"/>
          </a:xfrm>
        </p:grpSpPr>
        <p:sp>
          <p:nvSpPr>
            <p:cNvPr name="Freeform 8" id="8"/>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txBody>
            <a:bodyPr/>
            <a:p/>
          </p:txBody>
        </p:sp>
        <p:sp>
          <p:nvSpPr>
            <p:cNvPr name="TextBox 9" id="9"/>
            <p:cNvSpPr txBox="true"/>
            <p:nvPr/>
          </p:nvSpPr>
          <p:spPr>
            <a:xfrm>
              <a:off x="0" y="-66675"/>
              <a:ext cx="21945600" cy="1042035"/>
            </a:xfrm>
            <a:prstGeom prst="rect">
              <a:avLst/>
            </a:prstGeom>
          </p:spPr>
          <p:txBody>
            <a:bodyPr anchor="ctr" rtlCol="false" tIns="0" lIns="0" bIns="0" rIns="0"/>
            <a:lstStyle/>
            <a:p>
              <a:pPr algn="ctr">
                <a:lnSpc>
                  <a:spcPts val="3600"/>
                </a:lnSpc>
              </a:pPr>
              <a:r>
                <a:rPr lang="en-US" sz="3000" i="true">
                  <a:solidFill>
                    <a:srgbClr val="64748B"/>
                  </a:solidFill>
                  <a:latin typeface="Calibri (MS) Italics"/>
                  <a:ea typeface="Calibri (MS) Italics"/>
                  <a:cs typeface="Calibri (MS) Italics"/>
                  <a:sym typeface="Calibri (MS) Italics"/>
                </a:rPr>
                <a:t>Réduire la latence et le coût des appels LLM</a:t>
              </a:r>
            </a:p>
          </p:txBody>
        </p:sp>
      </p:grpSp>
      <p:grpSp>
        <p:nvGrpSpPr>
          <p:cNvPr name="Group 10" id="10"/>
          <p:cNvGrpSpPr/>
          <p:nvPr/>
        </p:nvGrpSpPr>
        <p:grpSpPr>
          <a:xfrm rot="0">
            <a:off x="1084583" y="3462023"/>
            <a:ext cx="7889243" cy="5877563"/>
            <a:chOff x="0" y="0"/>
            <a:chExt cx="10518991" cy="7836751"/>
          </a:xfrm>
        </p:grpSpPr>
        <p:sp>
          <p:nvSpPr>
            <p:cNvPr name="Freeform 11" id="11"/>
            <p:cNvSpPr/>
            <p:nvPr/>
          </p:nvSpPr>
          <p:spPr>
            <a:xfrm flipH="false" flipV="false" rot="0">
              <a:off x="16891" y="16891"/>
              <a:ext cx="10485120" cy="7802881"/>
            </a:xfrm>
            <a:custGeom>
              <a:avLst/>
              <a:gdLst/>
              <a:ahLst/>
              <a:cxnLst/>
              <a:rect r="r" b="b" t="t" l="l"/>
              <a:pathLst>
                <a:path h="7802881" w="10485120">
                  <a:moveTo>
                    <a:pt x="0" y="0"/>
                  </a:moveTo>
                  <a:lnTo>
                    <a:pt x="10485120" y="0"/>
                  </a:lnTo>
                  <a:lnTo>
                    <a:pt x="10485120" y="7802881"/>
                  </a:lnTo>
                  <a:lnTo>
                    <a:pt x="0" y="7802881"/>
                  </a:lnTo>
                  <a:close/>
                </a:path>
              </a:pathLst>
            </a:custGeom>
            <a:solidFill>
              <a:srgbClr val="FEF2F2"/>
            </a:solidFill>
          </p:spPr>
          <p:txBody>
            <a:bodyPr/>
            <a:p/>
          </p:txBody>
        </p:sp>
        <p:sp>
          <p:nvSpPr>
            <p:cNvPr name="Freeform 12" id="12"/>
            <p:cNvSpPr/>
            <p:nvPr/>
          </p:nvSpPr>
          <p:spPr>
            <a:xfrm flipH="false" flipV="false" rot="0">
              <a:off x="0" y="0"/>
              <a:ext cx="10518901" cy="7836662"/>
            </a:xfrm>
            <a:custGeom>
              <a:avLst/>
              <a:gdLst/>
              <a:ahLst/>
              <a:cxnLst/>
              <a:rect r="r" b="b" t="t" l="l"/>
              <a:pathLst>
                <a:path h="7836662" w="10518901">
                  <a:moveTo>
                    <a:pt x="16891" y="0"/>
                  </a:moveTo>
                  <a:lnTo>
                    <a:pt x="10502011" y="0"/>
                  </a:lnTo>
                  <a:cubicBezTo>
                    <a:pt x="10511409" y="0"/>
                    <a:pt x="10518901" y="7620"/>
                    <a:pt x="10518901" y="16891"/>
                  </a:cubicBezTo>
                  <a:lnTo>
                    <a:pt x="10518901" y="7819772"/>
                  </a:lnTo>
                  <a:cubicBezTo>
                    <a:pt x="10518901" y="7829169"/>
                    <a:pt x="10511282" y="7836662"/>
                    <a:pt x="10502011" y="7836662"/>
                  </a:cubicBezTo>
                  <a:lnTo>
                    <a:pt x="16891" y="7836662"/>
                  </a:lnTo>
                  <a:cubicBezTo>
                    <a:pt x="7493" y="7836662"/>
                    <a:pt x="0" y="7829042"/>
                    <a:pt x="0" y="7819772"/>
                  </a:cubicBezTo>
                  <a:lnTo>
                    <a:pt x="0" y="16891"/>
                  </a:lnTo>
                  <a:cubicBezTo>
                    <a:pt x="0" y="7620"/>
                    <a:pt x="7620" y="0"/>
                    <a:pt x="16891" y="0"/>
                  </a:cubicBezTo>
                  <a:moveTo>
                    <a:pt x="16891" y="33909"/>
                  </a:moveTo>
                  <a:lnTo>
                    <a:pt x="16891" y="16891"/>
                  </a:lnTo>
                  <a:lnTo>
                    <a:pt x="33909" y="16891"/>
                  </a:lnTo>
                  <a:lnTo>
                    <a:pt x="33909" y="7819772"/>
                  </a:lnTo>
                  <a:lnTo>
                    <a:pt x="16891" y="7819772"/>
                  </a:lnTo>
                  <a:lnTo>
                    <a:pt x="16891" y="7802880"/>
                  </a:lnTo>
                  <a:lnTo>
                    <a:pt x="10502011" y="7802880"/>
                  </a:lnTo>
                  <a:lnTo>
                    <a:pt x="10502011" y="7819772"/>
                  </a:lnTo>
                  <a:lnTo>
                    <a:pt x="10485120" y="7819772"/>
                  </a:lnTo>
                  <a:lnTo>
                    <a:pt x="10485120" y="16891"/>
                  </a:lnTo>
                  <a:lnTo>
                    <a:pt x="10502011" y="16891"/>
                  </a:lnTo>
                  <a:lnTo>
                    <a:pt x="10502011" y="33909"/>
                  </a:lnTo>
                  <a:lnTo>
                    <a:pt x="16891" y="33909"/>
                  </a:lnTo>
                  <a:close/>
                </a:path>
              </a:pathLst>
            </a:custGeom>
            <a:solidFill>
              <a:srgbClr val="FCA5A5"/>
            </a:solidFill>
          </p:spPr>
          <p:txBody>
            <a:bodyPr/>
            <a:p/>
          </p:txBody>
        </p:sp>
      </p:grpSp>
      <p:grpSp>
        <p:nvGrpSpPr>
          <p:cNvPr name="Group 13" id="13"/>
          <p:cNvGrpSpPr/>
          <p:nvPr/>
        </p:nvGrpSpPr>
        <p:grpSpPr>
          <a:xfrm rot="0">
            <a:off x="1097280" y="3474720"/>
            <a:ext cx="7863840" cy="914400"/>
            <a:chOff x="0" y="0"/>
            <a:chExt cx="10485120" cy="1219200"/>
          </a:xfrm>
        </p:grpSpPr>
        <p:sp>
          <p:nvSpPr>
            <p:cNvPr name="Freeform 14" id="14"/>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solidFill>
              <a:srgbClr val="DC2626"/>
            </a:solidFill>
          </p:spPr>
          <p:txBody>
            <a:bodyPr/>
            <a:p/>
          </p:txBody>
        </p:sp>
      </p:grpSp>
      <p:grpSp>
        <p:nvGrpSpPr>
          <p:cNvPr name="Group 15" id="15"/>
          <p:cNvGrpSpPr/>
          <p:nvPr/>
        </p:nvGrpSpPr>
        <p:grpSpPr>
          <a:xfrm rot="0">
            <a:off x="1097280" y="3474720"/>
            <a:ext cx="7863840" cy="914400"/>
            <a:chOff x="0" y="0"/>
            <a:chExt cx="10485120" cy="1219200"/>
          </a:xfrm>
        </p:grpSpPr>
        <p:sp>
          <p:nvSpPr>
            <p:cNvPr name="Freeform 16" id="16"/>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blipFill>
              <a:blip r:embed="rId3">
                <a:alphaModFix amt="0"/>
              </a:blip>
              <a:stretch>
                <a:fillRect l="0" t="-117571" r="0" b="-117571"/>
              </a:stretch>
            </a:blipFill>
          </p:spPr>
          <p:txBody>
            <a:bodyPr/>
            <a:p/>
          </p:txBody>
        </p:sp>
        <p:sp>
          <p:nvSpPr>
            <p:cNvPr name="TextBox 17" id="17"/>
            <p:cNvSpPr txBox="true"/>
            <p:nvPr/>
          </p:nvSpPr>
          <p:spPr>
            <a:xfrm>
              <a:off x="0" y="-66675"/>
              <a:ext cx="10485120" cy="1285875"/>
            </a:xfrm>
            <a:prstGeom prst="rect">
              <a:avLst/>
            </a:prstGeom>
          </p:spPr>
          <p:txBody>
            <a:bodyPr anchor="ctr" rtlCol="false" tIns="0" lIns="0" bIns="0" rIns="0"/>
            <a:lstStyle/>
            <a:p>
              <a:pPr algn="ctr">
                <a:lnSpc>
                  <a:spcPts val="3600"/>
                </a:lnSpc>
              </a:pPr>
              <a:r>
                <a:rPr lang="en-US" sz="3000" b="true">
                  <a:solidFill>
                    <a:srgbClr val="FFFFFF"/>
                  </a:solidFill>
                  <a:latin typeface="Calibri (MS) Bold"/>
                  <a:ea typeface="Calibri (MS) Bold"/>
                  <a:cs typeface="Calibri (MS) Bold"/>
                  <a:sym typeface="Calibri (MS) Bold"/>
                </a:rPr>
                <a:t>L1 — Cache exact</a:t>
              </a:r>
            </a:p>
          </p:txBody>
        </p:sp>
      </p:grpSp>
      <p:grpSp>
        <p:nvGrpSpPr>
          <p:cNvPr name="Group 18" id="18"/>
          <p:cNvGrpSpPr/>
          <p:nvPr/>
        </p:nvGrpSpPr>
        <p:grpSpPr>
          <a:xfrm rot="0">
            <a:off x="1280160" y="4663440"/>
            <a:ext cx="7498080" cy="640080"/>
            <a:chOff x="0" y="0"/>
            <a:chExt cx="9997440" cy="853440"/>
          </a:xfrm>
        </p:grpSpPr>
        <p:sp>
          <p:nvSpPr>
            <p:cNvPr name="Freeform 19" id="19"/>
            <p:cNvSpPr/>
            <p:nvPr/>
          </p:nvSpPr>
          <p:spPr>
            <a:xfrm flipH="false" flipV="false" rot="0">
              <a:off x="0" y="0"/>
              <a:ext cx="9997440" cy="853440"/>
            </a:xfrm>
            <a:custGeom>
              <a:avLst/>
              <a:gdLst/>
              <a:ahLst/>
              <a:cxnLst/>
              <a:rect r="r" b="b" t="t" l="l"/>
              <a:pathLst>
                <a:path h="853440" w="9997440">
                  <a:moveTo>
                    <a:pt x="0" y="0"/>
                  </a:moveTo>
                  <a:lnTo>
                    <a:pt x="9997440" y="0"/>
                  </a:lnTo>
                  <a:lnTo>
                    <a:pt x="9997440" y="853440"/>
                  </a:lnTo>
                  <a:lnTo>
                    <a:pt x="0" y="853440"/>
                  </a:lnTo>
                  <a:close/>
                </a:path>
              </a:pathLst>
            </a:custGeom>
            <a:blipFill>
              <a:blip r:embed="rId3">
                <a:alphaModFix amt="0"/>
              </a:blip>
              <a:stretch>
                <a:fillRect l="0" t="-178253" r="0" b="-178253"/>
              </a:stretch>
            </a:blipFill>
          </p:spPr>
          <p:txBody>
            <a:bodyPr/>
            <a:p/>
          </p:txBody>
        </p:sp>
        <p:sp>
          <p:nvSpPr>
            <p:cNvPr name="TextBox 20" id="20"/>
            <p:cNvSpPr txBox="true"/>
            <p:nvPr/>
          </p:nvSpPr>
          <p:spPr>
            <a:xfrm>
              <a:off x="0" y="-57150"/>
              <a:ext cx="9997440" cy="910590"/>
            </a:xfrm>
            <a:prstGeom prst="rect">
              <a:avLst/>
            </a:prstGeom>
          </p:spPr>
          <p:txBody>
            <a:bodyPr anchor="ctr" rtlCol="false" tIns="0" lIns="0" bIns="0" rIns="0"/>
            <a:lstStyle/>
            <a:p>
              <a:pPr algn="ctr">
                <a:lnSpc>
                  <a:spcPts val="3120"/>
                </a:lnSpc>
              </a:pPr>
              <a:r>
                <a:rPr lang="en-US" sz="2600" b="true">
                  <a:solidFill>
                    <a:srgbClr val="DC2626"/>
                  </a:solidFill>
                  <a:latin typeface="Calibri (MS) Bold"/>
                  <a:ea typeface="Calibri (MS) Bold"/>
                  <a:cs typeface="Calibri (MS) Bold"/>
                  <a:sym typeface="Calibri (MS) Bold"/>
                </a:rPr>
                <a:t>Redis</a:t>
              </a:r>
            </a:p>
          </p:txBody>
        </p:sp>
      </p:grpSp>
      <p:grpSp>
        <p:nvGrpSpPr>
          <p:cNvPr name="Group 21" id="21"/>
          <p:cNvGrpSpPr/>
          <p:nvPr/>
        </p:nvGrpSpPr>
        <p:grpSpPr>
          <a:xfrm rot="0">
            <a:off x="1828800" y="5577840"/>
            <a:ext cx="6400800" cy="3291840"/>
            <a:chOff x="0" y="0"/>
            <a:chExt cx="8534400" cy="4389120"/>
          </a:xfrm>
        </p:grpSpPr>
        <p:sp>
          <p:nvSpPr>
            <p:cNvPr name="Freeform 22" id="22"/>
            <p:cNvSpPr/>
            <p:nvPr/>
          </p:nvSpPr>
          <p:spPr>
            <a:xfrm flipH="false" flipV="false" rot="0">
              <a:off x="0" y="0"/>
              <a:ext cx="8534400" cy="4389120"/>
            </a:xfrm>
            <a:custGeom>
              <a:avLst/>
              <a:gdLst/>
              <a:ahLst/>
              <a:cxnLst/>
              <a:rect r="r" b="b" t="t" l="l"/>
              <a:pathLst>
                <a:path h="4389120" w="8534400">
                  <a:moveTo>
                    <a:pt x="0" y="0"/>
                  </a:moveTo>
                  <a:lnTo>
                    <a:pt x="8534400" y="0"/>
                  </a:lnTo>
                  <a:lnTo>
                    <a:pt x="8534400" y="4389120"/>
                  </a:lnTo>
                  <a:lnTo>
                    <a:pt x="0" y="4389120"/>
                  </a:lnTo>
                  <a:close/>
                </a:path>
              </a:pathLst>
            </a:custGeom>
            <a:blipFill>
              <a:blip r:embed="rId3">
                <a:alphaModFix amt="0"/>
              </a:blip>
              <a:stretch>
                <a:fillRect l="-15984" t="0" r="-15984" b="0"/>
              </a:stretch>
            </a:blipFill>
          </p:spPr>
          <p:txBody>
            <a:bodyPr/>
            <a:p/>
          </p:txBody>
        </p:sp>
        <p:sp>
          <p:nvSpPr>
            <p:cNvPr name="TextBox 23" id="23"/>
            <p:cNvSpPr txBox="true"/>
            <p:nvPr/>
          </p:nvSpPr>
          <p:spPr>
            <a:xfrm>
              <a:off x="0" y="-57150"/>
              <a:ext cx="8534400" cy="4446270"/>
            </a:xfrm>
            <a:prstGeom prst="rect">
              <a:avLst/>
            </a:prstGeom>
          </p:spPr>
          <p:txBody>
            <a:bodyPr anchor="ctr" rtlCol="false" tIns="0" lIns="0" bIns="0" rIns="0"/>
            <a:lstStyle/>
            <a:p>
              <a:r>
                <a:t>Clé : SHA-256[:16]</a:t>
              </a:r>
              <a:br/>
              <a:br/>
              <a:r>
                <a:t>TTL : 3 600 s</a:t>
              </a:r>
              <a:br/>
              <a:br/>
              <a:r>
                <a:t>Match exact uniquement</a:t>
              </a:r>
            </a:p>
          </p:txBody>
        </p:sp>
      </p:grpSp>
      <p:grpSp>
        <p:nvGrpSpPr>
          <p:cNvPr name="Group 24" id="24"/>
          <p:cNvGrpSpPr/>
          <p:nvPr/>
        </p:nvGrpSpPr>
        <p:grpSpPr>
          <a:xfrm rot="0">
            <a:off x="9314183" y="3462023"/>
            <a:ext cx="7889243" cy="5877563"/>
            <a:chOff x="0" y="0"/>
            <a:chExt cx="10518991" cy="7836751"/>
          </a:xfrm>
        </p:grpSpPr>
        <p:sp>
          <p:nvSpPr>
            <p:cNvPr name="Freeform 25" id="25"/>
            <p:cNvSpPr/>
            <p:nvPr/>
          </p:nvSpPr>
          <p:spPr>
            <a:xfrm flipH="false" flipV="false" rot="0">
              <a:off x="16891" y="16891"/>
              <a:ext cx="10485120" cy="7802881"/>
            </a:xfrm>
            <a:custGeom>
              <a:avLst/>
              <a:gdLst/>
              <a:ahLst/>
              <a:cxnLst/>
              <a:rect r="r" b="b" t="t" l="l"/>
              <a:pathLst>
                <a:path h="7802881" w="10485120">
                  <a:moveTo>
                    <a:pt x="0" y="0"/>
                  </a:moveTo>
                  <a:lnTo>
                    <a:pt x="10485120" y="0"/>
                  </a:lnTo>
                  <a:lnTo>
                    <a:pt x="10485120" y="7802881"/>
                  </a:lnTo>
                  <a:lnTo>
                    <a:pt x="0" y="7802881"/>
                  </a:lnTo>
                  <a:close/>
                </a:path>
              </a:pathLst>
            </a:custGeom>
            <a:solidFill>
              <a:srgbClr val="F0FDF4"/>
            </a:solidFill>
          </p:spPr>
          <p:txBody>
            <a:bodyPr/>
            <a:p/>
          </p:txBody>
        </p:sp>
        <p:sp>
          <p:nvSpPr>
            <p:cNvPr name="Freeform 26" id="26"/>
            <p:cNvSpPr/>
            <p:nvPr/>
          </p:nvSpPr>
          <p:spPr>
            <a:xfrm flipH="false" flipV="false" rot="0">
              <a:off x="0" y="0"/>
              <a:ext cx="10518901" cy="7836662"/>
            </a:xfrm>
            <a:custGeom>
              <a:avLst/>
              <a:gdLst/>
              <a:ahLst/>
              <a:cxnLst/>
              <a:rect r="r" b="b" t="t" l="l"/>
              <a:pathLst>
                <a:path h="7836662" w="10518901">
                  <a:moveTo>
                    <a:pt x="16891" y="0"/>
                  </a:moveTo>
                  <a:lnTo>
                    <a:pt x="10502011" y="0"/>
                  </a:lnTo>
                  <a:cubicBezTo>
                    <a:pt x="10511409" y="0"/>
                    <a:pt x="10518901" y="7620"/>
                    <a:pt x="10518901" y="16891"/>
                  </a:cubicBezTo>
                  <a:lnTo>
                    <a:pt x="10518901" y="7819772"/>
                  </a:lnTo>
                  <a:cubicBezTo>
                    <a:pt x="10518901" y="7829169"/>
                    <a:pt x="10511282" y="7836662"/>
                    <a:pt x="10502011" y="7836662"/>
                  </a:cubicBezTo>
                  <a:lnTo>
                    <a:pt x="16891" y="7836662"/>
                  </a:lnTo>
                  <a:cubicBezTo>
                    <a:pt x="7493" y="7836662"/>
                    <a:pt x="0" y="7829042"/>
                    <a:pt x="0" y="7819772"/>
                  </a:cubicBezTo>
                  <a:lnTo>
                    <a:pt x="0" y="16891"/>
                  </a:lnTo>
                  <a:cubicBezTo>
                    <a:pt x="0" y="7620"/>
                    <a:pt x="7620" y="0"/>
                    <a:pt x="16891" y="0"/>
                  </a:cubicBezTo>
                  <a:moveTo>
                    <a:pt x="16891" y="33909"/>
                  </a:moveTo>
                  <a:lnTo>
                    <a:pt x="16891" y="16891"/>
                  </a:lnTo>
                  <a:lnTo>
                    <a:pt x="33909" y="16891"/>
                  </a:lnTo>
                  <a:lnTo>
                    <a:pt x="33909" y="7819772"/>
                  </a:lnTo>
                  <a:lnTo>
                    <a:pt x="16891" y="7819772"/>
                  </a:lnTo>
                  <a:lnTo>
                    <a:pt x="16891" y="7802880"/>
                  </a:lnTo>
                  <a:lnTo>
                    <a:pt x="10502011" y="7802880"/>
                  </a:lnTo>
                  <a:lnTo>
                    <a:pt x="10502011" y="7819772"/>
                  </a:lnTo>
                  <a:lnTo>
                    <a:pt x="10485120" y="7819772"/>
                  </a:lnTo>
                  <a:lnTo>
                    <a:pt x="10485120" y="16891"/>
                  </a:lnTo>
                  <a:lnTo>
                    <a:pt x="10502011" y="16891"/>
                  </a:lnTo>
                  <a:lnTo>
                    <a:pt x="10502011" y="33909"/>
                  </a:lnTo>
                  <a:lnTo>
                    <a:pt x="16891" y="33909"/>
                  </a:lnTo>
                  <a:close/>
                </a:path>
              </a:pathLst>
            </a:custGeom>
            <a:solidFill>
              <a:srgbClr val="86EFAC"/>
            </a:solidFill>
          </p:spPr>
          <p:txBody>
            <a:bodyPr/>
            <a:p/>
          </p:txBody>
        </p:sp>
      </p:grpSp>
      <p:grpSp>
        <p:nvGrpSpPr>
          <p:cNvPr name="Group 27" id="27"/>
          <p:cNvGrpSpPr/>
          <p:nvPr/>
        </p:nvGrpSpPr>
        <p:grpSpPr>
          <a:xfrm rot="0">
            <a:off x="9326880" y="3474720"/>
            <a:ext cx="7863840" cy="914400"/>
            <a:chOff x="0" y="0"/>
            <a:chExt cx="10485120" cy="1219200"/>
          </a:xfrm>
        </p:grpSpPr>
        <p:sp>
          <p:nvSpPr>
            <p:cNvPr name="Freeform 28" id="28"/>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solidFill>
              <a:srgbClr val="059669"/>
            </a:solidFill>
          </p:spPr>
          <p:txBody>
            <a:bodyPr/>
            <a:p/>
          </p:txBody>
        </p:sp>
      </p:grpSp>
      <p:grpSp>
        <p:nvGrpSpPr>
          <p:cNvPr name="Group 29" id="29"/>
          <p:cNvGrpSpPr/>
          <p:nvPr/>
        </p:nvGrpSpPr>
        <p:grpSpPr>
          <a:xfrm rot="0">
            <a:off x="9326880" y="3474720"/>
            <a:ext cx="7863840" cy="914400"/>
            <a:chOff x="0" y="0"/>
            <a:chExt cx="10485120" cy="1219200"/>
          </a:xfrm>
        </p:grpSpPr>
        <p:sp>
          <p:nvSpPr>
            <p:cNvPr name="Freeform 30" id="30"/>
            <p:cNvSpPr/>
            <p:nvPr/>
          </p:nvSpPr>
          <p:spPr>
            <a:xfrm flipH="false" flipV="false" rot="0">
              <a:off x="0" y="0"/>
              <a:ext cx="10485120" cy="1219200"/>
            </a:xfrm>
            <a:custGeom>
              <a:avLst/>
              <a:gdLst/>
              <a:ahLst/>
              <a:cxnLst/>
              <a:rect r="r" b="b" t="t" l="l"/>
              <a:pathLst>
                <a:path h="1219200" w="10485120">
                  <a:moveTo>
                    <a:pt x="0" y="0"/>
                  </a:moveTo>
                  <a:lnTo>
                    <a:pt x="10485120" y="0"/>
                  </a:lnTo>
                  <a:lnTo>
                    <a:pt x="10485120" y="1219200"/>
                  </a:lnTo>
                  <a:lnTo>
                    <a:pt x="0" y="1219200"/>
                  </a:lnTo>
                  <a:close/>
                </a:path>
              </a:pathLst>
            </a:custGeom>
            <a:blipFill>
              <a:blip r:embed="rId3">
                <a:alphaModFix amt="0"/>
              </a:blip>
              <a:stretch>
                <a:fillRect l="0" t="-117571" r="0" b="-117571"/>
              </a:stretch>
            </a:blipFill>
          </p:spPr>
          <p:txBody>
            <a:bodyPr/>
            <a:p/>
          </p:txBody>
        </p:sp>
        <p:sp>
          <p:nvSpPr>
            <p:cNvPr name="TextBox 31" id="31"/>
            <p:cNvSpPr txBox="true"/>
            <p:nvPr/>
          </p:nvSpPr>
          <p:spPr>
            <a:xfrm>
              <a:off x="0" y="-66675"/>
              <a:ext cx="10485120" cy="1285875"/>
            </a:xfrm>
            <a:prstGeom prst="rect">
              <a:avLst/>
            </a:prstGeom>
          </p:spPr>
          <p:txBody>
            <a:bodyPr anchor="ctr" rtlCol="false" tIns="0" lIns="0" bIns="0" rIns="0"/>
            <a:lstStyle/>
            <a:p>
              <a:pPr algn="ctr">
                <a:lnSpc>
                  <a:spcPts val="3600"/>
                </a:lnSpc>
              </a:pPr>
              <a:r>
                <a:rPr lang="en-US" sz="3000" b="true">
                  <a:solidFill>
                    <a:srgbClr val="FFFFFF"/>
                  </a:solidFill>
                  <a:latin typeface="Calibri (MS) Bold"/>
                  <a:ea typeface="Calibri (MS) Bold"/>
                  <a:cs typeface="Calibri (MS) Bold"/>
                  <a:sym typeface="Calibri (MS) Bold"/>
                </a:rPr>
                <a:t>L2 — Cache sémantique</a:t>
              </a:r>
            </a:p>
          </p:txBody>
        </p:sp>
      </p:grpSp>
      <p:grpSp>
        <p:nvGrpSpPr>
          <p:cNvPr name="Group 32" id="32"/>
          <p:cNvGrpSpPr/>
          <p:nvPr/>
        </p:nvGrpSpPr>
        <p:grpSpPr>
          <a:xfrm rot="0">
            <a:off x="9509760" y="4663440"/>
            <a:ext cx="7498080" cy="640080"/>
            <a:chOff x="0" y="0"/>
            <a:chExt cx="9997440" cy="853440"/>
          </a:xfrm>
        </p:grpSpPr>
        <p:sp>
          <p:nvSpPr>
            <p:cNvPr name="Freeform 33" id="33"/>
            <p:cNvSpPr/>
            <p:nvPr/>
          </p:nvSpPr>
          <p:spPr>
            <a:xfrm flipH="false" flipV="false" rot="0">
              <a:off x="0" y="0"/>
              <a:ext cx="9997440" cy="853440"/>
            </a:xfrm>
            <a:custGeom>
              <a:avLst/>
              <a:gdLst/>
              <a:ahLst/>
              <a:cxnLst/>
              <a:rect r="r" b="b" t="t" l="l"/>
              <a:pathLst>
                <a:path h="853440" w="9997440">
                  <a:moveTo>
                    <a:pt x="0" y="0"/>
                  </a:moveTo>
                  <a:lnTo>
                    <a:pt x="9997440" y="0"/>
                  </a:lnTo>
                  <a:lnTo>
                    <a:pt x="9997440" y="853440"/>
                  </a:lnTo>
                  <a:lnTo>
                    <a:pt x="0" y="853440"/>
                  </a:lnTo>
                  <a:close/>
                </a:path>
              </a:pathLst>
            </a:custGeom>
            <a:blipFill>
              <a:blip r:embed="rId3">
                <a:alphaModFix amt="0"/>
              </a:blip>
              <a:stretch>
                <a:fillRect l="0" t="-178253" r="0" b="-178253"/>
              </a:stretch>
            </a:blipFill>
          </p:spPr>
          <p:txBody>
            <a:bodyPr/>
            <a:p/>
          </p:txBody>
        </p:sp>
        <p:sp>
          <p:nvSpPr>
            <p:cNvPr name="TextBox 34" id="34"/>
            <p:cNvSpPr txBox="true"/>
            <p:nvPr/>
          </p:nvSpPr>
          <p:spPr>
            <a:xfrm>
              <a:off x="0" y="-57150"/>
              <a:ext cx="9997440" cy="910590"/>
            </a:xfrm>
            <a:prstGeom prst="rect">
              <a:avLst/>
            </a:prstGeom>
          </p:spPr>
          <p:txBody>
            <a:bodyPr anchor="ctr" rtlCol="false" tIns="0" lIns="0" bIns="0" rIns="0"/>
            <a:lstStyle/>
            <a:p>
              <a:pPr algn="ctr">
                <a:lnSpc>
                  <a:spcPts val="3120"/>
                </a:lnSpc>
              </a:pPr>
              <a:r>
                <a:rPr lang="en-US" sz="2600" b="true">
                  <a:solidFill>
                    <a:srgbClr val="059669"/>
                  </a:solidFill>
                  <a:latin typeface="Calibri (MS) Bold"/>
                  <a:ea typeface="Calibri (MS) Bold"/>
                  <a:cs typeface="Calibri (MS) Bold"/>
                  <a:sym typeface="Calibri (MS) Bold"/>
                </a:rPr>
                <a:t>Qdrant + Redis</a:t>
              </a:r>
            </a:p>
          </p:txBody>
        </p:sp>
      </p:grpSp>
      <p:grpSp>
        <p:nvGrpSpPr>
          <p:cNvPr name="Group 35" id="35"/>
          <p:cNvGrpSpPr/>
          <p:nvPr/>
        </p:nvGrpSpPr>
        <p:grpSpPr>
          <a:xfrm rot="0">
            <a:off x="10058400" y="5577840"/>
            <a:ext cx="6400800" cy="3291840"/>
            <a:chOff x="0" y="0"/>
            <a:chExt cx="8534400" cy="4389120"/>
          </a:xfrm>
        </p:grpSpPr>
        <p:sp>
          <p:nvSpPr>
            <p:cNvPr name="Freeform 36" id="36"/>
            <p:cNvSpPr/>
            <p:nvPr/>
          </p:nvSpPr>
          <p:spPr>
            <a:xfrm flipH="false" flipV="false" rot="0">
              <a:off x="0" y="0"/>
              <a:ext cx="8534400" cy="4389120"/>
            </a:xfrm>
            <a:custGeom>
              <a:avLst/>
              <a:gdLst/>
              <a:ahLst/>
              <a:cxnLst/>
              <a:rect r="r" b="b" t="t" l="l"/>
              <a:pathLst>
                <a:path h="4389120" w="8534400">
                  <a:moveTo>
                    <a:pt x="0" y="0"/>
                  </a:moveTo>
                  <a:lnTo>
                    <a:pt x="8534400" y="0"/>
                  </a:lnTo>
                  <a:lnTo>
                    <a:pt x="8534400" y="4389120"/>
                  </a:lnTo>
                  <a:lnTo>
                    <a:pt x="0" y="4389120"/>
                  </a:lnTo>
                  <a:close/>
                </a:path>
              </a:pathLst>
            </a:custGeom>
            <a:blipFill>
              <a:blip r:embed="rId3">
                <a:alphaModFix amt="0"/>
              </a:blip>
              <a:stretch>
                <a:fillRect l="-15984" t="0" r="-15984" b="0"/>
              </a:stretch>
            </a:blipFill>
          </p:spPr>
          <p:txBody>
            <a:bodyPr/>
            <a:p/>
          </p:txBody>
        </p:sp>
        <p:sp>
          <p:nvSpPr>
            <p:cNvPr name="TextBox 37" id="37"/>
            <p:cNvSpPr txBox="true"/>
            <p:nvPr/>
          </p:nvSpPr>
          <p:spPr>
            <a:xfrm>
              <a:off x="0" y="-57150"/>
              <a:ext cx="8534400" cy="444627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Recherche vectorielle</a:t>
              </a:r>
            </a:p>
            <a:p>
              <a:pPr algn="l">
                <a:lnSpc>
                  <a:spcPts val="3120"/>
                </a:lnSpc>
              </a:pPr>
            </a:p>
            <a:p>
              <a:pPr algn="l">
                <a:lnSpc>
                  <a:spcPts val="3120"/>
                </a:lnSpc>
              </a:pPr>
              <a:r>
                <a:rPr lang="en-US" sz="2600">
                  <a:solidFill>
                    <a:srgbClr val="1E293B"/>
                  </a:solidFill>
                  <a:latin typeface="Calibri (MS)"/>
                  <a:ea typeface="Calibri (MS)"/>
                  <a:cs typeface="Calibri (MS)"/>
                  <a:sym typeface="Calibri (MS)"/>
                </a:rPr>
                <a:t>Détecte les paraphrases</a:t>
              </a:r>
            </a:p>
            <a:p>
              <a:pPr algn="l">
                <a:lnSpc>
                  <a:spcPts val="3120"/>
                </a:lnSpc>
              </a:pPr>
            </a:p>
            <a:p>
              <a:pPr algn="l">
                <a:lnSpc>
                  <a:spcPts val="3120"/>
                </a:lnSpc>
              </a:pPr>
              <a:r>
                <a:rPr lang="en-US" sz="2600">
                  <a:solidFill>
                    <a:srgbClr val="1E293B"/>
                  </a:solidFill>
                  <a:latin typeface="Calibri (MS)"/>
                  <a:ea typeface="Calibri (MS)"/>
                  <a:cs typeface="Calibri (MS)"/>
                  <a:sym typeface="Calibri (MS)"/>
                </a:rPr>
                <a:t>Stream par blocs (UX)</a:t>
              </a:r>
            </a:p>
          </p:txBody>
        </p:sp>
      </p:grpSp>
      <p:grpSp>
        <p:nvGrpSpPr>
          <p:cNvPr name="Group 38" id="38"/>
          <p:cNvGrpSpPr/>
          <p:nvPr/>
        </p:nvGrpSpPr>
        <p:grpSpPr>
          <a:xfrm rot="0">
            <a:off x="914400" y="9601200"/>
            <a:ext cx="16459200" cy="548640"/>
            <a:chOff x="0" y="0"/>
            <a:chExt cx="21945600" cy="731520"/>
          </a:xfrm>
        </p:grpSpPr>
        <p:sp>
          <p:nvSpPr>
            <p:cNvPr name="Freeform 39" id="39"/>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txBody>
            <a:bodyPr/>
            <a:p/>
          </p:txBody>
        </p:sp>
        <p:sp>
          <p:nvSpPr>
            <p:cNvPr name="TextBox 40" id="40"/>
            <p:cNvSpPr txBox="true"/>
            <p:nvPr/>
          </p:nvSpPr>
          <p:spPr>
            <a:xfrm>
              <a:off x="0" y="-47625"/>
              <a:ext cx="21945600" cy="779145"/>
            </a:xfrm>
            <a:prstGeom prst="rect">
              <a:avLst/>
            </a:prstGeom>
          </p:spPr>
          <p:txBody>
            <a:bodyPr anchor="ctr" rtlCol="false" tIns="0" lIns="0" bIns="0" rIns="0"/>
            <a:lstStyle/>
            <a:p>
              <a:pPr algn="ctr">
                <a:lnSpc>
                  <a:spcPts val="2640"/>
                </a:lnSpc>
              </a:pPr>
              <a:r>
                <a:rPr lang="en-US" sz="2200" i="true">
                  <a:solidFill>
                    <a:srgbClr val="D97706"/>
                  </a:solidFill>
                  <a:latin typeface="Calibri (MS) Italics"/>
                  <a:ea typeface="Calibri (MS) Italics"/>
                  <a:cs typeface="Calibri (MS) Italics"/>
                  <a:sym typeface="Calibri (MS) Italics"/>
                </a:rPr>
                <a:t>Contournement : questions EDT  ·  conversations multi-tours  ·  erreurs LLM</a:t>
              </a:r>
            </a:p>
          </p:txBody>
        </p:sp>
      </p:grpSp>
      <p:sp>
        <p:nvSpPr>
          <p:cNvPr name="TextBox 41" id="4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Emplois du temps — données structurées</a:t>
              </a:r>
            </a:p>
          </p:txBody>
        </p:sp>
      </p:grpSp>
      <p:grpSp>
        <p:nvGrpSpPr>
          <p:cNvPr name="Group 7" id="7"/>
          <p:cNvGrpSpPr/>
          <p:nvPr/>
        </p:nvGrpSpPr>
        <p:grpSpPr>
          <a:xfrm rot="0">
            <a:off x="914400" y="2103120"/>
            <a:ext cx="16459200" cy="914400"/>
            <a:chOff x="0" y="0"/>
            <a:chExt cx="21945600" cy="1219200"/>
          </a:xfrm>
        </p:grpSpPr>
        <p:sp>
          <p:nvSpPr>
            <p:cNvPr name="Freeform 8" id="8"/>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txBody>
            <a:bodyPr/>
            <a:p/>
          </p:txBody>
        </p:sp>
        <p:sp>
          <p:nvSpPr>
            <p:cNvPr name="TextBox 9" id="9"/>
            <p:cNvSpPr txBox="true"/>
            <p:nvPr/>
          </p:nvSpPr>
          <p:spPr>
            <a:xfrm>
              <a:off x="0" y="-47625"/>
              <a:ext cx="21945600" cy="1266825"/>
            </a:xfrm>
            <a:prstGeom prst="rect">
              <a:avLst/>
            </a:prstGeom>
          </p:spPr>
          <p:txBody>
            <a:bodyPr anchor="ctr" rtlCol="false" tIns="0" lIns="0" bIns="0" rIns="0"/>
            <a:lstStyle/>
            <a:p>
              <a:pPr algn="ctr">
                <a:lnSpc>
                  <a:spcPts val="3359"/>
                </a:lnSpc>
              </a:pPr>
              <a:r>
                <a:rPr lang="en-US" sz="2799" i="true">
                  <a:solidFill>
                    <a:srgbClr val="64748B"/>
                  </a:solidFill>
                  <a:latin typeface="Calibri (MS) Italics"/>
                  <a:ea typeface="Calibri (MS) Italics"/>
                  <a:cs typeface="Calibri (MS) Italics"/>
                  <a:sym typeface="Calibri (MS) Italics"/>
                </a:rPr>
                <a:t>Pour éviter toute hallucination d'horaire, les questions EDT contournent le LLM génératif</a:t>
              </a:r>
            </a:p>
          </p:txBody>
        </p:sp>
      </p:grpSp>
      <p:grpSp>
        <p:nvGrpSpPr>
          <p:cNvPr name="Group 10" id="10"/>
          <p:cNvGrpSpPr/>
          <p:nvPr/>
        </p:nvGrpSpPr>
        <p:grpSpPr>
          <a:xfrm rot="0">
            <a:off x="855983" y="3827783"/>
            <a:ext cx="3042923" cy="2768603"/>
            <a:chOff x="0" y="0"/>
            <a:chExt cx="4057231" cy="3691471"/>
          </a:xfrm>
        </p:grpSpPr>
        <p:sp>
          <p:nvSpPr>
            <p:cNvPr name="Freeform 11" id="11"/>
            <p:cNvSpPr/>
            <p:nvPr/>
          </p:nvSpPr>
          <p:spPr>
            <a:xfrm flipH="false" flipV="false" rot="0">
              <a:off x="16891" y="16891"/>
              <a:ext cx="4023360" cy="3657600"/>
            </a:xfrm>
            <a:custGeom>
              <a:avLst/>
              <a:gdLst/>
              <a:ahLst/>
              <a:cxnLst/>
              <a:rect r="r" b="b" t="t" l="l"/>
              <a:pathLst>
                <a:path h="3657600" w="4023360">
                  <a:moveTo>
                    <a:pt x="0" y="0"/>
                  </a:moveTo>
                  <a:lnTo>
                    <a:pt x="4023360" y="0"/>
                  </a:lnTo>
                  <a:lnTo>
                    <a:pt x="4023360" y="3657600"/>
                  </a:lnTo>
                  <a:lnTo>
                    <a:pt x="0" y="3657600"/>
                  </a:lnTo>
                  <a:close/>
                </a:path>
              </a:pathLst>
            </a:custGeom>
            <a:solidFill>
              <a:srgbClr val="2563EB"/>
            </a:solidFill>
          </p:spPr>
          <p:txBody>
            <a:bodyPr/>
            <a:p/>
          </p:txBody>
        </p:sp>
        <p:sp>
          <p:nvSpPr>
            <p:cNvPr name="Freeform 12" id="12"/>
            <p:cNvSpPr/>
            <p:nvPr/>
          </p:nvSpPr>
          <p:spPr>
            <a:xfrm flipH="false" flipV="false" rot="0">
              <a:off x="0" y="0"/>
              <a:ext cx="4057142" cy="3691382"/>
            </a:xfrm>
            <a:custGeom>
              <a:avLst/>
              <a:gdLst/>
              <a:ahLst/>
              <a:cxnLst/>
              <a:rect r="r" b="b" t="t" l="l"/>
              <a:pathLst>
                <a:path h="3691382" w="4057142">
                  <a:moveTo>
                    <a:pt x="16891" y="0"/>
                  </a:moveTo>
                  <a:lnTo>
                    <a:pt x="4040251" y="0"/>
                  </a:lnTo>
                  <a:cubicBezTo>
                    <a:pt x="4049649" y="0"/>
                    <a:pt x="4057142" y="7620"/>
                    <a:pt x="4057142" y="16891"/>
                  </a:cubicBezTo>
                  <a:lnTo>
                    <a:pt x="4057142" y="3674491"/>
                  </a:lnTo>
                  <a:cubicBezTo>
                    <a:pt x="4057142" y="3683889"/>
                    <a:pt x="4049522" y="3691382"/>
                    <a:pt x="4040251"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4040251" y="3657600"/>
                  </a:lnTo>
                  <a:lnTo>
                    <a:pt x="4040251" y="3674491"/>
                  </a:lnTo>
                  <a:lnTo>
                    <a:pt x="4023360" y="3674491"/>
                  </a:lnTo>
                  <a:lnTo>
                    <a:pt x="4023360" y="16891"/>
                  </a:lnTo>
                  <a:lnTo>
                    <a:pt x="4040251" y="16891"/>
                  </a:lnTo>
                  <a:lnTo>
                    <a:pt x="4040251" y="33909"/>
                  </a:lnTo>
                  <a:lnTo>
                    <a:pt x="16891" y="33909"/>
                  </a:lnTo>
                  <a:close/>
                </a:path>
              </a:pathLst>
            </a:custGeom>
            <a:solidFill>
              <a:srgbClr val="2563EB"/>
            </a:solidFill>
          </p:spPr>
          <p:txBody>
            <a:bodyPr/>
            <a:p/>
          </p:txBody>
        </p:sp>
      </p:grpSp>
      <p:grpSp>
        <p:nvGrpSpPr>
          <p:cNvPr name="Group 13" id="13"/>
          <p:cNvGrpSpPr/>
          <p:nvPr/>
        </p:nvGrpSpPr>
        <p:grpSpPr>
          <a:xfrm rot="0">
            <a:off x="868680" y="4206240"/>
            <a:ext cx="3017520" cy="731520"/>
            <a:chOff x="0" y="0"/>
            <a:chExt cx="4023360" cy="975360"/>
          </a:xfrm>
        </p:grpSpPr>
        <p:sp>
          <p:nvSpPr>
            <p:cNvPr name="Freeform 14" id="14"/>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15" id="15"/>
            <p:cNvSpPr txBox="true"/>
            <p:nvPr/>
          </p:nvSpPr>
          <p:spPr>
            <a:xfrm>
              <a:off x="0" y="-57150"/>
              <a:ext cx="4023360" cy="10325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Question</a:t>
              </a:r>
            </a:p>
          </p:txBody>
        </p:sp>
      </p:grpSp>
      <p:sp>
        <p:nvSpPr>
          <p:cNvPr name="TextBox 16" id="16"/>
          <p:cNvSpPr txBox="true"/>
          <p:nvPr/>
        </p:nvSpPr>
        <p:spPr>
          <a:xfrm rot="0">
            <a:off x="960120" y="5210175"/>
            <a:ext cx="2834640" cy="1053465"/>
          </a:xfrm>
          <a:prstGeom prst="rect">
            <a:avLst/>
          </a:prstGeom>
        </p:spPr>
        <p:txBody>
          <a:bodyPr anchor="t" rtlCol="false" tIns="0" lIns="0" bIns="0" rIns="0">
            <a:spAutoFit/>
          </a:bodyPr>
          <a:lstStyle/>
          <a:p>
            <a:pPr algn="ctr">
              <a:lnSpc>
                <a:spcPts val="2640"/>
              </a:lnSpc>
            </a:pPr>
            <a:r>
              <a:rPr lang="en-US" sz="2200">
                <a:solidFill>
                  <a:srgbClr val="CFFAFE"/>
                </a:solidFill>
                <a:latin typeface="Calibri (MS)"/>
                <a:ea typeface="Calibri (MS)"/>
                <a:cs typeface="Calibri (MS)"/>
                <a:sym typeface="Calibri (MS)"/>
              </a:rPr>
              <a:t>« Cours de lundi ? »</a:t>
            </a:r>
          </a:p>
        </p:txBody>
      </p:sp>
      <p:grpSp>
        <p:nvGrpSpPr>
          <p:cNvPr name="Group 17" id="17"/>
          <p:cNvGrpSpPr/>
          <p:nvPr/>
        </p:nvGrpSpPr>
        <p:grpSpPr>
          <a:xfrm rot="0">
            <a:off x="3794760" y="4937760"/>
            <a:ext cx="548640" cy="548640"/>
            <a:chOff x="0" y="0"/>
            <a:chExt cx="731520" cy="731520"/>
          </a:xfrm>
        </p:grpSpPr>
        <p:sp>
          <p:nvSpPr>
            <p:cNvPr name="Freeform 18" id="18"/>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txBody>
            <a:bodyPr/>
            <a:p/>
          </p:txBody>
        </p:sp>
        <p:sp>
          <p:nvSpPr>
            <p:cNvPr name="TextBox 19" id="19"/>
            <p:cNvSpPr txBox="true"/>
            <p:nvPr/>
          </p:nvSpPr>
          <p:spPr>
            <a:xfrm>
              <a:off x="0" y="-47625"/>
              <a:ext cx="731520" cy="779145"/>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a:t>
              </a:r>
            </a:p>
          </p:txBody>
        </p:sp>
      </p:grpSp>
      <p:grpSp>
        <p:nvGrpSpPr>
          <p:cNvPr name="Group 20" id="20"/>
          <p:cNvGrpSpPr/>
          <p:nvPr/>
        </p:nvGrpSpPr>
        <p:grpSpPr>
          <a:xfrm rot="0">
            <a:off x="4239263" y="3827783"/>
            <a:ext cx="3042923" cy="2768603"/>
            <a:chOff x="0" y="0"/>
            <a:chExt cx="4057231" cy="3691471"/>
          </a:xfrm>
        </p:grpSpPr>
        <p:sp>
          <p:nvSpPr>
            <p:cNvPr name="Freeform 21" id="21"/>
            <p:cNvSpPr/>
            <p:nvPr/>
          </p:nvSpPr>
          <p:spPr>
            <a:xfrm flipH="false" flipV="false" rot="0">
              <a:off x="16891" y="16891"/>
              <a:ext cx="4023360" cy="3657600"/>
            </a:xfrm>
            <a:custGeom>
              <a:avLst/>
              <a:gdLst/>
              <a:ahLst/>
              <a:cxnLst/>
              <a:rect r="r" b="b" t="t" l="l"/>
              <a:pathLst>
                <a:path h="3657600" w="4023360">
                  <a:moveTo>
                    <a:pt x="0" y="0"/>
                  </a:moveTo>
                  <a:lnTo>
                    <a:pt x="4023360" y="0"/>
                  </a:lnTo>
                  <a:lnTo>
                    <a:pt x="4023360" y="3657600"/>
                  </a:lnTo>
                  <a:lnTo>
                    <a:pt x="0" y="3657600"/>
                  </a:lnTo>
                  <a:close/>
                </a:path>
              </a:pathLst>
            </a:custGeom>
            <a:solidFill>
              <a:srgbClr val="06B6D4"/>
            </a:solidFill>
          </p:spPr>
          <p:txBody>
            <a:bodyPr/>
            <a:p/>
          </p:txBody>
        </p:sp>
        <p:sp>
          <p:nvSpPr>
            <p:cNvPr name="Freeform 22" id="22"/>
            <p:cNvSpPr/>
            <p:nvPr/>
          </p:nvSpPr>
          <p:spPr>
            <a:xfrm flipH="false" flipV="false" rot="0">
              <a:off x="0" y="0"/>
              <a:ext cx="4057142" cy="3691382"/>
            </a:xfrm>
            <a:custGeom>
              <a:avLst/>
              <a:gdLst/>
              <a:ahLst/>
              <a:cxnLst/>
              <a:rect r="r" b="b" t="t" l="l"/>
              <a:pathLst>
                <a:path h="3691382" w="4057142">
                  <a:moveTo>
                    <a:pt x="16891" y="0"/>
                  </a:moveTo>
                  <a:lnTo>
                    <a:pt x="4040251" y="0"/>
                  </a:lnTo>
                  <a:cubicBezTo>
                    <a:pt x="4049649" y="0"/>
                    <a:pt x="4057142" y="7620"/>
                    <a:pt x="4057142" y="16891"/>
                  </a:cubicBezTo>
                  <a:lnTo>
                    <a:pt x="4057142" y="3674491"/>
                  </a:lnTo>
                  <a:cubicBezTo>
                    <a:pt x="4057142" y="3683889"/>
                    <a:pt x="4049522" y="3691382"/>
                    <a:pt x="4040251"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4040251" y="3657600"/>
                  </a:lnTo>
                  <a:lnTo>
                    <a:pt x="4040251" y="3674491"/>
                  </a:lnTo>
                  <a:lnTo>
                    <a:pt x="4023360" y="3674491"/>
                  </a:lnTo>
                  <a:lnTo>
                    <a:pt x="4023360" y="16891"/>
                  </a:lnTo>
                  <a:lnTo>
                    <a:pt x="4040251" y="16891"/>
                  </a:lnTo>
                  <a:lnTo>
                    <a:pt x="4040251" y="33909"/>
                  </a:lnTo>
                  <a:lnTo>
                    <a:pt x="16891" y="33909"/>
                  </a:lnTo>
                  <a:close/>
                </a:path>
              </a:pathLst>
            </a:custGeom>
            <a:solidFill>
              <a:srgbClr val="06B6D4"/>
            </a:solidFill>
          </p:spPr>
          <p:txBody>
            <a:bodyPr/>
            <a:p/>
          </p:txBody>
        </p:sp>
      </p:grpSp>
      <p:grpSp>
        <p:nvGrpSpPr>
          <p:cNvPr name="Group 23" id="23"/>
          <p:cNvGrpSpPr/>
          <p:nvPr/>
        </p:nvGrpSpPr>
        <p:grpSpPr>
          <a:xfrm rot="0">
            <a:off x="4251960" y="4206240"/>
            <a:ext cx="3017520" cy="731520"/>
            <a:chOff x="0" y="0"/>
            <a:chExt cx="4023360" cy="975360"/>
          </a:xfrm>
        </p:grpSpPr>
        <p:sp>
          <p:nvSpPr>
            <p:cNvPr name="Freeform 24" id="24"/>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25" id="25"/>
            <p:cNvSpPr txBox="true"/>
            <p:nvPr/>
          </p:nvSpPr>
          <p:spPr>
            <a:xfrm>
              <a:off x="0" y="-57150"/>
              <a:ext cx="4023360" cy="10325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Détection</a:t>
              </a:r>
            </a:p>
          </p:txBody>
        </p:sp>
      </p:grpSp>
      <p:sp>
        <p:nvSpPr>
          <p:cNvPr name="TextBox 26" id="26"/>
          <p:cNvSpPr txBox="true"/>
          <p:nvPr/>
        </p:nvSpPr>
        <p:spPr>
          <a:xfrm rot="0">
            <a:off x="4343400" y="5210175"/>
            <a:ext cx="2834640" cy="1053465"/>
          </a:xfrm>
          <a:prstGeom prst="rect">
            <a:avLst/>
          </a:prstGeom>
        </p:spPr>
        <p:txBody>
          <a:bodyPr anchor="t" rtlCol="false" tIns="0" lIns="0" bIns="0" rIns="0">
            <a:spAutoFit/>
          </a:bodyPr>
          <a:lstStyle/>
          <a:p>
            <a:pPr algn="ctr">
              <a:lnSpc>
                <a:spcPts val="2640"/>
              </a:lnSpc>
            </a:pPr>
            <a:r>
              <a:rPr lang="en-US" sz="2200">
                <a:solidFill>
                  <a:srgbClr val="CFFAFE"/>
                </a:solidFill>
                <a:latin typeface="Calibri (MS)"/>
                <a:ea typeface="Calibri (MS)"/>
                <a:cs typeface="Calibri (MS)"/>
                <a:sym typeface="Calibri (MS)"/>
              </a:rPr>
              <a:t>Routeur EDT</a:t>
            </a:r>
          </a:p>
        </p:txBody>
      </p:sp>
      <p:grpSp>
        <p:nvGrpSpPr>
          <p:cNvPr name="Group 27" id="27"/>
          <p:cNvGrpSpPr/>
          <p:nvPr/>
        </p:nvGrpSpPr>
        <p:grpSpPr>
          <a:xfrm rot="0">
            <a:off x="7178040" y="4937760"/>
            <a:ext cx="548640" cy="54864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txBody>
            <a:bodyPr/>
            <a:p/>
          </p:txBody>
        </p:sp>
        <p:sp>
          <p:nvSpPr>
            <p:cNvPr name="TextBox 29" id="29"/>
            <p:cNvSpPr txBox="true"/>
            <p:nvPr/>
          </p:nvSpPr>
          <p:spPr>
            <a:xfrm>
              <a:off x="0" y="-47625"/>
              <a:ext cx="731520" cy="779145"/>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a:t>
              </a:r>
            </a:p>
          </p:txBody>
        </p:sp>
      </p:grpSp>
      <p:grpSp>
        <p:nvGrpSpPr>
          <p:cNvPr name="Group 30" id="30"/>
          <p:cNvGrpSpPr/>
          <p:nvPr/>
        </p:nvGrpSpPr>
        <p:grpSpPr>
          <a:xfrm rot="0">
            <a:off x="7622543" y="3827783"/>
            <a:ext cx="3042923" cy="2768603"/>
            <a:chOff x="0" y="0"/>
            <a:chExt cx="4057231" cy="3691471"/>
          </a:xfrm>
        </p:grpSpPr>
        <p:sp>
          <p:nvSpPr>
            <p:cNvPr name="Freeform 31" id="31"/>
            <p:cNvSpPr/>
            <p:nvPr/>
          </p:nvSpPr>
          <p:spPr>
            <a:xfrm flipH="false" flipV="false" rot="0">
              <a:off x="16891" y="16891"/>
              <a:ext cx="4023360" cy="3657600"/>
            </a:xfrm>
            <a:custGeom>
              <a:avLst/>
              <a:gdLst/>
              <a:ahLst/>
              <a:cxnLst/>
              <a:rect r="r" b="b" t="t" l="l"/>
              <a:pathLst>
                <a:path h="3657600" w="4023360">
                  <a:moveTo>
                    <a:pt x="0" y="0"/>
                  </a:moveTo>
                  <a:lnTo>
                    <a:pt x="4023360" y="0"/>
                  </a:lnTo>
                  <a:lnTo>
                    <a:pt x="4023360" y="3657600"/>
                  </a:lnTo>
                  <a:lnTo>
                    <a:pt x="0" y="3657600"/>
                  </a:lnTo>
                  <a:close/>
                </a:path>
              </a:pathLst>
            </a:custGeom>
            <a:solidFill>
              <a:srgbClr val="0F766E"/>
            </a:solidFill>
          </p:spPr>
          <p:txBody>
            <a:bodyPr/>
            <a:p/>
          </p:txBody>
        </p:sp>
        <p:sp>
          <p:nvSpPr>
            <p:cNvPr name="Freeform 32" id="32"/>
            <p:cNvSpPr/>
            <p:nvPr/>
          </p:nvSpPr>
          <p:spPr>
            <a:xfrm flipH="false" flipV="false" rot="0">
              <a:off x="0" y="0"/>
              <a:ext cx="4057142" cy="3691382"/>
            </a:xfrm>
            <a:custGeom>
              <a:avLst/>
              <a:gdLst/>
              <a:ahLst/>
              <a:cxnLst/>
              <a:rect r="r" b="b" t="t" l="l"/>
              <a:pathLst>
                <a:path h="3691382" w="4057142">
                  <a:moveTo>
                    <a:pt x="16891" y="0"/>
                  </a:moveTo>
                  <a:lnTo>
                    <a:pt x="4040251" y="0"/>
                  </a:lnTo>
                  <a:cubicBezTo>
                    <a:pt x="4049649" y="0"/>
                    <a:pt x="4057142" y="7620"/>
                    <a:pt x="4057142" y="16891"/>
                  </a:cubicBezTo>
                  <a:lnTo>
                    <a:pt x="4057142" y="3674491"/>
                  </a:lnTo>
                  <a:cubicBezTo>
                    <a:pt x="4057142" y="3683889"/>
                    <a:pt x="4049522" y="3691382"/>
                    <a:pt x="4040251"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4040251" y="3657600"/>
                  </a:lnTo>
                  <a:lnTo>
                    <a:pt x="4040251" y="3674491"/>
                  </a:lnTo>
                  <a:lnTo>
                    <a:pt x="4023360" y="3674491"/>
                  </a:lnTo>
                  <a:lnTo>
                    <a:pt x="4023360" y="16891"/>
                  </a:lnTo>
                  <a:lnTo>
                    <a:pt x="4040251" y="16891"/>
                  </a:lnTo>
                  <a:lnTo>
                    <a:pt x="4040251" y="33909"/>
                  </a:lnTo>
                  <a:lnTo>
                    <a:pt x="16891" y="33909"/>
                  </a:lnTo>
                  <a:close/>
                </a:path>
              </a:pathLst>
            </a:custGeom>
            <a:solidFill>
              <a:srgbClr val="0F766E"/>
            </a:solidFill>
          </p:spPr>
          <p:txBody>
            <a:bodyPr/>
            <a:p/>
          </p:txBody>
        </p:sp>
      </p:grpSp>
      <p:grpSp>
        <p:nvGrpSpPr>
          <p:cNvPr name="Group 33" id="33"/>
          <p:cNvGrpSpPr/>
          <p:nvPr/>
        </p:nvGrpSpPr>
        <p:grpSpPr>
          <a:xfrm rot="0">
            <a:off x="7635240" y="4206240"/>
            <a:ext cx="3017520" cy="731520"/>
            <a:chOff x="0" y="0"/>
            <a:chExt cx="4023360" cy="975360"/>
          </a:xfrm>
        </p:grpSpPr>
        <p:sp>
          <p:nvSpPr>
            <p:cNvPr name="Freeform 34" id="34"/>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35" id="35"/>
            <p:cNvSpPr txBox="true"/>
            <p:nvPr/>
          </p:nvSpPr>
          <p:spPr>
            <a:xfrm>
              <a:off x="0" y="-57150"/>
              <a:ext cx="4023360" cy="10325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Résolution</a:t>
              </a:r>
            </a:p>
          </p:txBody>
        </p:sp>
      </p:grpSp>
      <p:sp>
        <p:nvSpPr>
          <p:cNvPr name="TextBox 36" id="36"/>
          <p:cNvSpPr txBox="true"/>
          <p:nvPr/>
        </p:nvSpPr>
        <p:spPr>
          <a:xfrm rot="0">
            <a:off x="7726680" y="5210175"/>
            <a:ext cx="2834640" cy="1053465"/>
          </a:xfrm>
          <a:prstGeom prst="rect">
            <a:avLst/>
          </a:prstGeom>
        </p:spPr>
        <p:txBody>
          <a:bodyPr anchor="t" rtlCol="false" tIns="0" lIns="0" bIns="0" rIns="0">
            <a:spAutoFit/>
          </a:bodyPr>
          <a:lstStyle/>
          <a:p>
            <a:pPr algn="ctr">
              <a:lnSpc>
                <a:spcPts val="2640"/>
              </a:lnSpc>
            </a:pPr>
            <a:r>
              <a:rPr lang="en-US" sz="2200">
                <a:solidFill>
                  <a:srgbClr val="CFFAFE"/>
                </a:solidFill>
                <a:latin typeface="Calibri (MS)"/>
                <a:ea typeface="Calibri (MS)"/>
                <a:cs typeface="Calibri (MS)"/>
                <a:sym typeface="Calibri (MS)"/>
              </a:rPr>
              <a:t>dateparser FR</a:t>
            </a:r>
          </a:p>
        </p:txBody>
      </p:sp>
      <p:grpSp>
        <p:nvGrpSpPr>
          <p:cNvPr name="Group 37" id="37"/>
          <p:cNvGrpSpPr/>
          <p:nvPr/>
        </p:nvGrpSpPr>
        <p:grpSpPr>
          <a:xfrm rot="0">
            <a:off x="10561320" y="4937760"/>
            <a:ext cx="548640" cy="548640"/>
            <a:chOff x="0" y="0"/>
            <a:chExt cx="731520" cy="731520"/>
          </a:xfrm>
        </p:grpSpPr>
        <p:sp>
          <p:nvSpPr>
            <p:cNvPr name="Freeform 38" id="38"/>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txBody>
            <a:bodyPr/>
            <a:p/>
          </p:txBody>
        </p:sp>
        <p:sp>
          <p:nvSpPr>
            <p:cNvPr name="TextBox 39" id="39"/>
            <p:cNvSpPr txBox="true"/>
            <p:nvPr/>
          </p:nvSpPr>
          <p:spPr>
            <a:xfrm>
              <a:off x="0" y="-47625"/>
              <a:ext cx="731520" cy="779145"/>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a:t>
              </a:r>
            </a:p>
          </p:txBody>
        </p:sp>
      </p:grpSp>
      <p:grpSp>
        <p:nvGrpSpPr>
          <p:cNvPr name="Group 40" id="40"/>
          <p:cNvGrpSpPr/>
          <p:nvPr/>
        </p:nvGrpSpPr>
        <p:grpSpPr>
          <a:xfrm rot="0">
            <a:off x="11005823" y="3827783"/>
            <a:ext cx="3042923" cy="2768603"/>
            <a:chOff x="0" y="0"/>
            <a:chExt cx="4057231" cy="3691471"/>
          </a:xfrm>
        </p:grpSpPr>
        <p:sp>
          <p:nvSpPr>
            <p:cNvPr name="Freeform 41" id="41"/>
            <p:cNvSpPr/>
            <p:nvPr/>
          </p:nvSpPr>
          <p:spPr>
            <a:xfrm flipH="false" flipV="false" rot="0">
              <a:off x="16891" y="16891"/>
              <a:ext cx="4023360" cy="3657600"/>
            </a:xfrm>
            <a:custGeom>
              <a:avLst/>
              <a:gdLst/>
              <a:ahLst/>
              <a:cxnLst/>
              <a:rect r="r" b="b" t="t" l="l"/>
              <a:pathLst>
                <a:path h="3657600" w="4023360">
                  <a:moveTo>
                    <a:pt x="0" y="0"/>
                  </a:moveTo>
                  <a:lnTo>
                    <a:pt x="4023360" y="0"/>
                  </a:lnTo>
                  <a:lnTo>
                    <a:pt x="4023360" y="3657600"/>
                  </a:lnTo>
                  <a:lnTo>
                    <a:pt x="0" y="3657600"/>
                  </a:lnTo>
                  <a:close/>
                </a:path>
              </a:pathLst>
            </a:custGeom>
            <a:solidFill>
              <a:srgbClr val="0D1B2A"/>
            </a:solidFill>
          </p:spPr>
          <p:txBody>
            <a:bodyPr/>
            <a:p/>
          </p:txBody>
        </p:sp>
        <p:sp>
          <p:nvSpPr>
            <p:cNvPr name="Freeform 42" id="42"/>
            <p:cNvSpPr/>
            <p:nvPr/>
          </p:nvSpPr>
          <p:spPr>
            <a:xfrm flipH="false" flipV="false" rot="0">
              <a:off x="0" y="0"/>
              <a:ext cx="4057142" cy="3691382"/>
            </a:xfrm>
            <a:custGeom>
              <a:avLst/>
              <a:gdLst/>
              <a:ahLst/>
              <a:cxnLst/>
              <a:rect r="r" b="b" t="t" l="l"/>
              <a:pathLst>
                <a:path h="3691382" w="4057142">
                  <a:moveTo>
                    <a:pt x="16891" y="0"/>
                  </a:moveTo>
                  <a:lnTo>
                    <a:pt x="4040251" y="0"/>
                  </a:lnTo>
                  <a:cubicBezTo>
                    <a:pt x="4049649" y="0"/>
                    <a:pt x="4057142" y="7620"/>
                    <a:pt x="4057142" y="16891"/>
                  </a:cubicBezTo>
                  <a:lnTo>
                    <a:pt x="4057142" y="3674491"/>
                  </a:lnTo>
                  <a:cubicBezTo>
                    <a:pt x="4057142" y="3683889"/>
                    <a:pt x="4049522" y="3691382"/>
                    <a:pt x="4040251"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4040251" y="3657600"/>
                  </a:lnTo>
                  <a:lnTo>
                    <a:pt x="4040251" y="3674491"/>
                  </a:lnTo>
                  <a:lnTo>
                    <a:pt x="4023360" y="3674491"/>
                  </a:lnTo>
                  <a:lnTo>
                    <a:pt x="4023360" y="16891"/>
                  </a:lnTo>
                  <a:lnTo>
                    <a:pt x="4040251" y="16891"/>
                  </a:lnTo>
                  <a:lnTo>
                    <a:pt x="4040251" y="33909"/>
                  </a:lnTo>
                  <a:lnTo>
                    <a:pt x="16891" y="33909"/>
                  </a:lnTo>
                  <a:close/>
                </a:path>
              </a:pathLst>
            </a:custGeom>
            <a:solidFill>
              <a:srgbClr val="0D1B2A"/>
            </a:solidFill>
          </p:spPr>
          <p:txBody>
            <a:bodyPr/>
            <a:p/>
          </p:txBody>
        </p:sp>
      </p:grpSp>
      <p:grpSp>
        <p:nvGrpSpPr>
          <p:cNvPr name="Group 43" id="43"/>
          <p:cNvGrpSpPr/>
          <p:nvPr/>
        </p:nvGrpSpPr>
        <p:grpSpPr>
          <a:xfrm rot="0">
            <a:off x="11018520" y="4206240"/>
            <a:ext cx="3017520" cy="731520"/>
            <a:chOff x="0" y="0"/>
            <a:chExt cx="4023360" cy="975360"/>
          </a:xfrm>
        </p:grpSpPr>
        <p:sp>
          <p:nvSpPr>
            <p:cNvPr name="Freeform 44" id="44"/>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45" id="45"/>
            <p:cNvSpPr txBox="true"/>
            <p:nvPr/>
          </p:nvSpPr>
          <p:spPr>
            <a:xfrm>
              <a:off x="0" y="-57150"/>
              <a:ext cx="4023360" cy="10325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Requête BD</a:t>
              </a:r>
            </a:p>
          </p:txBody>
        </p:sp>
      </p:grpSp>
      <p:sp>
        <p:nvSpPr>
          <p:cNvPr name="TextBox 46" id="46"/>
          <p:cNvSpPr txBox="true"/>
          <p:nvPr/>
        </p:nvSpPr>
        <p:spPr>
          <a:xfrm rot="0">
            <a:off x="11109960" y="5210175"/>
            <a:ext cx="2834640" cy="1053465"/>
          </a:xfrm>
          <a:prstGeom prst="rect">
            <a:avLst/>
          </a:prstGeom>
        </p:spPr>
        <p:txBody>
          <a:bodyPr anchor="t" rtlCol="false" tIns="0" lIns="0" bIns="0" rIns="0">
            <a:spAutoFit/>
          </a:bodyPr>
          <a:lstStyle/>
          <a:p>
            <a:pPr algn="ctr">
              <a:lnSpc>
                <a:spcPts val="2640"/>
              </a:lnSpc>
            </a:pPr>
            <a:r>
              <a:rPr lang="en-US" sz="2200">
                <a:solidFill>
                  <a:srgbClr val="CFFAFE"/>
                </a:solidFill>
                <a:latin typeface="Calibri (MS)"/>
                <a:ea typeface="Calibri (MS)"/>
                <a:cs typeface="Calibri (MS)"/>
                <a:sym typeface="Calibri (MS)"/>
              </a:rPr>
              <a:t>PostgreSQL</a:t>
            </a:r>
          </a:p>
        </p:txBody>
      </p:sp>
      <p:grpSp>
        <p:nvGrpSpPr>
          <p:cNvPr name="Group 47" id="47"/>
          <p:cNvGrpSpPr/>
          <p:nvPr/>
        </p:nvGrpSpPr>
        <p:grpSpPr>
          <a:xfrm rot="0">
            <a:off x="13944600" y="4937760"/>
            <a:ext cx="548640" cy="548640"/>
            <a:chOff x="0" y="0"/>
            <a:chExt cx="731520" cy="731520"/>
          </a:xfrm>
        </p:grpSpPr>
        <p:sp>
          <p:nvSpPr>
            <p:cNvPr name="Freeform 48" id="48"/>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txBody>
            <a:bodyPr/>
            <a:p/>
          </p:txBody>
        </p:sp>
        <p:sp>
          <p:nvSpPr>
            <p:cNvPr name="TextBox 49" id="49"/>
            <p:cNvSpPr txBox="true"/>
            <p:nvPr/>
          </p:nvSpPr>
          <p:spPr>
            <a:xfrm>
              <a:off x="0" y="-47625"/>
              <a:ext cx="731520" cy="779145"/>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a:t>
              </a:r>
            </a:p>
          </p:txBody>
        </p:sp>
      </p:grpSp>
      <p:grpSp>
        <p:nvGrpSpPr>
          <p:cNvPr name="Group 50" id="50"/>
          <p:cNvGrpSpPr/>
          <p:nvPr/>
        </p:nvGrpSpPr>
        <p:grpSpPr>
          <a:xfrm rot="0">
            <a:off x="14389103" y="3827783"/>
            <a:ext cx="3042923" cy="2768603"/>
            <a:chOff x="0" y="0"/>
            <a:chExt cx="4057231" cy="3691471"/>
          </a:xfrm>
        </p:grpSpPr>
        <p:sp>
          <p:nvSpPr>
            <p:cNvPr name="Freeform 51" id="51"/>
            <p:cNvSpPr/>
            <p:nvPr/>
          </p:nvSpPr>
          <p:spPr>
            <a:xfrm flipH="false" flipV="false" rot="0">
              <a:off x="16891" y="16891"/>
              <a:ext cx="4023360" cy="3657600"/>
            </a:xfrm>
            <a:custGeom>
              <a:avLst/>
              <a:gdLst/>
              <a:ahLst/>
              <a:cxnLst/>
              <a:rect r="r" b="b" t="t" l="l"/>
              <a:pathLst>
                <a:path h="3657600" w="4023360">
                  <a:moveTo>
                    <a:pt x="0" y="0"/>
                  </a:moveTo>
                  <a:lnTo>
                    <a:pt x="4023360" y="0"/>
                  </a:lnTo>
                  <a:lnTo>
                    <a:pt x="4023360" y="3657600"/>
                  </a:lnTo>
                  <a:lnTo>
                    <a:pt x="0" y="3657600"/>
                  </a:lnTo>
                  <a:close/>
                </a:path>
              </a:pathLst>
            </a:custGeom>
            <a:solidFill>
              <a:srgbClr val="6D28D9"/>
            </a:solidFill>
          </p:spPr>
          <p:txBody>
            <a:bodyPr/>
            <a:p/>
          </p:txBody>
        </p:sp>
        <p:sp>
          <p:nvSpPr>
            <p:cNvPr name="Freeform 52" id="52"/>
            <p:cNvSpPr/>
            <p:nvPr/>
          </p:nvSpPr>
          <p:spPr>
            <a:xfrm flipH="false" flipV="false" rot="0">
              <a:off x="0" y="0"/>
              <a:ext cx="4057142" cy="3691382"/>
            </a:xfrm>
            <a:custGeom>
              <a:avLst/>
              <a:gdLst/>
              <a:ahLst/>
              <a:cxnLst/>
              <a:rect r="r" b="b" t="t" l="l"/>
              <a:pathLst>
                <a:path h="3691382" w="4057142">
                  <a:moveTo>
                    <a:pt x="16891" y="0"/>
                  </a:moveTo>
                  <a:lnTo>
                    <a:pt x="4040251" y="0"/>
                  </a:lnTo>
                  <a:cubicBezTo>
                    <a:pt x="4049649" y="0"/>
                    <a:pt x="4057142" y="7620"/>
                    <a:pt x="4057142" y="16891"/>
                  </a:cubicBezTo>
                  <a:lnTo>
                    <a:pt x="4057142" y="3674491"/>
                  </a:lnTo>
                  <a:cubicBezTo>
                    <a:pt x="4057142" y="3683889"/>
                    <a:pt x="4049522" y="3691382"/>
                    <a:pt x="4040251"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4040251" y="3657600"/>
                  </a:lnTo>
                  <a:lnTo>
                    <a:pt x="4040251" y="3674491"/>
                  </a:lnTo>
                  <a:lnTo>
                    <a:pt x="4023360" y="3674491"/>
                  </a:lnTo>
                  <a:lnTo>
                    <a:pt x="4023360" y="16891"/>
                  </a:lnTo>
                  <a:lnTo>
                    <a:pt x="4040251" y="16891"/>
                  </a:lnTo>
                  <a:lnTo>
                    <a:pt x="4040251" y="33909"/>
                  </a:lnTo>
                  <a:lnTo>
                    <a:pt x="16891" y="33909"/>
                  </a:lnTo>
                  <a:close/>
                </a:path>
              </a:pathLst>
            </a:custGeom>
            <a:solidFill>
              <a:srgbClr val="6D28D9"/>
            </a:solidFill>
          </p:spPr>
          <p:txBody>
            <a:bodyPr/>
            <a:p/>
          </p:txBody>
        </p:sp>
      </p:grpSp>
      <p:grpSp>
        <p:nvGrpSpPr>
          <p:cNvPr name="Group 53" id="53"/>
          <p:cNvGrpSpPr/>
          <p:nvPr/>
        </p:nvGrpSpPr>
        <p:grpSpPr>
          <a:xfrm rot="0">
            <a:off x="14401800" y="4206240"/>
            <a:ext cx="3017520" cy="731520"/>
            <a:chOff x="0" y="0"/>
            <a:chExt cx="4023360" cy="975360"/>
          </a:xfrm>
        </p:grpSpPr>
        <p:sp>
          <p:nvSpPr>
            <p:cNvPr name="Freeform 54" id="54"/>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55" id="55"/>
            <p:cNvSpPr txBox="true"/>
            <p:nvPr/>
          </p:nvSpPr>
          <p:spPr>
            <a:xfrm>
              <a:off x="0" y="-57150"/>
              <a:ext cx="4023360" cy="10325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Reformulation</a:t>
              </a:r>
            </a:p>
          </p:txBody>
        </p:sp>
      </p:grpSp>
      <p:sp>
        <p:nvSpPr>
          <p:cNvPr name="TextBox 56" id="56"/>
          <p:cNvSpPr txBox="true"/>
          <p:nvPr/>
        </p:nvSpPr>
        <p:spPr>
          <a:xfrm rot="0">
            <a:off x="14493240" y="5210175"/>
            <a:ext cx="2834640" cy="1053465"/>
          </a:xfrm>
          <a:prstGeom prst="rect">
            <a:avLst/>
          </a:prstGeom>
        </p:spPr>
        <p:txBody>
          <a:bodyPr anchor="t" rtlCol="false" tIns="0" lIns="0" bIns="0" rIns="0">
            <a:spAutoFit/>
          </a:bodyPr>
          <a:lstStyle/>
          <a:p>
            <a:pPr algn="ctr">
              <a:lnSpc>
                <a:spcPts val="2640"/>
              </a:lnSpc>
            </a:pPr>
            <a:r>
              <a:rPr lang="en-US" sz="2200">
                <a:solidFill>
                  <a:srgbClr val="CFFAFE"/>
                </a:solidFill>
                <a:latin typeface="Calibri (MS)"/>
                <a:ea typeface="Calibri (MS)"/>
                <a:cs typeface="Calibri (MS)"/>
                <a:sym typeface="Calibri (MS)"/>
              </a:rPr>
              <a:t>Groq (style naturel)</a:t>
            </a:r>
          </a:p>
        </p:txBody>
      </p:sp>
      <p:grpSp>
        <p:nvGrpSpPr>
          <p:cNvPr name="Group 57" id="57"/>
          <p:cNvGrpSpPr/>
          <p:nvPr/>
        </p:nvGrpSpPr>
        <p:grpSpPr>
          <a:xfrm rot="0">
            <a:off x="1816103" y="7393943"/>
            <a:ext cx="14655803" cy="2128523"/>
            <a:chOff x="0" y="0"/>
            <a:chExt cx="19541071" cy="2838031"/>
          </a:xfrm>
        </p:grpSpPr>
        <p:sp>
          <p:nvSpPr>
            <p:cNvPr name="Freeform 58" id="58"/>
            <p:cNvSpPr/>
            <p:nvPr/>
          </p:nvSpPr>
          <p:spPr>
            <a:xfrm flipH="false" flipV="false" rot="0">
              <a:off x="16891" y="16891"/>
              <a:ext cx="19507199" cy="2804160"/>
            </a:xfrm>
            <a:custGeom>
              <a:avLst/>
              <a:gdLst/>
              <a:ahLst/>
              <a:cxnLst/>
              <a:rect r="r" b="b" t="t" l="l"/>
              <a:pathLst>
                <a:path h="2804160" w="19507199">
                  <a:moveTo>
                    <a:pt x="0" y="0"/>
                  </a:moveTo>
                  <a:lnTo>
                    <a:pt x="19507199" y="0"/>
                  </a:lnTo>
                  <a:lnTo>
                    <a:pt x="19507199" y="2804160"/>
                  </a:lnTo>
                  <a:lnTo>
                    <a:pt x="0" y="2804160"/>
                  </a:lnTo>
                  <a:close/>
                </a:path>
              </a:pathLst>
            </a:custGeom>
            <a:solidFill>
              <a:srgbClr val="FFFBEB"/>
            </a:solidFill>
          </p:spPr>
          <p:txBody>
            <a:bodyPr/>
            <a:p/>
          </p:txBody>
        </p:sp>
        <p:sp>
          <p:nvSpPr>
            <p:cNvPr name="Freeform 59" id="59"/>
            <p:cNvSpPr/>
            <p:nvPr/>
          </p:nvSpPr>
          <p:spPr>
            <a:xfrm flipH="false" flipV="false" rot="0">
              <a:off x="0" y="0"/>
              <a:ext cx="19540982" cy="2837942"/>
            </a:xfrm>
            <a:custGeom>
              <a:avLst/>
              <a:gdLst/>
              <a:ahLst/>
              <a:cxnLst/>
              <a:rect r="r" b="b" t="t" l="l"/>
              <a:pathLst>
                <a:path h="2837942" w="19540982">
                  <a:moveTo>
                    <a:pt x="16891" y="0"/>
                  </a:moveTo>
                  <a:lnTo>
                    <a:pt x="19524090" y="0"/>
                  </a:lnTo>
                  <a:cubicBezTo>
                    <a:pt x="19533490" y="0"/>
                    <a:pt x="19540982" y="7620"/>
                    <a:pt x="19540982" y="16891"/>
                  </a:cubicBezTo>
                  <a:lnTo>
                    <a:pt x="19540982" y="2821051"/>
                  </a:lnTo>
                  <a:cubicBezTo>
                    <a:pt x="19540982" y="2830449"/>
                    <a:pt x="19533363" y="2837942"/>
                    <a:pt x="19524090"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9524090" y="2804160"/>
                  </a:lnTo>
                  <a:lnTo>
                    <a:pt x="19524090" y="2821051"/>
                  </a:lnTo>
                  <a:lnTo>
                    <a:pt x="19507200" y="2821051"/>
                  </a:lnTo>
                  <a:lnTo>
                    <a:pt x="19507200" y="16891"/>
                  </a:lnTo>
                  <a:lnTo>
                    <a:pt x="19524090" y="16891"/>
                  </a:lnTo>
                  <a:lnTo>
                    <a:pt x="19524090" y="33909"/>
                  </a:lnTo>
                  <a:lnTo>
                    <a:pt x="16891" y="33909"/>
                  </a:lnTo>
                  <a:close/>
                </a:path>
              </a:pathLst>
            </a:custGeom>
            <a:solidFill>
              <a:srgbClr val="FCD34D"/>
            </a:solidFill>
          </p:spPr>
          <p:txBody>
            <a:bodyPr/>
            <a:p/>
          </p:txBody>
        </p:sp>
      </p:grpSp>
      <p:grpSp>
        <p:nvGrpSpPr>
          <p:cNvPr name="Group 60" id="60"/>
          <p:cNvGrpSpPr/>
          <p:nvPr/>
        </p:nvGrpSpPr>
        <p:grpSpPr>
          <a:xfrm rot="0">
            <a:off x="2286000" y="8138160"/>
            <a:ext cx="640080" cy="640080"/>
            <a:chOff x="0" y="0"/>
            <a:chExt cx="853440" cy="853440"/>
          </a:xfrm>
        </p:grpSpPr>
        <p:sp>
          <p:nvSpPr>
            <p:cNvPr name="Freeform 61" id="61"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4"/>
              <a:stretch>
                <a:fillRect l="0" t="0" r="0" b="0"/>
              </a:stretch>
            </a:blipFill>
          </p:spPr>
          <p:txBody>
            <a:bodyPr/>
            <a:p/>
          </p:txBody>
        </p:sp>
      </p:grpSp>
      <p:grpSp>
        <p:nvGrpSpPr>
          <p:cNvPr name="Group 62" id="62"/>
          <p:cNvGrpSpPr/>
          <p:nvPr/>
        </p:nvGrpSpPr>
        <p:grpSpPr>
          <a:xfrm rot="0">
            <a:off x="3200400" y="7644384"/>
            <a:ext cx="12801600" cy="914400"/>
            <a:chOff x="0" y="0"/>
            <a:chExt cx="17068800" cy="1219200"/>
          </a:xfrm>
        </p:grpSpPr>
        <p:sp>
          <p:nvSpPr>
            <p:cNvPr name="Freeform 63" id="63"/>
            <p:cNvSpPr/>
            <p:nvPr/>
          </p:nvSpPr>
          <p:spPr>
            <a:xfrm flipH="false" flipV="false" rot="0">
              <a:off x="0" y="0"/>
              <a:ext cx="17068800" cy="1219200"/>
            </a:xfrm>
            <a:custGeom>
              <a:avLst/>
              <a:gdLst/>
              <a:ahLst/>
              <a:cxnLst/>
              <a:rect r="r" b="b" t="t" l="l"/>
              <a:pathLst>
                <a:path h="1219200" w="17068800">
                  <a:moveTo>
                    <a:pt x="0" y="0"/>
                  </a:moveTo>
                  <a:lnTo>
                    <a:pt x="17068800" y="0"/>
                  </a:lnTo>
                  <a:lnTo>
                    <a:pt x="17068800" y="1219200"/>
                  </a:lnTo>
                  <a:lnTo>
                    <a:pt x="0" y="1219200"/>
                  </a:lnTo>
                  <a:close/>
                </a:path>
              </a:pathLst>
            </a:custGeom>
            <a:blipFill>
              <a:blip r:embed="rId3">
                <a:alphaModFix amt="0"/>
              </a:blip>
              <a:stretch>
                <a:fillRect l="0" t="-222790" r="0" b="-222790"/>
              </a:stretch>
            </a:blipFill>
          </p:spPr>
          <p:txBody>
            <a:bodyPr/>
            <a:p/>
          </p:txBody>
        </p:sp>
        <p:sp>
          <p:nvSpPr>
            <p:cNvPr name="TextBox 64" id="64"/>
            <p:cNvSpPr txBox="true"/>
            <p:nvPr/>
          </p:nvSpPr>
          <p:spPr>
            <a:xfrm>
              <a:off x="0" y="-57150"/>
              <a:ext cx="17068800" cy="1276350"/>
            </a:xfrm>
            <a:prstGeom prst="rect">
              <a:avLst/>
            </a:prstGeom>
          </p:spPr>
          <p:txBody>
            <a:bodyPr anchor="ctr" rtlCol="false" tIns="0" lIns="0" bIns="0" rIns="0"/>
            <a:lstStyle/>
            <a:p>
              <a:pPr algn="l">
                <a:lnSpc>
                  <a:spcPts val="3120"/>
                </a:lnSpc>
              </a:pPr>
              <a:r>
                <a:rPr lang="en-US" sz="2600" b="true">
                  <a:solidFill>
                    <a:srgbClr val="D97706"/>
                  </a:solidFill>
                  <a:latin typeface="Calibri (MS) Bold"/>
                  <a:ea typeface="Calibri (MS) Bold"/>
                  <a:cs typeface="Calibri (MS) Bold"/>
                  <a:sym typeface="Calibri (MS) Bold"/>
                </a:rPr>
                <a:t>Les horaires viennent toujours de la base de données — jamais générés par le LLM</a:t>
              </a:r>
            </a:p>
          </p:txBody>
        </p:sp>
      </p:grpSp>
      <p:grpSp>
        <p:nvGrpSpPr>
          <p:cNvPr name="Group 65" id="65"/>
          <p:cNvGrpSpPr/>
          <p:nvPr/>
        </p:nvGrpSpPr>
        <p:grpSpPr>
          <a:xfrm rot="0">
            <a:off x="3200400" y="8449056"/>
            <a:ext cx="12801600" cy="914400"/>
            <a:chOff x="0" y="0"/>
            <a:chExt cx="17068800" cy="1219200"/>
          </a:xfrm>
        </p:grpSpPr>
        <p:sp>
          <p:nvSpPr>
            <p:cNvPr name="Freeform 66" id="66"/>
            <p:cNvSpPr/>
            <p:nvPr/>
          </p:nvSpPr>
          <p:spPr>
            <a:xfrm flipH="false" flipV="false" rot="0">
              <a:off x="0" y="0"/>
              <a:ext cx="17068800" cy="1219200"/>
            </a:xfrm>
            <a:custGeom>
              <a:avLst/>
              <a:gdLst/>
              <a:ahLst/>
              <a:cxnLst/>
              <a:rect r="r" b="b" t="t" l="l"/>
              <a:pathLst>
                <a:path h="1219200" w="17068800">
                  <a:moveTo>
                    <a:pt x="0" y="0"/>
                  </a:moveTo>
                  <a:lnTo>
                    <a:pt x="17068800" y="0"/>
                  </a:lnTo>
                  <a:lnTo>
                    <a:pt x="17068800" y="1219200"/>
                  </a:lnTo>
                  <a:lnTo>
                    <a:pt x="0" y="1219200"/>
                  </a:lnTo>
                  <a:close/>
                </a:path>
              </a:pathLst>
            </a:custGeom>
            <a:blipFill>
              <a:blip r:embed="rId3">
                <a:alphaModFix amt="0"/>
              </a:blip>
              <a:stretch>
                <a:fillRect l="0" t="-222790" r="0" b="-222790"/>
              </a:stretch>
            </a:blipFill>
          </p:spPr>
          <p:txBody>
            <a:bodyPr/>
            <a:p/>
          </p:txBody>
        </p:sp>
        <p:sp>
          <p:nvSpPr>
            <p:cNvPr name="TextBox 67" id="67"/>
            <p:cNvSpPr txBox="true"/>
            <p:nvPr/>
          </p:nvSpPr>
          <p:spPr>
            <a:xfrm>
              <a:off x="0" y="-47625"/>
              <a:ext cx="17068800" cy="126682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Le LLM se contente de reformuler les données structurées en phrase naturelle, dans la langue de l'étudiant.</a:t>
              </a:r>
            </a:p>
          </p:txBody>
        </p:sp>
      </p:grpSp>
      <p:sp>
        <p:nvSpPr>
          <p:cNvPr name="TextBox 68" id="6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2926080"/>
            <a:ext cx="16093440" cy="914400"/>
            <a:chOff x="0" y="0"/>
            <a:chExt cx="21457920" cy="1219200"/>
          </a:xfrm>
        </p:grpSpPr>
        <p:sp>
          <p:nvSpPr>
            <p:cNvPr name="Freeform 5" id="5"/>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6" id="6"/>
            <p:cNvSpPr txBox="true"/>
            <p:nvPr/>
          </p:nvSpPr>
          <p:spPr>
            <a:xfrm>
              <a:off x="0" y="-47625"/>
              <a:ext cx="21457920" cy="1266825"/>
            </a:xfrm>
            <a:prstGeom prst="rect">
              <a:avLst/>
            </a:prstGeom>
          </p:spPr>
          <p:txBody>
            <a:bodyPr anchor="ctr" rtlCol="false" tIns="0" lIns="0" bIns="0" rIns="0"/>
            <a:lstStyle/>
            <a:p>
              <a:pPr algn="l">
                <a:lnSpc>
                  <a:spcPts val="3359"/>
                </a:lnSpc>
              </a:pPr>
              <a:r>
                <a:rPr lang="en-US" sz="2799" b="true">
                  <a:solidFill>
                    <a:srgbClr val="06B6D4"/>
                  </a:solidFill>
                  <a:latin typeface="Calibri (MS) Bold"/>
                  <a:ea typeface="Calibri (MS) Bold"/>
                  <a:cs typeface="Calibri (MS) Bold"/>
                  <a:sym typeface="Calibri (MS) Bold"/>
                </a:rPr>
                <a:t>04</a:t>
              </a:r>
            </a:p>
          </p:txBody>
        </p:sp>
      </p:grpSp>
      <p:grpSp>
        <p:nvGrpSpPr>
          <p:cNvPr name="Group 7" id="7"/>
          <p:cNvGrpSpPr/>
          <p:nvPr/>
        </p:nvGrpSpPr>
        <p:grpSpPr>
          <a:xfrm rot="0">
            <a:off x="1097280" y="3749040"/>
            <a:ext cx="16093440" cy="2011680"/>
            <a:chOff x="0" y="0"/>
            <a:chExt cx="21457920" cy="2682240"/>
          </a:xfrm>
        </p:grpSpPr>
        <p:sp>
          <p:nvSpPr>
            <p:cNvPr name="Freeform 8" id="8"/>
            <p:cNvSpPr/>
            <p:nvPr/>
          </p:nvSpPr>
          <p:spPr>
            <a:xfrm flipH="false" flipV="false" rot="0">
              <a:off x="0" y="0"/>
              <a:ext cx="21457920" cy="2682240"/>
            </a:xfrm>
            <a:custGeom>
              <a:avLst/>
              <a:gdLst/>
              <a:ahLst/>
              <a:cxnLst/>
              <a:rect r="r" b="b" t="t" l="l"/>
              <a:pathLst>
                <a:path h="2682240" w="21457920">
                  <a:moveTo>
                    <a:pt x="0" y="0"/>
                  </a:moveTo>
                  <a:lnTo>
                    <a:pt x="21457920" y="0"/>
                  </a:lnTo>
                  <a:lnTo>
                    <a:pt x="21457920" y="2682240"/>
                  </a:lnTo>
                  <a:lnTo>
                    <a:pt x="0" y="2682240"/>
                  </a:lnTo>
                  <a:close/>
                </a:path>
              </a:pathLst>
            </a:custGeom>
            <a:blipFill>
              <a:blip r:embed="rId3">
                <a:alphaModFix amt="0"/>
              </a:blip>
              <a:stretch>
                <a:fillRect l="0" t="-105880" r="0" b="-105880"/>
              </a:stretch>
            </a:blipFill>
          </p:spPr>
          <p:txBody>
            <a:bodyPr/>
            <a:p/>
          </p:txBody>
        </p:sp>
        <p:sp>
          <p:nvSpPr>
            <p:cNvPr name="TextBox 9" id="9"/>
            <p:cNvSpPr txBox="true"/>
            <p:nvPr/>
          </p:nvSpPr>
          <p:spPr>
            <a:xfrm>
              <a:off x="0" y="-161925"/>
              <a:ext cx="21457920" cy="284416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Cybersécurité &amp; RGPD</a:t>
              </a:r>
            </a:p>
          </p:txBody>
        </p:sp>
      </p:grpSp>
      <p:grpSp>
        <p:nvGrpSpPr>
          <p:cNvPr name="Group 10" id="10"/>
          <p:cNvGrpSpPr/>
          <p:nvPr/>
        </p:nvGrpSpPr>
        <p:grpSpPr>
          <a:xfrm rot="0">
            <a:off x="1097280" y="5943600"/>
            <a:ext cx="16093440" cy="914400"/>
            <a:chOff x="0" y="0"/>
            <a:chExt cx="21457920" cy="1219200"/>
          </a:xfrm>
        </p:grpSpPr>
        <p:sp>
          <p:nvSpPr>
            <p:cNvPr name="Freeform 11" id="11"/>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12" id="12"/>
            <p:cNvSpPr txBox="true"/>
            <p:nvPr/>
          </p:nvSpPr>
          <p:spPr>
            <a:xfrm>
              <a:off x="0" y="-66675"/>
              <a:ext cx="21457920" cy="1285875"/>
            </a:xfrm>
            <a:prstGeom prst="rect">
              <a:avLst/>
            </a:prstGeom>
          </p:spPr>
          <p:txBody>
            <a:bodyPr anchor="ctr" rtlCol="false" tIns="0" lIns="0" bIns="0" rIns="0"/>
            <a:lstStyle/>
            <a:p>
              <a:pPr algn="l">
                <a:lnSpc>
                  <a:spcPts val="4320"/>
                </a:lnSpc>
              </a:pPr>
              <a:r>
                <a:rPr lang="en-US" sz="3600">
                  <a:solidFill>
                    <a:srgbClr val="CFFAFE"/>
                  </a:solidFill>
                  <a:latin typeface="Calibri (MS)"/>
                  <a:ea typeface="Calibri (MS)"/>
                  <a:cs typeface="Calibri (MS)"/>
                  <a:sym typeface="Calibri (MS)"/>
                </a:rPr>
                <a:t>Protection à plusieurs niveaux</a:t>
              </a:r>
            </a:p>
          </p:txBody>
        </p:sp>
      </p:gr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Authentification &amp; sessions</a:t>
              </a:r>
            </a:p>
          </p:txBody>
        </p:sp>
      </p:grpSp>
      <p:grpSp>
        <p:nvGrpSpPr>
          <p:cNvPr name="Group 7" id="7"/>
          <p:cNvGrpSpPr/>
          <p:nvPr/>
        </p:nvGrpSpPr>
        <p:grpSpPr>
          <a:xfrm rot="0">
            <a:off x="901703" y="2364743"/>
            <a:ext cx="8163563" cy="3225803"/>
            <a:chOff x="0" y="0"/>
            <a:chExt cx="10884751" cy="4301071"/>
          </a:xfrm>
        </p:grpSpPr>
        <p:sp>
          <p:nvSpPr>
            <p:cNvPr name="Freeform 8" id="8"/>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9" id="9"/>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10" id="10"/>
          <p:cNvGrpSpPr/>
          <p:nvPr/>
        </p:nvGrpSpPr>
        <p:grpSpPr>
          <a:xfrm rot="0">
            <a:off x="1463040" y="3108960"/>
            <a:ext cx="1280160" cy="1280160"/>
            <a:chOff x="0" y="0"/>
            <a:chExt cx="1706880" cy="1706880"/>
          </a:xfrm>
        </p:grpSpPr>
        <p:sp>
          <p:nvSpPr>
            <p:cNvPr name="Freeform 11" id="11"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3200400" y="2962656"/>
            <a:ext cx="5577840" cy="731520"/>
            <a:chOff x="0" y="0"/>
            <a:chExt cx="7437120" cy="975360"/>
          </a:xfrm>
        </p:grpSpPr>
        <p:sp>
          <p:nvSpPr>
            <p:cNvPr name="Freeform 13" id="13"/>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14" id="14"/>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Email institutionnel</a:t>
              </a:r>
            </a:p>
          </p:txBody>
        </p:sp>
      </p:grpSp>
      <p:grpSp>
        <p:nvGrpSpPr>
          <p:cNvPr name="Group 15" id="15"/>
          <p:cNvGrpSpPr/>
          <p:nvPr/>
        </p:nvGrpSpPr>
        <p:grpSpPr>
          <a:xfrm rot="0">
            <a:off x="3200400" y="3803904"/>
            <a:ext cx="5577840" cy="1554480"/>
            <a:chOff x="0" y="0"/>
            <a:chExt cx="7437120" cy="2072640"/>
          </a:xfrm>
        </p:grpSpPr>
        <p:sp>
          <p:nvSpPr>
            <p:cNvPr name="Freeform 16" id="16"/>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17" id="17"/>
            <p:cNvSpPr txBox="true"/>
            <p:nvPr/>
          </p:nvSpPr>
          <p:spPr>
            <a:xfrm>
              <a:off x="0" y="-38100"/>
              <a:ext cx="7437120" cy="21107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@usms.ac.ma  ·  @usms.ma uniquement</a:t>
              </a:r>
            </a:p>
          </p:txBody>
        </p:sp>
      </p:grpSp>
      <p:grpSp>
        <p:nvGrpSpPr>
          <p:cNvPr name="Group 18" id="18"/>
          <p:cNvGrpSpPr/>
          <p:nvPr/>
        </p:nvGrpSpPr>
        <p:grpSpPr>
          <a:xfrm rot="0">
            <a:off x="9222743" y="2364743"/>
            <a:ext cx="8163563" cy="3225803"/>
            <a:chOff x="0" y="0"/>
            <a:chExt cx="10884751" cy="4301071"/>
          </a:xfrm>
        </p:grpSpPr>
        <p:sp>
          <p:nvSpPr>
            <p:cNvPr name="Freeform 19" id="19"/>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20" id="20"/>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21" id="21"/>
          <p:cNvGrpSpPr/>
          <p:nvPr/>
        </p:nvGrpSpPr>
        <p:grpSpPr>
          <a:xfrm rot="0">
            <a:off x="9784080" y="3108960"/>
            <a:ext cx="1280160" cy="1280160"/>
            <a:chOff x="0" y="0"/>
            <a:chExt cx="1706880" cy="1706880"/>
          </a:xfrm>
        </p:grpSpPr>
        <p:sp>
          <p:nvSpPr>
            <p:cNvPr name="Freeform 22" id="22"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11521440" y="2962656"/>
            <a:ext cx="5577840" cy="731520"/>
            <a:chOff x="0" y="0"/>
            <a:chExt cx="7437120" cy="975360"/>
          </a:xfrm>
        </p:grpSpPr>
        <p:sp>
          <p:nvSpPr>
            <p:cNvPr name="Freeform 24" id="24"/>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25" id="25"/>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Mots de passe bcrypt</a:t>
              </a:r>
            </a:p>
          </p:txBody>
        </p:sp>
      </p:grpSp>
      <p:grpSp>
        <p:nvGrpSpPr>
          <p:cNvPr name="Group 26" id="26"/>
          <p:cNvGrpSpPr/>
          <p:nvPr/>
        </p:nvGrpSpPr>
        <p:grpSpPr>
          <a:xfrm rot="0">
            <a:off x="11521440" y="3803904"/>
            <a:ext cx="5577840" cy="1554480"/>
            <a:chOff x="0" y="0"/>
            <a:chExt cx="7437120" cy="2072640"/>
          </a:xfrm>
        </p:grpSpPr>
        <p:sp>
          <p:nvSpPr>
            <p:cNvPr name="Freeform 27" id="27"/>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28" id="28"/>
            <p:cNvSpPr txBox="true"/>
            <p:nvPr/>
          </p:nvSpPr>
          <p:spPr>
            <a:xfrm>
              <a:off x="0" y="-38100"/>
              <a:ext cx="7437120" cy="2110740"/>
            </a:xfrm>
            <a:prstGeom prst="rect">
              <a:avLst/>
            </a:prstGeom>
          </p:spPr>
          <p:txBody>
            <a:bodyPr anchor="ctr" rtlCol="false" tIns="0" lIns="0" bIns="0" rIns="0"/>
            <a:lstStyle/>
            <a:p>
              <a:r>
                <a:t>Facteur de coût 12  ·  migration auto SHA-256</a:t>
              </a:r>
            </a:p>
          </p:txBody>
        </p:sp>
      </p:grpSp>
      <p:grpSp>
        <p:nvGrpSpPr>
          <p:cNvPr name="Group 29" id="29"/>
          <p:cNvGrpSpPr/>
          <p:nvPr/>
        </p:nvGrpSpPr>
        <p:grpSpPr>
          <a:xfrm rot="0">
            <a:off x="901703" y="5930903"/>
            <a:ext cx="8163563" cy="3225803"/>
            <a:chOff x="0" y="0"/>
            <a:chExt cx="10884751" cy="4301071"/>
          </a:xfrm>
        </p:grpSpPr>
        <p:sp>
          <p:nvSpPr>
            <p:cNvPr name="Freeform 30" id="30"/>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31" id="31"/>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32" id="32"/>
          <p:cNvGrpSpPr/>
          <p:nvPr/>
        </p:nvGrpSpPr>
        <p:grpSpPr>
          <a:xfrm rot="0">
            <a:off x="1463040" y="6675120"/>
            <a:ext cx="1280160" cy="1280160"/>
            <a:chOff x="0" y="0"/>
            <a:chExt cx="1706880" cy="1706880"/>
          </a:xfrm>
        </p:grpSpPr>
        <p:sp>
          <p:nvSpPr>
            <p:cNvPr name="Freeform 33" id="33"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3200400" y="6528816"/>
            <a:ext cx="5577840" cy="731520"/>
            <a:chOff x="0" y="0"/>
            <a:chExt cx="7437120" cy="975360"/>
          </a:xfrm>
        </p:grpSpPr>
        <p:sp>
          <p:nvSpPr>
            <p:cNvPr name="Freeform 35" id="35"/>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36" id="36"/>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JWT à 2 niveaux</a:t>
              </a:r>
            </a:p>
          </p:txBody>
        </p:sp>
      </p:grpSp>
      <p:grpSp>
        <p:nvGrpSpPr>
          <p:cNvPr name="Group 37" id="37"/>
          <p:cNvGrpSpPr/>
          <p:nvPr/>
        </p:nvGrpSpPr>
        <p:grpSpPr>
          <a:xfrm rot="0">
            <a:off x="3200400" y="7370064"/>
            <a:ext cx="5577840" cy="1554480"/>
            <a:chOff x="0" y="0"/>
            <a:chExt cx="7437120" cy="2072640"/>
          </a:xfrm>
        </p:grpSpPr>
        <p:sp>
          <p:nvSpPr>
            <p:cNvPr name="Freeform 38" id="38"/>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39" id="39"/>
            <p:cNvSpPr txBox="true"/>
            <p:nvPr/>
          </p:nvSpPr>
          <p:spPr>
            <a:xfrm>
              <a:off x="0" y="-38100"/>
              <a:ext cx="7437120" cy="21107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Access 15 min  ·  Refresh 7 j (cookie HttpOnly)</a:t>
              </a:r>
            </a:p>
          </p:txBody>
        </p:sp>
      </p:grpSp>
      <p:grpSp>
        <p:nvGrpSpPr>
          <p:cNvPr name="Group 40" id="40"/>
          <p:cNvGrpSpPr/>
          <p:nvPr/>
        </p:nvGrpSpPr>
        <p:grpSpPr>
          <a:xfrm rot="0">
            <a:off x="9222743" y="5930903"/>
            <a:ext cx="8163563" cy="3225803"/>
            <a:chOff x="0" y="0"/>
            <a:chExt cx="10884751" cy="4301071"/>
          </a:xfrm>
        </p:grpSpPr>
        <p:sp>
          <p:nvSpPr>
            <p:cNvPr name="Freeform 41" id="41"/>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42" id="42"/>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43" id="43"/>
          <p:cNvGrpSpPr/>
          <p:nvPr/>
        </p:nvGrpSpPr>
        <p:grpSpPr>
          <a:xfrm rot="0">
            <a:off x="9784080" y="6675120"/>
            <a:ext cx="1280160" cy="1280160"/>
            <a:chOff x="0" y="0"/>
            <a:chExt cx="1706880" cy="1706880"/>
          </a:xfrm>
        </p:grpSpPr>
        <p:sp>
          <p:nvSpPr>
            <p:cNvPr name="Freeform 44" id="44"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7"/>
              <a:stretch>
                <a:fillRect l="0" t="0" r="0" b="0"/>
              </a:stretch>
            </a:blipFill>
          </p:spPr>
          <p:txBody>
            <a:bodyPr/>
            <a:p/>
          </p:txBody>
        </p:sp>
      </p:grpSp>
      <p:grpSp>
        <p:nvGrpSpPr>
          <p:cNvPr name="Group 45" id="45"/>
          <p:cNvGrpSpPr/>
          <p:nvPr/>
        </p:nvGrpSpPr>
        <p:grpSpPr>
          <a:xfrm rot="0">
            <a:off x="11521440" y="6528816"/>
            <a:ext cx="5577840" cy="731520"/>
            <a:chOff x="0" y="0"/>
            <a:chExt cx="7437120" cy="975360"/>
          </a:xfrm>
        </p:grpSpPr>
        <p:sp>
          <p:nvSpPr>
            <p:cNvPr name="Freeform 46" id="46"/>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47" id="47"/>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Verrouillage anti-brute</a:t>
              </a:r>
            </a:p>
          </p:txBody>
        </p:sp>
      </p:grpSp>
      <p:grpSp>
        <p:nvGrpSpPr>
          <p:cNvPr name="Group 48" id="48"/>
          <p:cNvGrpSpPr/>
          <p:nvPr/>
        </p:nvGrpSpPr>
        <p:grpSpPr>
          <a:xfrm rot="0">
            <a:off x="11521440" y="7370064"/>
            <a:ext cx="5577840" cy="1554480"/>
            <a:chOff x="0" y="0"/>
            <a:chExt cx="7437120" cy="2072640"/>
          </a:xfrm>
        </p:grpSpPr>
        <p:sp>
          <p:nvSpPr>
            <p:cNvPr name="Freeform 49" id="49"/>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50" id="50"/>
            <p:cNvSpPr txBox="true"/>
            <p:nvPr/>
          </p:nvSpPr>
          <p:spPr>
            <a:xfrm>
              <a:off x="0" y="-38100"/>
              <a:ext cx="7437120" cy="21107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5 échecs → blocage 30 min</a:t>
              </a:r>
            </a:p>
          </p:txBody>
        </p:sp>
      </p:grpSp>
      <p:sp>
        <p:nvSpPr>
          <p:cNvPr name="TextBox 51" id="5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Protection contre les menaces</a:t>
              </a:r>
            </a:p>
          </p:txBody>
        </p:sp>
      </p:grpSp>
      <p:grpSp>
        <p:nvGrpSpPr>
          <p:cNvPr name="Group 7" id="7"/>
          <p:cNvGrpSpPr/>
          <p:nvPr/>
        </p:nvGrpSpPr>
        <p:grpSpPr>
          <a:xfrm rot="0">
            <a:off x="901703" y="2364743"/>
            <a:ext cx="8163563" cy="3225803"/>
            <a:chOff x="0" y="0"/>
            <a:chExt cx="10884751" cy="4301071"/>
          </a:xfrm>
        </p:grpSpPr>
        <p:sp>
          <p:nvSpPr>
            <p:cNvPr name="Freeform 8" id="8"/>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9" id="9"/>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10" id="10"/>
          <p:cNvGrpSpPr/>
          <p:nvPr/>
        </p:nvGrpSpPr>
        <p:grpSpPr>
          <a:xfrm rot="0">
            <a:off x="1463040" y="3108960"/>
            <a:ext cx="1280160" cy="1280160"/>
            <a:chOff x="0" y="0"/>
            <a:chExt cx="1706880" cy="1706880"/>
          </a:xfrm>
        </p:grpSpPr>
        <p:sp>
          <p:nvSpPr>
            <p:cNvPr name="Freeform 11" id="11"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3200400" y="2962656"/>
            <a:ext cx="5577840" cy="731520"/>
            <a:chOff x="0" y="0"/>
            <a:chExt cx="7437120" cy="975360"/>
          </a:xfrm>
        </p:grpSpPr>
        <p:sp>
          <p:nvSpPr>
            <p:cNvPr name="Freeform 13" id="13"/>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14" id="14"/>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Injection prompt LLM</a:t>
              </a:r>
            </a:p>
          </p:txBody>
        </p:sp>
      </p:grpSp>
      <p:grpSp>
        <p:nvGrpSpPr>
          <p:cNvPr name="Group 15" id="15"/>
          <p:cNvGrpSpPr/>
          <p:nvPr/>
        </p:nvGrpSpPr>
        <p:grpSpPr>
          <a:xfrm rot="0">
            <a:off x="3200400" y="3803904"/>
            <a:ext cx="5577840" cy="1554480"/>
            <a:chOff x="0" y="0"/>
            <a:chExt cx="7437120" cy="2072640"/>
          </a:xfrm>
        </p:grpSpPr>
        <p:sp>
          <p:nvSpPr>
            <p:cNvPr name="Freeform 16" id="16"/>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17" id="17"/>
            <p:cNvSpPr txBox="true"/>
            <p:nvPr/>
          </p:nvSpPr>
          <p:spPr>
            <a:xfrm>
              <a:off x="0" y="-38100"/>
              <a:ext cx="7437120" cy="21107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Détection de motifs · isolation rôle système</a:t>
              </a:r>
            </a:p>
          </p:txBody>
        </p:sp>
      </p:grpSp>
      <p:grpSp>
        <p:nvGrpSpPr>
          <p:cNvPr name="Group 18" id="18"/>
          <p:cNvGrpSpPr/>
          <p:nvPr/>
        </p:nvGrpSpPr>
        <p:grpSpPr>
          <a:xfrm rot="0">
            <a:off x="9222743" y="2364743"/>
            <a:ext cx="8163563" cy="3225803"/>
            <a:chOff x="0" y="0"/>
            <a:chExt cx="10884751" cy="4301071"/>
          </a:xfrm>
        </p:grpSpPr>
        <p:sp>
          <p:nvSpPr>
            <p:cNvPr name="Freeform 19" id="19"/>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20" id="20"/>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21" id="21"/>
          <p:cNvGrpSpPr/>
          <p:nvPr/>
        </p:nvGrpSpPr>
        <p:grpSpPr>
          <a:xfrm rot="0">
            <a:off x="9784080" y="3108960"/>
            <a:ext cx="1280160" cy="1280160"/>
            <a:chOff x="0" y="0"/>
            <a:chExt cx="1706880" cy="1706880"/>
          </a:xfrm>
        </p:grpSpPr>
        <p:sp>
          <p:nvSpPr>
            <p:cNvPr name="Freeform 22" id="22"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11521440" y="2962656"/>
            <a:ext cx="5577840" cy="731520"/>
            <a:chOff x="0" y="0"/>
            <a:chExt cx="7437120" cy="975360"/>
          </a:xfrm>
        </p:grpSpPr>
        <p:sp>
          <p:nvSpPr>
            <p:cNvPr name="Freeform 24" id="24"/>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25" id="25"/>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Accès non autorisé</a:t>
              </a:r>
            </a:p>
          </p:txBody>
        </p:sp>
      </p:grpSp>
      <p:grpSp>
        <p:nvGrpSpPr>
          <p:cNvPr name="Group 26" id="26"/>
          <p:cNvGrpSpPr/>
          <p:nvPr/>
        </p:nvGrpSpPr>
        <p:grpSpPr>
          <a:xfrm rot="0">
            <a:off x="11521440" y="3803904"/>
            <a:ext cx="5577840" cy="1554480"/>
            <a:chOff x="0" y="0"/>
            <a:chExt cx="7437120" cy="2072640"/>
          </a:xfrm>
        </p:grpSpPr>
        <p:sp>
          <p:nvSpPr>
            <p:cNvPr name="Freeform 27" id="27"/>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28" id="28"/>
            <p:cNvSpPr txBox="true"/>
            <p:nvPr/>
          </p:nvSpPr>
          <p:spPr>
            <a:xfrm>
              <a:off x="0" y="-38100"/>
              <a:ext cx="7437120" cy="21107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RBAC strict · vérif propriété des ressources</a:t>
              </a:r>
            </a:p>
          </p:txBody>
        </p:sp>
      </p:grpSp>
      <p:grpSp>
        <p:nvGrpSpPr>
          <p:cNvPr name="Group 29" id="29"/>
          <p:cNvGrpSpPr/>
          <p:nvPr/>
        </p:nvGrpSpPr>
        <p:grpSpPr>
          <a:xfrm rot="0">
            <a:off x="901703" y="5930903"/>
            <a:ext cx="8163563" cy="3225803"/>
            <a:chOff x="0" y="0"/>
            <a:chExt cx="10884751" cy="4301071"/>
          </a:xfrm>
        </p:grpSpPr>
        <p:sp>
          <p:nvSpPr>
            <p:cNvPr name="Freeform 30" id="30"/>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31" id="31"/>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32" id="32"/>
          <p:cNvGrpSpPr/>
          <p:nvPr/>
        </p:nvGrpSpPr>
        <p:grpSpPr>
          <a:xfrm rot="0">
            <a:off x="1463040" y="6675120"/>
            <a:ext cx="1280160" cy="1280160"/>
            <a:chOff x="0" y="0"/>
            <a:chExt cx="1706880" cy="1706880"/>
          </a:xfrm>
        </p:grpSpPr>
        <p:sp>
          <p:nvSpPr>
            <p:cNvPr name="Freeform 33" id="33"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3200400" y="6528816"/>
            <a:ext cx="5577840" cy="731520"/>
            <a:chOff x="0" y="0"/>
            <a:chExt cx="7437120" cy="975360"/>
          </a:xfrm>
        </p:grpSpPr>
        <p:sp>
          <p:nvSpPr>
            <p:cNvPr name="Freeform 35" id="35"/>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36" id="36"/>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CSRF &amp; XSS</a:t>
              </a:r>
            </a:p>
          </p:txBody>
        </p:sp>
      </p:grpSp>
      <p:grpSp>
        <p:nvGrpSpPr>
          <p:cNvPr name="Group 37" id="37"/>
          <p:cNvGrpSpPr/>
          <p:nvPr/>
        </p:nvGrpSpPr>
        <p:grpSpPr>
          <a:xfrm rot="0">
            <a:off x="3200400" y="7370064"/>
            <a:ext cx="5577840" cy="1554480"/>
            <a:chOff x="0" y="0"/>
            <a:chExt cx="7437120" cy="2072640"/>
          </a:xfrm>
        </p:grpSpPr>
        <p:sp>
          <p:nvSpPr>
            <p:cNvPr name="Freeform 38" id="38"/>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39" id="39"/>
            <p:cNvSpPr txBox="true"/>
            <p:nvPr/>
          </p:nvSpPr>
          <p:spPr>
            <a:xfrm>
              <a:off x="0" y="-38100"/>
              <a:ext cx="7437120" cy="21107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Cookies SameSite=Strict · validation Pydantic</a:t>
              </a:r>
            </a:p>
          </p:txBody>
        </p:sp>
      </p:grpSp>
      <p:grpSp>
        <p:nvGrpSpPr>
          <p:cNvPr name="Group 40" id="40"/>
          <p:cNvGrpSpPr/>
          <p:nvPr/>
        </p:nvGrpSpPr>
        <p:grpSpPr>
          <a:xfrm rot="0">
            <a:off x="9222743" y="5930903"/>
            <a:ext cx="8163563" cy="3225803"/>
            <a:chOff x="0" y="0"/>
            <a:chExt cx="10884751" cy="4301071"/>
          </a:xfrm>
        </p:grpSpPr>
        <p:sp>
          <p:nvSpPr>
            <p:cNvPr name="Freeform 41" id="41"/>
            <p:cNvSpPr/>
            <p:nvPr/>
          </p:nvSpPr>
          <p:spPr>
            <a:xfrm flipH="false" flipV="false" rot="0">
              <a:off x="16891" y="16891"/>
              <a:ext cx="10850881" cy="4267200"/>
            </a:xfrm>
            <a:custGeom>
              <a:avLst/>
              <a:gdLst/>
              <a:ahLst/>
              <a:cxnLst/>
              <a:rect r="r" b="b" t="t" l="l"/>
              <a:pathLst>
                <a:path h="4267200" w="10850881">
                  <a:moveTo>
                    <a:pt x="0" y="0"/>
                  </a:moveTo>
                  <a:lnTo>
                    <a:pt x="10850881" y="0"/>
                  </a:lnTo>
                  <a:lnTo>
                    <a:pt x="10850881" y="4267200"/>
                  </a:lnTo>
                  <a:lnTo>
                    <a:pt x="0" y="4267200"/>
                  </a:lnTo>
                  <a:close/>
                </a:path>
              </a:pathLst>
            </a:custGeom>
            <a:solidFill>
              <a:srgbClr val="FFFFFF"/>
            </a:solidFill>
          </p:spPr>
          <p:txBody>
            <a:bodyPr/>
            <a:p/>
          </p:txBody>
        </p:sp>
        <p:sp>
          <p:nvSpPr>
            <p:cNvPr name="Freeform 42" id="42"/>
            <p:cNvSpPr/>
            <p:nvPr/>
          </p:nvSpPr>
          <p:spPr>
            <a:xfrm flipH="false" flipV="false" rot="0">
              <a:off x="0" y="0"/>
              <a:ext cx="10884662" cy="4300982"/>
            </a:xfrm>
            <a:custGeom>
              <a:avLst/>
              <a:gdLst/>
              <a:ahLst/>
              <a:cxnLst/>
              <a:rect r="r" b="b" t="t" l="l"/>
              <a:pathLst>
                <a:path h="4300982" w="10884662">
                  <a:moveTo>
                    <a:pt x="16891" y="0"/>
                  </a:moveTo>
                  <a:lnTo>
                    <a:pt x="10867772" y="0"/>
                  </a:lnTo>
                  <a:cubicBezTo>
                    <a:pt x="10877169" y="0"/>
                    <a:pt x="10884662" y="7620"/>
                    <a:pt x="10884662" y="16891"/>
                  </a:cubicBezTo>
                  <a:lnTo>
                    <a:pt x="10884662" y="4284091"/>
                  </a:lnTo>
                  <a:cubicBezTo>
                    <a:pt x="10884662" y="4293489"/>
                    <a:pt x="10877042" y="4300982"/>
                    <a:pt x="10867772"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10867772" y="4267200"/>
                  </a:lnTo>
                  <a:lnTo>
                    <a:pt x="10867772" y="4284091"/>
                  </a:lnTo>
                  <a:lnTo>
                    <a:pt x="10850880" y="428409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43" id="43"/>
          <p:cNvGrpSpPr/>
          <p:nvPr/>
        </p:nvGrpSpPr>
        <p:grpSpPr>
          <a:xfrm rot="0">
            <a:off x="9784080" y="6675120"/>
            <a:ext cx="1280160" cy="1280160"/>
            <a:chOff x="0" y="0"/>
            <a:chExt cx="1706880" cy="1706880"/>
          </a:xfrm>
        </p:grpSpPr>
        <p:sp>
          <p:nvSpPr>
            <p:cNvPr name="Freeform 44" id="44" descr="preencoded.png"/>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7"/>
              <a:stretch>
                <a:fillRect l="0" t="0" r="0" b="0"/>
              </a:stretch>
            </a:blipFill>
          </p:spPr>
          <p:txBody>
            <a:bodyPr/>
            <a:p/>
          </p:txBody>
        </p:sp>
      </p:grpSp>
      <p:grpSp>
        <p:nvGrpSpPr>
          <p:cNvPr name="Group 45" id="45"/>
          <p:cNvGrpSpPr/>
          <p:nvPr/>
        </p:nvGrpSpPr>
        <p:grpSpPr>
          <a:xfrm rot="0">
            <a:off x="11521440" y="6528816"/>
            <a:ext cx="5577840" cy="731520"/>
            <a:chOff x="0" y="0"/>
            <a:chExt cx="7437120" cy="975360"/>
          </a:xfrm>
        </p:grpSpPr>
        <p:sp>
          <p:nvSpPr>
            <p:cNvPr name="Freeform 46" id="46"/>
            <p:cNvSpPr/>
            <p:nvPr/>
          </p:nvSpPr>
          <p:spPr>
            <a:xfrm flipH="false" flipV="false" rot="0">
              <a:off x="0" y="0"/>
              <a:ext cx="7437120" cy="975360"/>
            </a:xfrm>
            <a:custGeom>
              <a:avLst/>
              <a:gdLst/>
              <a:ahLst/>
              <a:cxnLst/>
              <a:rect r="r" b="b" t="t" l="l"/>
              <a:pathLst>
                <a:path h="975360" w="7437120">
                  <a:moveTo>
                    <a:pt x="0" y="0"/>
                  </a:moveTo>
                  <a:lnTo>
                    <a:pt x="7437120" y="0"/>
                  </a:lnTo>
                  <a:lnTo>
                    <a:pt x="7437120" y="975360"/>
                  </a:lnTo>
                  <a:lnTo>
                    <a:pt x="0" y="975360"/>
                  </a:lnTo>
                  <a:close/>
                </a:path>
              </a:pathLst>
            </a:custGeom>
            <a:blipFill>
              <a:blip r:embed="rId3">
                <a:alphaModFix amt="0"/>
              </a:blip>
              <a:stretch>
                <a:fillRect l="0" t="-98573" r="0" b="-98573"/>
              </a:stretch>
            </a:blipFill>
          </p:spPr>
          <p:txBody>
            <a:bodyPr/>
            <a:p/>
          </p:txBody>
        </p:sp>
        <p:sp>
          <p:nvSpPr>
            <p:cNvPr name="TextBox 47" id="47"/>
            <p:cNvSpPr txBox="true"/>
            <p:nvPr/>
          </p:nvSpPr>
          <p:spPr>
            <a:xfrm>
              <a:off x="0" y="-66675"/>
              <a:ext cx="7437120" cy="1042035"/>
            </a:xfrm>
            <a:prstGeom prst="rect">
              <a:avLst/>
            </a:prstGeom>
          </p:spPr>
          <p:txBody>
            <a:bodyPr anchor="ctr" rtlCol="false" tIns="0" lIns="0" bIns="0" rIns="0"/>
            <a:lstStyle/>
            <a:p>
              <a:pPr algn="l">
                <a:lnSpc>
                  <a:spcPts val="3600"/>
                </a:lnSpc>
              </a:pPr>
              <a:r>
                <a:rPr lang="en-US" sz="3000" b="true">
                  <a:solidFill>
                    <a:srgbClr val="1E3A5F"/>
                  </a:solidFill>
                  <a:latin typeface="Calibri (MS) Bold"/>
                  <a:ea typeface="Calibri (MS) Bold"/>
                  <a:cs typeface="Calibri (MS) Bold"/>
                  <a:sym typeface="Calibri (MS) Bold"/>
                </a:rPr>
                <a:t>Abus d'API</a:t>
              </a:r>
            </a:p>
          </p:txBody>
        </p:sp>
      </p:grpSp>
      <p:grpSp>
        <p:nvGrpSpPr>
          <p:cNvPr name="Group 48" id="48"/>
          <p:cNvGrpSpPr/>
          <p:nvPr/>
        </p:nvGrpSpPr>
        <p:grpSpPr>
          <a:xfrm rot="0">
            <a:off x="11521440" y="7370064"/>
            <a:ext cx="5577840" cy="1554480"/>
            <a:chOff x="0" y="0"/>
            <a:chExt cx="7437120" cy="2072640"/>
          </a:xfrm>
        </p:grpSpPr>
        <p:sp>
          <p:nvSpPr>
            <p:cNvPr name="Freeform 49" id="49"/>
            <p:cNvSpPr/>
            <p:nvPr/>
          </p:nvSpPr>
          <p:spPr>
            <a:xfrm flipH="false" flipV="false" rot="0">
              <a:off x="0" y="0"/>
              <a:ext cx="7437120" cy="2072640"/>
            </a:xfrm>
            <a:custGeom>
              <a:avLst/>
              <a:gdLst/>
              <a:ahLst/>
              <a:cxnLst/>
              <a:rect r="r" b="b" t="t" l="l"/>
              <a:pathLst>
                <a:path h="2072640" w="7437120">
                  <a:moveTo>
                    <a:pt x="0" y="0"/>
                  </a:moveTo>
                  <a:lnTo>
                    <a:pt x="7437120" y="0"/>
                  </a:lnTo>
                  <a:lnTo>
                    <a:pt x="7437120" y="2072640"/>
                  </a:lnTo>
                  <a:lnTo>
                    <a:pt x="0" y="2072640"/>
                  </a:lnTo>
                  <a:close/>
                </a:path>
              </a:pathLst>
            </a:custGeom>
            <a:blipFill>
              <a:blip r:embed="rId3">
                <a:alphaModFix amt="0"/>
              </a:blip>
              <a:stretch>
                <a:fillRect l="0" t="-19916" r="0" b="-19916"/>
              </a:stretch>
            </a:blipFill>
          </p:spPr>
          <p:txBody>
            <a:bodyPr/>
            <a:p/>
          </p:txBody>
        </p:sp>
        <p:sp>
          <p:nvSpPr>
            <p:cNvPr name="TextBox 50" id="50"/>
            <p:cNvSpPr txBox="true"/>
            <p:nvPr/>
          </p:nvSpPr>
          <p:spPr>
            <a:xfrm>
              <a:off x="0" y="-38100"/>
              <a:ext cx="7437120" cy="21107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SlowAPI · 10 req/min sur les routes chat</a:t>
              </a:r>
            </a:p>
          </p:txBody>
        </p:sp>
      </p:grpSp>
      <p:sp>
        <p:nvSpPr>
          <p:cNvPr name="TextBox 51" id="5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r>
                <a:t>Protection des données</a:t>
              </a:r>
            </a:p>
          </p:txBody>
        </p:sp>
      </p:grpSp>
      <p:grpSp>
        <p:nvGrpSpPr>
          <p:cNvPr name="Group 7" id="7"/>
          <p:cNvGrpSpPr/>
          <p:nvPr/>
        </p:nvGrpSpPr>
        <p:grpSpPr>
          <a:xfrm rot="0">
            <a:off x="901703" y="2273303"/>
            <a:ext cx="8163563" cy="2128523"/>
            <a:chOff x="0" y="0"/>
            <a:chExt cx="10884751" cy="2838031"/>
          </a:xfrm>
        </p:grpSpPr>
        <p:sp>
          <p:nvSpPr>
            <p:cNvPr name="Freeform 8" id="8"/>
            <p:cNvSpPr/>
            <p:nvPr/>
          </p:nvSpPr>
          <p:spPr>
            <a:xfrm flipH="false" flipV="false" rot="0">
              <a:off x="16891" y="16891"/>
              <a:ext cx="10850881" cy="2804160"/>
            </a:xfrm>
            <a:custGeom>
              <a:avLst/>
              <a:gdLst/>
              <a:ahLst/>
              <a:cxnLst/>
              <a:rect r="r" b="b" t="t" l="l"/>
              <a:pathLst>
                <a:path h="2804160" w="10850881">
                  <a:moveTo>
                    <a:pt x="0" y="0"/>
                  </a:moveTo>
                  <a:lnTo>
                    <a:pt x="10850881" y="0"/>
                  </a:lnTo>
                  <a:lnTo>
                    <a:pt x="10850881" y="2804160"/>
                  </a:lnTo>
                  <a:lnTo>
                    <a:pt x="0" y="2804160"/>
                  </a:lnTo>
                  <a:close/>
                </a:path>
              </a:pathLst>
            </a:custGeom>
            <a:solidFill>
              <a:srgbClr val="FFFFFF"/>
            </a:solidFill>
          </p:spPr>
          <p:txBody>
            <a:bodyPr/>
            <a:p/>
          </p:txBody>
        </p:sp>
        <p:sp>
          <p:nvSpPr>
            <p:cNvPr name="Freeform 9" id="9"/>
            <p:cNvSpPr/>
            <p:nvPr/>
          </p:nvSpPr>
          <p:spPr>
            <a:xfrm flipH="false" flipV="false" rot="0">
              <a:off x="0" y="0"/>
              <a:ext cx="10884662" cy="2837942"/>
            </a:xfrm>
            <a:custGeom>
              <a:avLst/>
              <a:gdLst/>
              <a:ahLst/>
              <a:cxnLst/>
              <a:rect r="r" b="b" t="t" l="l"/>
              <a:pathLst>
                <a:path h="2837942" w="10884662">
                  <a:moveTo>
                    <a:pt x="16891" y="0"/>
                  </a:moveTo>
                  <a:lnTo>
                    <a:pt x="10867772" y="0"/>
                  </a:lnTo>
                  <a:cubicBezTo>
                    <a:pt x="10877169" y="0"/>
                    <a:pt x="10884662" y="7620"/>
                    <a:pt x="10884662" y="16891"/>
                  </a:cubicBezTo>
                  <a:lnTo>
                    <a:pt x="10884662" y="2821051"/>
                  </a:lnTo>
                  <a:cubicBezTo>
                    <a:pt x="10884662" y="2830449"/>
                    <a:pt x="10877042" y="2837942"/>
                    <a:pt x="10867772"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0867772" y="2804160"/>
                  </a:lnTo>
                  <a:lnTo>
                    <a:pt x="10867772" y="2821051"/>
                  </a:lnTo>
                  <a:lnTo>
                    <a:pt x="10850880" y="282105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10" id="10"/>
          <p:cNvGrpSpPr/>
          <p:nvPr/>
        </p:nvGrpSpPr>
        <p:grpSpPr>
          <a:xfrm rot="0">
            <a:off x="914400" y="2286000"/>
            <a:ext cx="2651760" cy="731520"/>
            <a:chOff x="0" y="0"/>
            <a:chExt cx="3535680" cy="975360"/>
          </a:xfrm>
        </p:grpSpPr>
        <p:sp>
          <p:nvSpPr>
            <p:cNvPr name="Freeform 11" id="11"/>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solidFill>
              <a:srgbClr val="059669"/>
            </a:solidFill>
          </p:spPr>
          <p:txBody>
            <a:bodyPr/>
            <a:p/>
          </p:txBody>
        </p:sp>
      </p:grpSp>
      <p:grpSp>
        <p:nvGrpSpPr>
          <p:cNvPr name="Group 12" id="12"/>
          <p:cNvGrpSpPr/>
          <p:nvPr/>
        </p:nvGrpSpPr>
        <p:grpSpPr>
          <a:xfrm rot="0">
            <a:off x="914400" y="2286000"/>
            <a:ext cx="2651760" cy="731520"/>
            <a:chOff x="0" y="0"/>
            <a:chExt cx="3535680" cy="975360"/>
          </a:xfrm>
        </p:grpSpPr>
        <p:sp>
          <p:nvSpPr>
            <p:cNvPr name="Freeform 13" id="13"/>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blipFill>
              <a:blip r:embed="rId3">
                <a:alphaModFix amt="0"/>
              </a:blip>
              <a:stretch>
                <a:fillRect l="0" t="-20633" r="0" b="-20633"/>
              </a:stretch>
            </a:blipFill>
          </p:spPr>
          <p:txBody>
            <a:bodyPr/>
            <a:p/>
          </p:txBody>
        </p:sp>
        <p:sp>
          <p:nvSpPr>
            <p:cNvPr name="TextBox 14" id="14"/>
            <p:cNvSpPr txBox="true"/>
            <p:nvPr/>
          </p:nvSpPr>
          <p:spPr>
            <a:xfrm>
              <a:off x="0" y="-47625"/>
              <a:ext cx="3535680" cy="102298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Art. 17</a:t>
              </a:r>
            </a:p>
          </p:txBody>
        </p:sp>
      </p:grpSp>
      <p:grpSp>
        <p:nvGrpSpPr>
          <p:cNvPr name="Group 15" id="15"/>
          <p:cNvGrpSpPr/>
          <p:nvPr/>
        </p:nvGrpSpPr>
        <p:grpSpPr>
          <a:xfrm rot="0">
            <a:off x="1188720" y="3108960"/>
            <a:ext cx="7680960" cy="585216"/>
            <a:chOff x="0" y="0"/>
            <a:chExt cx="10241280" cy="780288"/>
          </a:xfrm>
        </p:grpSpPr>
        <p:sp>
          <p:nvSpPr>
            <p:cNvPr name="Freeform 16" id="16"/>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17" id="17"/>
            <p:cNvSpPr txBox="true"/>
            <p:nvPr/>
          </p:nvSpPr>
          <p:spPr>
            <a:xfrm>
              <a:off x="0" y="-57150"/>
              <a:ext cx="10241280" cy="837438"/>
            </a:xfrm>
            <a:prstGeom prst="rect">
              <a:avLst/>
            </a:prstGeom>
          </p:spPr>
          <p:txBody>
            <a:bodyPr anchor="ctr" rtlCol="false" tIns="0" lIns="0" bIns="0" rIns="0"/>
            <a:lstStyle/>
            <a:p>
              <a:pPr algn="l">
                <a:lnSpc>
                  <a:spcPts val="3120"/>
                </a:lnSpc>
              </a:pPr>
              <a:r>
                <a:rPr lang="en-US" sz="2600" b="true">
                  <a:solidFill>
                    <a:srgbClr val="1E3A5F"/>
                  </a:solidFill>
                  <a:latin typeface="Calibri (MS) Bold"/>
                  <a:ea typeface="Calibri (MS) Bold"/>
                  <a:cs typeface="Calibri (MS) Bold"/>
                  <a:sym typeface="Calibri (MS) Bold"/>
                </a:rPr>
                <a:t>Droit à l'effacement</a:t>
              </a:r>
            </a:p>
          </p:txBody>
        </p:sp>
      </p:grpSp>
      <p:grpSp>
        <p:nvGrpSpPr>
          <p:cNvPr name="Group 18" id="18"/>
          <p:cNvGrpSpPr/>
          <p:nvPr/>
        </p:nvGrpSpPr>
        <p:grpSpPr>
          <a:xfrm rot="0">
            <a:off x="1188720" y="3694176"/>
            <a:ext cx="7680960" cy="585216"/>
            <a:chOff x="0" y="0"/>
            <a:chExt cx="10241280" cy="780288"/>
          </a:xfrm>
        </p:grpSpPr>
        <p:sp>
          <p:nvSpPr>
            <p:cNvPr name="Freeform 19" id="19"/>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20" id="20"/>
            <p:cNvSpPr txBox="true"/>
            <p:nvPr/>
          </p:nvSpPr>
          <p:spPr>
            <a:xfrm>
              <a:off x="0" y="-47625"/>
              <a:ext cx="10241280" cy="82791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Suppression compte + données en cascade</a:t>
              </a:r>
            </a:p>
          </p:txBody>
        </p:sp>
      </p:grpSp>
      <p:grpSp>
        <p:nvGrpSpPr>
          <p:cNvPr name="Group 21" id="21"/>
          <p:cNvGrpSpPr/>
          <p:nvPr/>
        </p:nvGrpSpPr>
        <p:grpSpPr>
          <a:xfrm rot="0">
            <a:off x="9222743" y="2273303"/>
            <a:ext cx="8163563" cy="2128523"/>
            <a:chOff x="0" y="0"/>
            <a:chExt cx="10884751" cy="2838031"/>
          </a:xfrm>
        </p:grpSpPr>
        <p:sp>
          <p:nvSpPr>
            <p:cNvPr name="Freeform 22" id="22"/>
            <p:cNvSpPr/>
            <p:nvPr/>
          </p:nvSpPr>
          <p:spPr>
            <a:xfrm flipH="false" flipV="false" rot="0">
              <a:off x="16891" y="16891"/>
              <a:ext cx="10850881" cy="2804160"/>
            </a:xfrm>
            <a:custGeom>
              <a:avLst/>
              <a:gdLst/>
              <a:ahLst/>
              <a:cxnLst/>
              <a:rect r="r" b="b" t="t" l="l"/>
              <a:pathLst>
                <a:path h="2804160" w="10850881">
                  <a:moveTo>
                    <a:pt x="0" y="0"/>
                  </a:moveTo>
                  <a:lnTo>
                    <a:pt x="10850881" y="0"/>
                  </a:lnTo>
                  <a:lnTo>
                    <a:pt x="10850881" y="2804160"/>
                  </a:lnTo>
                  <a:lnTo>
                    <a:pt x="0" y="2804160"/>
                  </a:lnTo>
                  <a:close/>
                </a:path>
              </a:pathLst>
            </a:custGeom>
            <a:solidFill>
              <a:srgbClr val="FFFFFF"/>
            </a:solidFill>
          </p:spPr>
          <p:txBody>
            <a:bodyPr/>
            <a:p/>
          </p:txBody>
        </p:sp>
        <p:sp>
          <p:nvSpPr>
            <p:cNvPr name="Freeform 23" id="23"/>
            <p:cNvSpPr/>
            <p:nvPr/>
          </p:nvSpPr>
          <p:spPr>
            <a:xfrm flipH="false" flipV="false" rot="0">
              <a:off x="0" y="0"/>
              <a:ext cx="10884662" cy="2837942"/>
            </a:xfrm>
            <a:custGeom>
              <a:avLst/>
              <a:gdLst/>
              <a:ahLst/>
              <a:cxnLst/>
              <a:rect r="r" b="b" t="t" l="l"/>
              <a:pathLst>
                <a:path h="2837942" w="10884662">
                  <a:moveTo>
                    <a:pt x="16891" y="0"/>
                  </a:moveTo>
                  <a:lnTo>
                    <a:pt x="10867772" y="0"/>
                  </a:lnTo>
                  <a:cubicBezTo>
                    <a:pt x="10877169" y="0"/>
                    <a:pt x="10884662" y="7620"/>
                    <a:pt x="10884662" y="16891"/>
                  </a:cubicBezTo>
                  <a:lnTo>
                    <a:pt x="10884662" y="2821051"/>
                  </a:lnTo>
                  <a:cubicBezTo>
                    <a:pt x="10884662" y="2830449"/>
                    <a:pt x="10877042" y="2837942"/>
                    <a:pt x="10867772"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0867772" y="2804160"/>
                  </a:lnTo>
                  <a:lnTo>
                    <a:pt x="10867772" y="2821051"/>
                  </a:lnTo>
                  <a:lnTo>
                    <a:pt x="10850880" y="282105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24" id="24"/>
          <p:cNvGrpSpPr/>
          <p:nvPr/>
        </p:nvGrpSpPr>
        <p:grpSpPr>
          <a:xfrm rot="0">
            <a:off x="9235440" y="2286000"/>
            <a:ext cx="2651760" cy="731520"/>
            <a:chOff x="0" y="0"/>
            <a:chExt cx="3535680" cy="975360"/>
          </a:xfrm>
        </p:grpSpPr>
        <p:sp>
          <p:nvSpPr>
            <p:cNvPr name="Freeform 25" id="25"/>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solidFill>
              <a:srgbClr val="059669"/>
            </a:solidFill>
          </p:spPr>
          <p:txBody>
            <a:bodyPr/>
            <a:p/>
          </p:txBody>
        </p:sp>
      </p:grpSp>
      <p:grpSp>
        <p:nvGrpSpPr>
          <p:cNvPr name="Group 26" id="26"/>
          <p:cNvGrpSpPr/>
          <p:nvPr/>
        </p:nvGrpSpPr>
        <p:grpSpPr>
          <a:xfrm rot="0">
            <a:off x="9235440" y="2286000"/>
            <a:ext cx="2651760" cy="731520"/>
            <a:chOff x="0" y="0"/>
            <a:chExt cx="3535680" cy="975360"/>
          </a:xfrm>
        </p:grpSpPr>
        <p:sp>
          <p:nvSpPr>
            <p:cNvPr name="Freeform 27" id="27"/>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blipFill>
              <a:blip r:embed="rId3">
                <a:alphaModFix amt="0"/>
              </a:blip>
              <a:stretch>
                <a:fillRect l="0" t="-20633" r="0" b="-20633"/>
              </a:stretch>
            </a:blipFill>
          </p:spPr>
          <p:txBody>
            <a:bodyPr/>
            <a:p/>
          </p:txBody>
        </p:sp>
        <p:sp>
          <p:nvSpPr>
            <p:cNvPr name="TextBox 28" id="28"/>
            <p:cNvSpPr txBox="true"/>
            <p:nvPr/>
          </p:nvSpPr>
          <p:spPr>
            <a:xfrm>
              <a:off x="0" y="-47625"/>
              <a:ext cx="3535680" cy="102298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Art. 20</a:t>
              </a:r>
            </a:p>
          </p:txBody>
        </p:sp>
      </p:grpSp>
      <p:grpSp>
        <p:nvGrpSpPr>
          <p:cNvPr name="Group 29" id="29"/>
          <p:cNvGrpSpPr/>
          <p:nvPr/>
        </p:nvGrpSpPr>
        <p:grpSpPr>
          <a:xfrm rot="0">
            <a:off x="9509760" y="3108960"/>
            <a:ext cx="7680960" cy="585216"/>
            <a:chOff x="0" y="0"/>
            <a:chExt cx="10241280" cy="780288"/>
          </a:xfrm>
        </p:grpSpPr>
        <p:sp>
          <p:nvSpPr>
            <p:cNvPr name="Freeform 30" id="30"/>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31" id="31"/>
            <p:cNvSpPr txBox="true"/>
            <p:nvPr/>
          </p:nvSpPr>
          <p:spPr>
            <a:xfrm>
              <a:off x="0" y="-57150"/>
              <a:ext cx="10241280" cy="837438"/>
            </a:xfrm>
            <a:prstGeom prst="rect">
              <a:avLst/>
            </a:prstGeom>
          </p:spPr>
          <p:txBody>
            <a:bodyPr anchor="ctr" rtlCol="false" tIns="0" lIns="0" bIns="0" rIns="0"/>
            <a:lstStyle/>
            <a:p>
              <a:pPr algn="l">
                <a:lnSpc>
                  <a:spcPts val="3120"/>
                </a:lnSpc>
              </a:pPr>
              <a:r>
                <a:rPr lang="en-US" sz="2600" b="true">
                  <a:solidFill>
                    <a:srgbClr val="1E3A5F"/>
                  </a:solidFill>
                  <a:latin typeface="Calibri (MS) Bold"/>
                  <a:ea typeface="Calibri (MS) Bold"/>
                  <a:cs typeface="Calibri (MS) Bold"/>
                  <a:sym typeface="Calibri (MS) Bold"/>
                </a:rPr>
                <a:t>Portabilité</a:t>
              </a:r>
            </a:p>
          </p:txBody>
        </p:sp>
      </p:grpSp>
      <p:grpSp>
        <p:nvGrpSpPr>
          <p:cNvPr name="Group 32" id="32"/>
          <p:cNvGrpSpPr/>
          <p:nvPr/>
        </p:nvGrpSpPr>
        <p:grpSpPr>
          <a:xfrm rot="0">
            <a:off x="9509760" y="3694176"/>
            <a:ext cx="7680960" cy="585216"/>
            <a:chOff x="0" y="0"/>
            <a:chExt cx="10241280" cy="780288"/>
          </a:xfrm>
        </p:grpSpPr>
        <p:sp>
          <p:nvSpPr>
            <p:cNvPr name="Freeform 33" id="33"/>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34" id="34"/>
            <p:cNvSpPr txBox="true"/>
            <p:nvPr/>
          </p:nvSpPr>
          <p:spPr>
            <a:xfrm>
              <a:off x="0" y="-47625"/>
              <a:ext cx="10241280" cy="82791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Export JSON complet du profil</a:t>
              </a:r>
            </a:p>
          </p:txBody>
        </p:sp>
      </p:grpSp>
      <p:grpSp>
        <p:nvGrpSpPr>
          <p:cNvPr name="Group 35" id="35"/>
          <p:cNvGrpSpPr/>
          <p:nvPr/>
        </p:nvGrpSpPr>
        <p:grpSpPr>
          <a:xfrm rot="0">
            <a:off x="901703" y="4742183"/>
            <a:ext cx="8163563" cy="2128523"/>
            <a:chOff x="0" y="0"/>
            <a:chExt cx="10884751" cy="2838031"/>
          </a:xfrm>
        </p:grpSpPr>
        <p:sp>
          <p:nvSpPr>
            <p:cNvPr name="Freeform 36" id="36"/>
            <p:cNvSpPr/>
            <p:nvPr/>
          </p:nvSpPr>
          <p:spPr>
            <a:xfrm flipH="false" flipV="false" rot="0">
              <a:off x="16891" y="16891"/>
              <a:ext cx="10850881" cy="2804160"/>
            </a:xfrm>
            <a:custGeom>
              <a:avLst/>
              <a:gdLst/>
              <a:ahLst/>
              <a:cxnLst/>
              <a:rect r="r" b="b" t="t" l="l"/>
              <a:pathLst>
                <a:path h="2804160" w="10850881">
                  <a:moveTo>
                    <a:pt x="0" y="0"/>
                  </a:moveTo>
                  <a:lnTo>
                    <a:pt x="10850881" y="0"/>
                  </a:lnTo>
                  <a:lnTo>
                    <a:pt x="10850881" y="2804160"/>
                  </a:lnTo>
                  <a:lnTo>
                    <a:pt x="0" y="2804160"/>
                  </a:lnTo>
                  <a:close/>
                </a:path>
              </a:pathLst>
            </a:custGeom>
            <a:solidFill>
              <a:srgbClr val="FFFFFF"/>
            </a:solidFill>
          </p:spPr>
          <p:txBody>
            <a:bodyPr/>
            <a:p/>
          </p:txBody>
        </p:sp>
        <p:sp>
          <p:nvSpPr>
            <p:cNvPr name="Freeform 37" id="37"/>
            <p:cNvSpPr/>
            <p:nvPr/>
          </p:nvSpPr>
          <p:spPr>
            <a:xfrm flipH="false" flipV="false" rot="0">
              <a:off x="0" y="0"/>
              <a:ext cx="10884662" cy="2837942"/>
            </a:xfrm>
            <a:custGeom>
              <a:avLst/>
              <a:gdLst/>
              <a:ahLst/>
              <a:cxnLst/>
              <a:rect r="r" b="b" t="t" l="l"/>
              <a:pathLst>
                <a:path h="2837942" w="10884662">
                  <a:moveTo>
                    <a:pt x="16891" y="0"/>
                  </a:moveTo>
                  <a:lnTo>
                    <a:pt x="10867772" y="0"/>
                  </a:lnTo>
                  <a:cubicBezTo>
                    <a:pt x="10877169" y="0"/>
                    <a:pt x="10884662" y="7620"/>
                    <a:pt x="10884662" y="16891"/>
                  </a:cubicBezTo>
                  <a:lnTo>
                    <a:pt x="10884662" y="2821051"/>
                  </a:lnTo>
                  <a:cubicBezTo>
                    <a:pt x="10884662" y="2830449"/>
                    <a:pt x="10877042" y="2837942"/>
                    <a:pt x="10867772"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0867772" y="2804160"/>
                  </a:lnTo>
                  <a:lnTo>
                    <a:pt x="10867772" y="2821051"/>
                  </a:lnTo>
                  <a:lnTo>
                    <a:pt x="10850880" y="282105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38" id="38"/>
          <p:cNvGrpSpPr/>
          <p:nvPr/>
        </p:nvGrpSpPr>
        <p:grpSpPr>
          <a:xfrm rot="0">
            <a:off x="914400" y="4754880"/>
            <a:ext cx="2651760" cy="731520"/>
            <a:chOff x="0" y="0"/>
            <a:chExt cx="3535680" cy="975360"/>
          </a:xfrm>
        </p:grpSpPr>
        <p:sp>
          <p:nvSpPr>
            <p:cNvPr name="Freeform 39" id="39"/>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solidFill>
              <a:srgbClr val="059669"/>
            </a:solidFill>
          </p:spPr>
          <p:txBody>
            <a:bodyPr/>
            <a:p/>
          </p:txBody>
        </p:sp>
      </p:grpSp>
      <p:grpSp>
        <p:nvGrpSpPr>
          <p:cNvPr name="Group 40" id="40"/>
          <p:cNvGrpSpPr/>
          <p:nvPr/>
        </p:nvGrpSpPr>
        <p:grpSpPr>
          <a:xfrm rot="0">
            <a:off x="914400" y="4754880"/>
            <a:ext cx="2651760" cy="731520"/>
            <a:chOff x="0" y="0"/>
            <a:chExt cx="3535680" cy="975360"/>
          </a:xfrm>
        </p:grpSpPr>
        <p:sp>
          <p:nvSpPr>
            <p:cNvPr name="Freeform 41" id="41"/>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blipFill>
              <a:blip r:embed="rId3">
                <a:alphaModFix amt="0"/>
              </a:blip>
              <a:stretch>
                <a:fillRect l="0" t="-20633" r="0" b="-20633"/>
              </a:stretch>
            </a:blipFill>
          </p:spPr>
          <p:txBody>
            <a:bodyPr/>
            <a:p/>
          </p:txBody>
        </p:sp>
        <p:sp>
          <p:nvSpPr>
            <p:cNvPr name="TextBox 42" id="42"/>
            <p:cNvSpPr txBox="true"/>
            <p:nvPr/>
          </p:nvSpPr>
          <p:spPr>
            <a:xfrm>
              <a:off x="0" y="-47625"/>
              <a:ext cx="3535680" cy="1022985"/>
            </a:xfrm>
            <a:prstGeom prst="rect">
              <a:avLst/>
            </a:prstGeom>
          </p:spPr>
          <p:txBody>
            <a:bodyPr anchor="ctr" rtlCol="false" tIns="0" lIns="0" bIns="0" rIns="0"/>
            <a:lstStyle/>
            <a:p>
              <a:r>
                <a:t>RGPD</a:t>
              </a:r>
            </a:p>
          </p:txBody>
        </p:sp>
      </p:grpSp>
      <p:grpSp>
        <p:nvGrpSpPr>
          <p:cNvPr name="Group 43" id="43"/>
          <p:cNvGrpSpPr/>
          <p:nvPr/>
        </p:nvGrpSpPr>
        <p:grpSpPr>
          <a:xfrm rot="0">
            <a:off x="1188720" y="5577840"/>
            <a:ext cx="7680960" cy="585216"/>
            <a:chOff x="0" y="0"/>
            <a:chExt cx="10241280" cy="780288"/>
          </a:xfrm>
        </p:grpSpPr>
        <p:sp>
          <p:nvSpPr>
            <p:cNvPr name="Freeform 44" id="44"/>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45" id="45"/>
            <p:cNvSpPr txBox="true"/>
            <p:nvPr/>
          </p:nvSpPr>
          <p:spPr>
            <a:xfrm>
              <a:off x="0" y="-57150"/>
              <a:ext cx="10241280" cy="837438"/>
            </a:xfrm>
            <a:prstGeom prst="rect">
              <a:avLst/>
            </a:prstGeom>
          </p:spPr>
          <p:txBody>
            <a:bodyPr anchor="ctr" rtlCol="false" tIns="0" lIns="0" bIns="0" rIns="0"/>
            <a:lstStyle/>
            <a:p>
              <a:r>
                <a:t>Minimisation des données</a:t>
              </a:r>
            </a:p>
          </p:txBody>
        </p:sp>
      </p:grpSp>
      <p:grpSp>
        <p:nvGrpSpPr>
          <p:cNvPr name="Group 46" id="46"/>
          <p:cNvGrpSpPr/>
          <p:nvPr/>
        </p:nvGrpSpPr>
        <p:grpSpPr>
          <a:xfrm rot="0">
            <a:off x="1188720" y="6163056"/>
            <a:ext cx="7680960" cy="585216"/>
            <a:chOff x="0" y="0"/>
            <a:chExt cx="10241280" cy="780288"/>
          </a:xfrm>
        </p:grpSpPr>
        <p:sp>
          <p:nvSpPr>
            <p:cNvPr name="Freeform 47" id="47"/>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48" id="48"/>
            <p:cNvSpPr txBox="true"/>
            <p:nvPr/>
          </p:nvSpPr>
          <p:spPr>
            <a:xfrm>
              <a:off x="0" y="-47625"/>
              <a:ext cx="10241280" cy="82791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Masquage PII avant appel LLM</a:t>
              </a:r>
            </a:p>
          </p:txBody>
        </p:sp>
      </p:grpSp>
      <p:grpSp>
        <p:nvGrpSpPr>
          <p:cNvPr name="Group 49" id="49"/>
          <p:cNvGrpSpPr/>
          <p:nvPr/>
        </p:nvGrpSpPr>
        <p:grpSpPr>
          <a:xfrm rot="0">
            <a:off x="9222743" y="4742183"/>
            <a:ext cx="8163563" cy="2128523"/>
            <a:chOff x="0" y="0"/>
            <a:chExt cx="10884751" cy="2838031"/>
          </a:xfrm>
        </p:grpSpPr>
        <p:sp>
          <p:nvSpPr>
            <p:cNvPr name="Freeform 50" id="50"/>
            <p:cNvSpPr/>
            <p:nvPr/>
          </p:nvSpPr>
          <p:spPr>
            <a:xfrm flipH="false" flipV="false" rot="0">
              <a:off x="16891" y="16891"/>
              <a:ext cx="10850881" cy="2804160"/>
            </a:xfrm>
            <a:custGeom>
              <a:avLst/>
              <a:gdLst/>
              <a:ahLst/>
              <a:cxnLst/>
              <a:rect r="r" b="b" t="t" l="l"/>
              <a:pathLst>
                <a:path h="2804160" w="10850881">
                  <a:moveTo>
                    <a:pt x="0" y="0"/>
                  </a:moveTo>
                  <a:lnTo>
                    <a:pt x="10850881" y="0"/>
                  </a:lnTo>
                  <a:lnTo>
                    <a:pt x="10850881" y="2804160"/>
                  </a:lnTo>
                  <a:lnTo>
                    <a:pt x="0" y="2804160"/>
                  </a:lnTo>
                  <a:close/>
                </a:path>
              </a:pathLst>
            </a:custGeom>
            <a:solidFill>
              <a:srgbClr val="FFFFFF"/>
            </a:solidFill>
          </p:spPr>
          <p:txBody>
            <a:bodyPr/>
            <a:p/>
          </p:txBody>
        </p:sp>
        <p:sp>
          <p:nvSpPr>
            <p:cNvPr name="Freeform 51" id="51"/>
            <p:cNvSpPr/>
            <p:nvPr/>
          </p:nvSpPr>
          <p:spPr>
            <a:xfrm flipH="false" flipV="false" rot="0">
              <a:off x="0" y="0"/>
              <a:ext cx="10884662" cy="2837942"/>
            </a:xfrm>
            <a:custGeom>
              <a:avLst/>
              <a:gdLst/>
              <a:ahLst/>
              <a:cxnLst/>
              <a:rect r="r" b="b" t="t" l="l"/>
              <a:pathLst>
                <a:path h="2837942" w="10884662">
                  <a:moveTo>
                    <a:pt x="16891" y="0"/>
                  </a:moveTo>
                  <a:lnTo>
                    <a:pt x="10867772" y="0"/>
                  </a:lnTo>
                  <a:cubicBezTo>
                    <a:pt x="10877169" y="0"/>
                    <a:pt x="10884662" y="7620"/>
                    <a:pt x="10884662" y="16891"/>
                  </a:cubicBezTo>
                  <a:lnTo>
                    <a:pt x="10884662" y="2821051"/>
                  </a:lnTo>
                  <a:cubicBezTo>
                    <a:pt x="10884662" y="2830449"/>
                    <a:pt x="10877042" y="2837942"/>
                    <a:pt x="10867772"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0867772" y="2804160"/>
                  </a:lnTo>
                  <a:lnTo>
                    <a:pt x="10867772" y="2821051"/>
                  </a:lnTo>
                  <a:lnTo>
                    <a:pt x="10850880" y="282105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52" id="52"/>
          <p:cNvGrpSpPr/>
          <p:nvPr/>
        </p:nvGrpSpPr>
        <p:grpSpPr>
          <a:xfrm rot="0">
            <a:off x="9235440" y="4754880"/>
            <a:ext cx="2651760" cy="731520"/>
            <a:chOff x="0" y="0"/>
            <a:chExt cx="3535680" cy="975360"/>
          </a:xfrm>
        </p:grpSpPr>
        <p:sp>
          <p:nvSpPr>
            <p:cNvPr name="Freeform 53" id="53"/>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solidFill>
              <a:srgbClr val="059669"/>
            </a:solidFill>
          </p:spPr>
          <p:txBody>
            <a:bodyPr/>
            <a:p/>
          </p:txBody>
        </p:sp>
      </p:grpSp>
      <p:grpSp>
        <p:nvGrpSpPr>
          <p:cNvPr name="Group 54" id="54"/>
          <p:cNvGrpSpPr/>
          <p:nvPr/>
        </p:nvGrpSpPr>
        <p:grpSpPr>
          <a:xfrm rot="0">
            <a:off x="9235440" y="4754880"/>
            <a:ext cx="2651760" cy="731520"/>
            <a:chOff x="0" y="0"/>
            <a:chExt cx="3535680" cy="975360"/>
          </a:xfrm>
        </p:grpSpPr>
        <p:sp>
          <p:nvSpPr>
            <p:cNvPr name="Freeform 55" id="55"/>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blipFill>
              <a:blip r:embed="rId3">
                <a:alphaModFix amt="0"/>
              </a:blip>
              <a:stretch>
                <a:fillRect l="0" t="-20633" r="0" b="-20633"/>
              </a:stretch>
            </a:blipFill>
          </p:spPr>
          <p:txBody>
            <a:bodyPr/>
            <a:p/>
          </p:txBody>
        </p:sp>
        <p:sp>
          <p:nvSpPr>
            <p:cNvPr name="TextBox 56" id="56"/>
            <p:cNvSpPr txBox="true"/>
            <p:nvPr/>
          </p:nvSpPr>
          <p:spPr>
            <a:xfrm>
              <a:off x="0" y="-47625"/>
              <a:ext cx="3535680" cy="1022985"/>
            </a:xfrm>
            <a:prstGeom prst="rect">
              <a:avLst/>
            </a:prstGeom>
          </p:spPr>
          <p:txBody>
            <a:bodyPr anchor="ctr" rtlCol="false" tIns="0" lIns="0" bIns="0" rIns="0"/>
            <a:lstStyle/>
            <a:p>
              <a:r>
                <a:t>Loi 09-08 / CNDP</a:t>
              </a:r>
            </a:p>
          </p:txBody>
        </p:sp>
      </p:grpSp>
      <p:grpSp>
        <p:nvGrpSpPr>
          <p:cNvPr name="Group 57" id="57"/>
          <p:cNvGrpSpPr/>
          <p:nvPr/>
        </p:nvGrpSpPr>
        <p:grpSpPr>
          <a:xfrm rot="0">
            <a:off x="9509760" y="5577840"/>
            <a:ext cx="7680960" cy="585216"/>
            <a:chOff x="0" y="0"/>
            <a:chExt cx="10241280" cy="780288"/>
          </a:xfrm>
        </p:grpSpPr>
        <p:sp>
          <p:nvSpPr>
            <p:cNvPr name="Freeform 58" id="58"/>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59" id="59"/>
            <p:cNvSpPr txBox="true"/>
            <p:nvPr/>
          </p:nvSpPr>
          <p:spPr>
            <a:xfrm>
              <a:off x="0" y="-57150"/>
              <a:ext cx="10241280" cy="837438"/>
            </a:xfrm>
            <a:prstGeom prst="rect">
              <a:avLst/>
            </a:prstGeom>
          </p:spPr>
          <p:txBody>
            <a:bodyPr anchor="ctr" rtlCol="false" tIns="0" lIns="0" bIns="0" rIns="0"/>
            <a:lstStyle/>
            <a:p>
              <a:r>
                <a:t>A formaliser en production</a:t>
              </a:r>
            </a:p>
          </p:txBody>
        </p:sp>
      </p:grpSp>
      <p:grpSp>
        <p:nvGrpSpPr>
          <p:cNvPr name="Group 60" id="60"/>
          <p:cNvGrpSpPr/>
          <p:nvPr/>
        </p:nvGrpSpPr>
        <p:grpSpPr>
          <a:xfrm rot="0">
            <a:off x="9509760" y="6163056"/>
            <a:ext cx="7680960" cy="585216"/>
            <a:chOff x="0" y="0"/>
            <a:chExt cx="10241280" cy="780288"/>
          </a:xfrm>
        </p:grpSpPr>
        <p:sp>
          <p:nvSpPr>
            <p:cNvPr name="Freeform 61" id="61"/>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62" id="62"/>
            <p:cNvSpPr txBox="true"/>
            <p:nvPr/>
          </p:nvSpPr>
          <p:spPr>
            <a:xfrm>
              <a:off x="0" y="-47625"/>
              <a:ext cx="10241280" cy="827913"/>
            </a:xfrm>
            <a:prstGeom prst="rect">
              <a:avLst/>
            </a:prstGeom>
          </p:spPr>
          <p:txBody>
            <a:bodyPr anchor="ctr" rtlCol="false" tIns="0" lIns="0" bIns="0" rIns="0"/>
            <a:lstStyle/>
            <a:p>
              <a:r>
                <a:t>Conformité juridique complète à valider</a:t>
              </a:r>
            </a:p>
          </p:txBody>
        </p:sp>
      </p:grpSp>
      <p:grpSp>
        <p:nvGrpSpPr>
          <p:cNvPr name="Group 63" id="63"/>
          <p:cNvGrpSpPr/>
          <p:nvPr/>
        </p:nvGrpSpPr>
        <p:grpSpPr>
          <a:xfrm rot="0">
            <a:off x="901703" y="7211063"/>
            <a:ext cx="8163563" cy="2128523"/>
            <a:chOff x="0" y="0"/>
            <a:chExt cx="10884751" cy="2838031"/>
          </a:xfrm>
        </p:grpSpPr>
        <p:sp>
          <p:nvSpPr>
            <p:cNvPr name="Freeform 64" id="64"/>
            <p:cNvSpPr/>
            <p:nvPr/>
          </p:nvSpPr>
          <p:spPr>
            <a:xfrm flipH="false" flipV="false" rot="0">
              <a:off x="16891" y="16891"/>
              <a:ext cx="10850881" cy="2804160"/>
            </a:xfrm>
            <a:custGeom>
              <a:avLst/>
              <a:gdLst/>
              <a:ahLst/>
              <a:cxnLst/>
              <a:rect r="r" b="b" t="t" l="l"/>
              <a:pathLst>
                <a:path h="2804160" w="10850881">
                  <a:moveTo>
                    <a:pt x="0" y="0"/>
                  </a:moveTo>
                  <a:lnTo>
                    <a:pt x="10850881" y="0"/>
                  </a:lnTo>
                  <a:lnTo>
                    <a:pt x="10850881" y="2804160"/>
                  </a:lnTo>
                  <a:lnTo>
                    <a:pt x="0" y="2804160"/>
                  </a:lnTo>
                  <a:close/>
                </a:path>
              </a:pathLst>
            </a:custGeom>
            <a:solidFill>
              <a:srgbClr val="FFFFFF"/>
            </a:solidFill>
          </p:spPr>
          <p:txBody>
            <a:bodyPr/>
            <a:p/>
          </p:txBody>
        </p:sp>
        <p:sp>
          <p:nvSpPr>
            <p:cNvPr name="Freeform 65" id="65"/>
            <p:cNvSpPr/>
            <p:nvPr/>
          </p:nvSpPr>
          <p:spPr>
            <a:xfrm flipH="false" flipV="false" rot="0">
              <a:off x="0" y="0"/>
              <a:ext cx="10884662" cy="2837942"/>
            </a:xfrm>
            <a:custGeom>
              <a:avLst/>
              <a:gdLst/>
              <a:ahLst/>
              <a:cxnLst/>
              <a:rect r="r" b="b" t="t" l="l"/>
              <a:pathLst>
                <a:path h="2837942" w="10884662">
                  <a:moveTo>
                    <a:pt x="16891" y="0"/>
                  </a:moveTo>
                  <a:lnTo>
                    <a:pt x="10867772" y="0"/>
                  </a:lnTo>
                  <a:cubicBezTo>
                    <a:pt x="10877169" y="0"/>
                    <a:pt x="10884662" y="7620"/>
                    <a:pt x="10884662" y="16891"/>
                  </a:cubicBezTo>
                  <a:lnTo>
                    <a:pt x="10884662" y="2821051"/>
                  </a:lnTo>
                  <a:cubicBezTo>
                    <a:pt x="10884662" y="2830449"/>
                    <a:pt x="10877042" y="2837942"/>
                    <a:pt x="10867772"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0867772" y="2804160"/>
                  </a:lnTo>
                  <a:lnTo>
                    <a:pt x="10867772" y="2821051"/>
                  </a:lnTo>
                  <a:lnTo>
                    <a:pt x="10850880" y="282105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66" id="66"/>
          <p:cNvGrpSpPr/>
          <p:nvPr/>
        </p:nvGrpSpPr>
        <p:grpSpPr>
          <a:xfrm rot="0">
            <a:off x="914400" y="7223760"/>
            <a:ext cx="2651760" cy="731520"/>
            <a:chOff x="0" y="0"/>
            <a:chExt cx="3535680" cy="975360"/>
          </a:xfrm>
        </p:grpSpPr>
        <p:sp>
          <p:nvSpPr>
            <p:cNvPr name="Freeform 67" id="67"/>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solidFill>
              <a:srgbClr val="059669"/>
            </a:solidFill>
          </p:spPr>
          <p:txBody>
            <a:bodyPr/>
            <a:p/>
          </p:txBody>
        </p:sp>
      </p:grpSp>
      <p:grpSp>
        <p:nvGrpSpPr>
          <p:cNvPr name="Group 68" id="68"/>
          <p:cNvGrpSpPr/>
          <p:nvPr/>
        </p:nvGrpSpPr>
        <p:grpSpPr>
          <a:xfrm rot="0">
            <a:off x="914400" y="7223760"/>
            <a:ext cx="2651760" cy="731520"/>
            <a:chOff x="0" y="0"/>
            <a:chExt cx="3535680" cy="975360"/>
          </a:xfrm>
        </p:grpSpPr>
        <p:sp>
          <p:nvSpPr>
            <p:cNvPr name="Freeform 69" id="69"/>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blipFill>
              <a:blip r:embed="rId3">
                <a:alphaModFix amt="0"/>
              </a:blip>
              <a:stretch>
                <a:fillRect l="0" t="-20633" r="0" b="-20633"/>
              </a:stretch>
            </a:blipFill>
          </p:spPr>
          <p:txBody>
            <a:bodyPr/>
            <a:p/>
          </p:txBody>
        </p:sp>
        <p:sp>
          <p:nvSpPr>
            <p:cNvPr name="TextBox 70" id="70"/>
            <p:cNvSpPr txBox="true"/>
            <p:nvPr/>
          </p:nvSpPr>
          <p:spPr>
            <a:xfrm>
              <a:off x="0" y="-47625"/>
              <a:ext cx="3535680" cy="102298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Art. 5(2)</a:t>
              </a:r>
            </a:p>
          </p:txBody>
        </p:sp>
      </p:grpSp>
      <p:grpSp>
        <p:nvGrpSpPr>
          <p:cNvPr name="Group 71" id="71"/>
          <p:cNvGrpSpPr/>
          <p:nvPr/>
        </p:nvGrpSpPr>
        <p:grpSpPr>
          <a:xfrm rot="0">
            <a:off x="1188720" y="8046720"/>
            <a:ext cx="7680960" cy="585216"/>
            <a:chOff x="0" y="0"/>
            <a:chExt cx="10241280" cy="780288"/>
          </a:xfrm>
        </p:grpSpPr>
        <p:sp>
          <p:nvSpPr>
            <p:cNvPr name="Freeform 72" id="72"/>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73" id="73"/>
            <p:cNvSpPr txBox="true"/>
            <p:nvPr/>
          </p:nvSpPr>
          <p:spPr>
            <a:xfrm>
              <a:off x="0" y="-57150"/>
              <a:ext cx="10241280" cy="837438"/>
            </a:xfrm>
            <a:prstGeom prst="rect">
              <a:avLst/>
            </a:prstGeom>
          </p:spPr>
          <p:txBody>
            <a:bodyPr anchor="ctr" rtlCol="false" tIns="0" lIns="0" bIns="0" rIns="0"/>
            <a:lstStyle/>
            <a:p>
              <a:pPr algn="l">
                <a:lnSpc>
                  <a:spcPts val="3120"/>
                </a:lnSpc>
              </a:pPr>
              <a:r>
                <a:rPr lang="en-US" sz="2600" b="true">
                  <a:solidFill>
                    <a:srgbClr val="1E3A5F"/>
                  </a:solidFill>
                  <a:latin typeface="Calibri (MS) Bold"/>
                  <a:ea typeface="Calibri (MS) Bold"/>
                  <a:cs typeface="Calibri (MS) Bold"/>
                  <a:sym typeface="Calibri (MS) Bold"/>
                </a:rPr>
                <a:t>Responsabilité</a:t>
              </a:r>
            </a:p>
          </p:txBody>
        </p:sp>
      </p:grpSp>
      <p:grpSp>
        <p:nvGrpSpPr>
          <p:cNvPr name="Group 74" id="74"/>
          <p:cNvGrpSpPr/>
          <p:nvPr/>
        </p:nvGrpSpPr>
        <p:grpSpPr>
          <a:xfrm rot="0">
            <a:off x="1188720" y="8631936"/>
            <a:ext cx="7680960" cy="585216"/>
            <a:chOff x="0" y="0"/>
            <a:chExt cx="10241280" cy="780288"/>
          </a:xfrm>
        </p:grpSpPr>
        <p:sp>
          <p:nvSpPr>
            <p:cNvPr name="Freeform 75" id="75"/>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76" id="76"/>
            <p:cNvSpPr txBox="true"/>
            <p:nvPr/>
          </p:nvSpPr>
          <p:spPr>
            <a:xfrm>
              <a:off x="0" y="-47625"/>
              <a:ext cx="10241280" cy="82791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Journalisation dans audit_logs</a:t>
              </a:r>
            </a:p>
          </p:txBody>
        </p:sp>
      </p:grpSp>
      <p:grpSp>
        <p:nvGrpSpPr>
          <p:cNvPr name="Group 77" id="77"/>
          <p:cNvGrpSpPr/>
          <p:nvPr/>
        </p:nvGrpSpPr>
        <p:grpSpPr>
          <a:xfrm rot="0">
            <a:off x="9222743" y="7211063"/>
            <a:ext cx="8163563" cy="2128523"/>
            <a:chOff x="0" y="0"/>
            <a:chExt cx="10884751" cy="2838031"/>
          </a:xfrm>
        </p:grpSpPr>
        <p:sp>
          <p:nvSpPr>
            <p:cNvPr name="Freeform 78" id="78"/>
            <p:cNvSpPr/>
            <p:nvPr/>
          </p:nvSpPr>
          <p:spPr>
            <a:xfrm flipH="false" flipV="false" rot="0">
              <a:off x="16891" y="16891"/>
              <a:ext cx="10850881" cy="2804160"/>
            </a:xfrm>
            <a:custGeom>
              <a:avLst/>
              <a:gdLst/>
              <a:ahLst/>
              <a:cxnLst/>
              <a:rect r="r" b="b" t="t" l="l"/>
              <a:pathLst>
                <a:path h="2804160" w="10850881">
                  <a:moveTo>
                    <a:pt x="0" y="0"/>
                  </a:moveTo>
                  <a:lnTo>
                    <a:pt x="10850881" y="0"/>
                  </a:lnTo>
                  <a:lnTo>
                    <a:pt x="10850881" y="2804160"/>
                  </a:lnTo>
                  <a:lnTo>
                    <a:pt x="0" y="2804160"/>
                  </a:lnTo>
                  <a:close/>
                </a:path>
              </a:pathLst>
            </a:custGeom>
            <a:solidFill>
              <a:srgbClr val="FFFFFF"/>
            </a:solidFill>
          </p:spPr>
          <p:txBody>
            <a:bodyPr/>
            <a:p/>
          </p:txBody>
        </p:sp>
        <p:sp>
          <p:nvSpPr>
            <p:cNvPr name="Freeform 79" id="79"/>
            <p:cNvSpPr/>
            <p:nvPr/>
          </p:nvSpPr>
          <p:spPr>
            <a:xfrm flipH="false" flipV="false" rot="0">
              <a:off x="0" y="0"/>
              <a:ext cx="10884662" cy="2837942"/>
            </a:xfrm>
            <a:custGeom>
              <a:avLst/>
              <a:gdLst/>
              <a:ahLst/>
              <a:cxnLst/>
              <a:rect r="r" b="b" t="t" l="l"/>
              <a:pathLst>
                <a:path h="2837942" w="10884662">
                  <a:moveTo>
                    <a:pt x="16891" y="0"/>
                  </a:moveTo>
                  <a:lnTo>
                    <a:pt x="10867772" y="0"/>
                  </a:lnTo>
                  <a:cubicBezTo>
                    <a:pt x="10877169" y="0"/>
                    <a:pt x="10884662" y="7620"/>
                    <a:pt x="10884662" y="16891"/>
                  </a:cubicBezTo>
                  <a:lnTo>
                    <a:pt x="10884662" y="2821051"/>
                  </a:lnTo>
                  <a:cubicBezTo>
                    <a:pt x="10884662" y="2830449"/>
                    <a:pt x="10877042" y="2837942"/>
                    <a:pt x="10867772"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0867772" y="2804160"/>
                  </a:lnTo>
                  <a:lnTo>
                    <a:pt x="10867772" y="2821051"/>
                  </a:lnTo>
                  <a:lnTo>
                    <a:pt x="10850880" y="2821051"/>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80" id="80"/>
          <p:cNvGrpSpPr/>
          <p:nvPr/>
        </p:nvGrpSpPr>
        <p:grpSpPr>
          <a:xfrm rot="0">
            <a:off x="9235440" y="7223760"/>
            <a:ext cx="2651760" cy="731520"/>
            <a:chOff x="0" y="0"/>
            <a:chExt cx="3535680" cy="975360"/>
          </a:xfrm>
        </p:grpSpPr>
        <p:sp>
          <p:nvSpPr>
            <p:cNvPr name="Freeform 81" id="81"/>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solidFill>
              <a:srgbClr val="059669"/>
            </a:solidFill>
          </p:spPr>
          <p:txBody>
            <a:bodyPr/>
            <a:p/>
          </p:txBody>
        </p:sp>
      </p:grpSp>
      <p:grpSp>
        <p:nvGrpSpPr>
          <p:cNvPr name="Group 82" id="82"/>
          <p:cNvGrpSpPr/>
          <p:nvPr/>
        </p:nvGrpSpPr>
        <p:grpSpPr>
          <a:xfrm rot="0">
            <a:off x="9235440" y="7223760"/>
            <a:ext cx="2651760" cy="731520"/>
            <a:chOff x="0" y="0"/>
            <a:chExt cx="3535680" cy="975360"/>
          </a:xfrm>
        </p:grpSpPr>
        <p:sp>
          <p:nvSpPr>
            <p:cNvPr name="Freeform 83" id="83"/>
            <p:cNvSpPr/>
            <p:nvPr/>
          </p:nvSpPr>
          <p:spPr>
            <a:xfrm flipH="false" flipV="false" rot="0">
              <a:off x="0" y="0"/>
              <a:ext cx="3535680" cy="975360"/>
            </a:xfrm>
            <a:custGeom>
              <a:avLst/>
              <a:gdLst/>
              <a:ahLst/>
              <a:cxnLst/>
              <a:rect r="r" b="b" t="t" l="l"/>
              <a:pathLst>
                <a:path h="975360" w="3535680">
                  <a:moveTo>
                    <a:pt x="0" y="0"/>
                  </a:moveTo>
                  <a:lnTo>
                    <a:pt x="3535680" y="0"/>
                  </a:lnTo>
                  <a:lnTo>
                    <a:pt x="3535680" y="975360"/>
                  </a:lnTo>
                  <a:lnTo>
                    <a:pt x="0" y="975360"/>
                  </a:lnTo>
                  <a:close/>
                </a:path>
              </a:pathLst>
            </a:custGeom>
            <a:blipFill>
              <a:blip r:embed="rId3">
                <a:alphaModFix amt="0"/>
              </a:blip>
              <a:stretch>
                <a:fillRect l="0" t="-20633" r="0" b="-20633"/>
              </a:stretch>
            </a:blipFill>
          </p:spPr>
          <p:txBody>
            <a:bodyPr/>
            <a:p/>
          </p:txBody>
        </p:sp>
        <p:sp>
          <p:nvSpPr>
            <p:cNvPr name="TextBox 84" id="84"/>
            <p:cNvSpPr txBox="true"/>
            <p:nvPr/>
          </p:nvSpPr>
          <p:spPr>
            <a:xfrm>
              <a:off x="0" y="-47625"/>
              <a:ext cx="3535680" cy="102298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Consentement</a:t>
              </a:r>
            </a:p>
          </p:txBody>
        </p:sp>
      </p:grpSp>
      <p:grpSp>
        <p:nvGrpSpPr>
          <p:cNvPr name="Group 85" id="85"/>
          <p:cNvGrpSpPr/>
          <p:nvPr/>
        </p:nvGrpSpPr>
        <p:grpSpPr>
          <a:xfrm rot="0">
            <a:off x="9509760" y="8046720"/>
            <a:ext cx="7680960" cy="585216"/>
            <a:chOff x="0" y="0"/>
            <a:chExt cx="10241280" cy="780288"/>
          </a:xfrm>
        </p:grpSpPr>
        <p:sp>
          <p:nvSpPr>
            <p:cNvPr name="Freeform 86" id="86"/>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87" id="87"/>
            <p:cNvSpPr txBox="true"/>
            <p:nvPr/>
          </p:nvSpPr>
          <p:spPr>
            <a:xfrm>
              <a:off x="0" y="-57150"/>
              <a:ext cx="10241280" cy="837438"/>
            </a:xfrm>
            <a:prstGeom prst="rect">
              <a:avLst/>
            </a:prstGeom>
          </p:spPr>
          <p:txBody>
            <a:bodyPr anchor="ctr" rtlCol="false" tIns="0" lIns="0" bIns="0" rIns="0"/>
            <a:lstStyle/>
            <a:p>
              <a:pPr algn="l">
                <a:lnSpc>
                  <a:spcPts val="3120"/>
                </a:lnSpc>
              </a:pPr>
              <a:r>
                <a:rPr lang="en-US" sz="2600" b="true">
                  <a:solidFill>
                    <a:srgbClr val="1E3A5F"/>
                  </a:solidFill>
                  <a:latin typeface="Calibri (MS) Bold"/>
                  <a:ea typeface="Calibri (MS) Bold"/>
                  <a:cs typeface="Calibri (MS) Bold"/>
                  <a:sym typeface="Calibri (MS) Bold"/>
                </a:rPr>
                <a:t>Acceptation explicite</a:t>
              </a:r>
            </a:p>
          </p:txBody>
        </p:sp>
      </p:grpSp>
      <p:grpSp>
        <p:nvGrpSpPr>
          <p:cNvPr name="Group 88" id="88"/>
          <p:cNvGrpSpPr/>
          <p:nvPr/>
        </p:nvGrpSpPr>
        <p:grpSpPr>
          <a:xfrm rot="0">
            <a:off x="9509760" y="8631936"/>
            <a:ext cx="7680960" cy="585216"/>
            <a:chOff x="0" y="0"/>
            <a:chExt cx="10241280" cy="780288"/>
          </a:xfrm>
        </p:grpSpPr>
        <p:sp>
          <p:nvSpPr>
            <p:cNvPr name="Freeform 89" id="89"/>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3">
                <a:alphaModFix amt="0"/>
              </a:blip>
              <a:stretch>
                <a:fillRect l="0" t="-205741" r="0" b="-205741"/>
              </a:stretch>
            </a:blipFill>
          </p:spPr>
          <p:txBody>
            <a:bodyPr/>
            <a:p/>
          </p:txBody>
        </p:sp>
        <p:sp>
          <p:nvSpPr>
            <p:cNvPr name="TextBox 90" id="90"/>
            <p:cNvSpPr txBox="true"/>
            <p:nvPr/>
          </p:nvSpPr>
          <p:spPr>
            <a:xfrm>
              <a:off x="0" y="-47625"/>
              <a:ext cx="10241280" cy="82791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Politique acceptée à l'inscription</a:t>
              </a:r>
            </a:p>
          </p:txBody>
        </p:sp>
      </p:grpSp>
      <p:sp>
        <p:nvSpPr>
          <p:cNvPr name="TextBox 91" id="9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2926080"/>
            <a:ext cx="16093440" cy="914400"/>
            <a:chOff x="0" y="0"/>
            <a:chExt cx="21457920" cy="1219200"/>
          </a:xfrm>
        </p:grpSpPr>
        <p:sp>
          <p:nvSpPr>
            <p:cNvPr name="Freeform 5" id="5"/>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6" id="6"/>
            <p:cNvSpPr txBox="true"/>
            <p:nvPr/>
          </p:nvSpPr>
          <p:spPr>
            <a:xfrm>
              <a:off x="0" y="-47625"/>
              <a:ext cx="21457920" cy="1266825"/>
            </a:xfrm>
            <a:prstGeom prst="rect">
              <a:avLst/>
            </a:prstGeom>
          </p:spPr>
          <p:txBody>
            <a:bodyPr anchor="ctr" rtlCol="false" tIns="0" lIns="0" bIns="0" rIns="0"/>
            <a:lstStyle/>
            <a:p>
              <a:pPr algn="l">
                <a:lnSpc>
                  <a:spcPts val="3359"/>
                </a:lnSpc>
              </a:pPr>
              <a:r>
                <a:rPr lang="en-US" sz="2799" b="true">
                  <a:solidFill>
                    <a:srgbClr val="06B6D4"/>
                  </a:solidFill>
                  <a:latin typeface="Calibri (MS) Bold"/>
                  <a:ea typeface="Calibri (MS) Bold"/>
                  <a:cs typeface="Calibri (MS) Bold"/>
                  <a:sym typeface="Calibri (MS) Bold"/>
                </a:rPr>
                <a:t>05</a:t>
              </a:r>
            </a:p>
          </p:txBody>
        </p:sp>
      </p:grpSp>
      <p:grpSp>
        <p:nvGrpSpPr>
          <p:cNvPr name="Group 7" id="7"/>
          <p:cNvGrpSpPr/>
          <p:nvPr/>
        </p:nvGrpSpPr>
        <p:grpSpPr>
          <a:xfrm rot="0">
            <a:off x="1097280" y="3749040"/>
            <a:ext cx="16093440" cy="2011680"/>
            <a:chOff x="0" y="0"/>
            <a:chExt cx="21457920" cy="2682240"/>
          </a:xfrm>
        </p:grpSpPr>
        <p:sp>
          <p:nvSpPr>
            <p:cNvPr name="Freeform 8" id="8"/>
            <p:cNvSpPr/>
            <p:nvPr/>
          </p:nvSpPr>
          <p:spPr>
            <a:xfrm flipH="false" flipV="false" rot="0">
              <a:off x="0" y="0"/>
              <a:ext cx="21457920" cy="2682240"/>
            </a:xfrm>
            <a:custGeom>
              <a:avLst/>
              <a:gdLst/>
              <a:ahLst/>
              <a:cxnLst/>
              <a:rect r="r" b="b" t="t" l="l"/>
              <a:pathLst>
                <a:path h="2682240" w="21457920">
                  <a:moveTo>
                    <a:pt x="0" y="0"/>
                  </a:moveTo>
                  <a:lnTo>
                    <a:pt x="21457920" y="0"/>
                  </a:lnTo>
                  <a:lnTo>
                    <a:pt x="21457920" y="2682240"/>
                  </a:lnTo>
                  <a:lnTo>
                    <a:pt x="0" y="2682240"/>
                  </a:lnTo>
                  <a:close/>
                </a:path>
              </a:pathLst>
            </a:custGeom>
            <a:blipFill>
              <a:blip r:embed="rId3">
                <a:alphaModFix amt="0"/>
              </a:blip>
              <a:stretch>
                <a:fillRect l="0" t="-105880" r="0" b="-105880"/>
              </a:stretch>
            </a:blipFill>
          </p:spPr>
          <p:txBody>
            <a:bodyPr/>
            <a:p/>
          </p:txBody>
        </p:sp>
        <p:sp>
          <p:nvSpPr>
            <p:cNvPr name="TextBox 9" id="9"/>
            <p:cNvSpPr txBox="true"/>
            <p:nvPr/>
          </p:nvSpPr>
          <p:spPr>
            <a:xfrm>
              <a:off x="0" y="-161925"/>
              <a:ext cx="21457920" cy="284416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Implémentation</a:t>
              </a:r>
            </a:p>
          </p:txBody>
        </p:sp>
      </p:gr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Backend — services spécialisés</a:t>
              </a:r>
            </a:p>
          </p:txBody>
        </p:sp>
      </p:grpSp>
      <p:grpSp>
        <p:nvGrpSpPr>
          <p:cNvPr name="Group 7" id="7"/>
          <p:cNvGrpSpPr/>
          <p:nvPr/>
        </p:nvGrpSpPr>
        <p:grpSpPr>
          <a:xfrm rot="0">
            <a:off x="914400" y="1920240"/>
            <a:ext cx="16459200" cy="731520"/>
            <a:chOff x="0" y="0"/>
            <a:chExt cx="21945600" cy="975360"/>
          </a:xfrm>
        </p:grpSpPr>
        <p:sp>
          <p:nvSpPr>
            <p:cNvPr name="Freeform 8" id="8"/>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txBody>
            <a:bodyPr/>
            <a:p/>
          </p:txBody>
        </p:sp>
        <p:sp>
          <p:nvSpPr>
            <p:cNvPr name="TextBox 9" id="9"/>
            <p:cNvSpPr txBox="true"/>
            <p:nvPr/>
          </p:nvSpPr>
          <p:spPr>
            <a:xfrm>
              <a:off x="0" y="-47625"/>
              <a:ext cx="21945600" cy="1022985"/>
            </a:xfrm>
            <a:prstGeom prst="rect">
              <a:avLst/>
            </a:prstGeom>
          </p:spPr>
          <p:txBody>
            <a:bodyPr anchor="ctr" rtlCol="false" tIns="0" lIns="0" bIns="0" rIns="0"/>
            <a:lstStyle/>
            <a:p>
              <a:pPr algn="ctr">
                <a:lnSpc>
                  <a:spcPts val="3359"/>
                </a:lnSpc>
              </a:pPr>
              <a:r>
                <a:rPr lang="en-US" sz="2799" i="true">
                  <a:solidFill>
                    <a:srgbClr val="64748B"/>
                  </a:solidFill>
                  <a:latin typeface="Calibri (MS) Italics"/>
                  <a:ea typeface="Calibri (MS) Italics"/>
                  <a:cs typeface="Calibri (MS) Italics"/>
                  <a:sym typeface="Calibri (MS) Italics"/>
                </a:rPr>
                <a:t>Organisation modulaire avec séparation stricte des responsabilités</a:t>
              </a:r>
            </a:p>
          </p:txBody>
        </p:sp>
      </p:grpSp>
      <p:grpSp>
        <p:nvGrpSpPr>
          <p:cNvPr name="Group 10" id="10"/>
          <p:cNvGrpSpPr/>
          <p:nvPr/>
        </p:nvGrpSpPr>
        <p:grpSpPr>
          <a:xfrm rot="0">
            <a:off x="901703" y="3004823"/>
            <a:ext cx="8163563" cy="1451867"/>
            <a:chOff x="0" y="0"/>
            <a:chExt cx="10884751" cy="1935823"/>
          </a:xfrm>
        </p:grpSpPr>
        <p:sp>
          <p:nvSpPr>
            <p:cNvPr name="Freeform 11" id="11"/>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12" id="12"/>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13" id="13"/>
          <p:cNvGrpSpPr/>
          <p:nvPr/>
        </p:nvGrpSpPr>
        <p:grpSpPr>
          <a:xfrm rot="0">
            <a:off x="914400" y="3017520"/>
            <a:ext cx="219456" cy="1426464"/>
            <a:chOff x="0" y="0"/>
            <a:chExt cx="292608" cy="1901952"/>
          </a:xfrm>
        </p:grpSpPr>
        <p:sp>
          <p:nvSpPr>
            <p:cNvPr name="Freeform 14" id="14"/>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15" id="15"/>
          <p:cNvGrpSpPr/>
          <p:nvPr/>
        </p:nvGrpSpPr>
        <p:grpSpPr>
          <a:xfrm rot="0">
            <a:off x="1371600" y="3200400"/>
            <a:ext cx="7498080" cy="548640"/>
            <a:chOff x="0" y="0"/>
            <a:chExt cx="9997440" cy="731520"/>
          </a:xfrm>
        </p:grpSpPr>
        <p:sp>
          <p:nvSpPr>
            <p:cNvPr name="Freeform 16" id="16"/>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17" id="17"/>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auth_service</a:t>
              </a:r>
            </a:p>
          </p:txBody>
        </p:sp>
      </p:grpSp>
      <p:grpSp>
        <p:nvGrpSpPr>
          <p:cNvPr name="Group 18" id="18"/>
          <p:cNvGrpSpPr/>
          <p:nvPr/>
        </p:nvGrpSpPr>
        <p:grpSpPr>
          <a:xfrm rot="0">
            <a:off x="1371600" y="3749040"/>
            <a:ext cx="7498080" cy="548640"/>
            <a:chOff x="0" y="0"/>
            <a:chExt cx="9997440" cy="731520"/>
          </a:xfrm>
        </p:grpSpPr>
        <p:sp>
          <p:nvSpPr>
            <p:cNvPr name="Freeform 19" id="19"/>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20" id="20"/>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JWT, dépendances de sécurité</a:t>
              </a:r>
            </a:p>
          </p:txBody>
        </p:sp>
      </p:grpSp>
      <p:grpSp>
        <p:nvGrpSpPr>
          <p:cNvPr name="Group 21" id="21"/>
          <p:cNvGrpSpPr/>
          <p:nvPr/>
        </p:nvGrpSpPr>
        <p:grpSpPr>
          <a:xfrm rot="0">
            <a:off x="9222743" y="3004823"/>
            <a:ext cx="8163563" cy="1451867"/>
            <a:chOff x="0" y="0"/>
            <a:chExt cx="10884751" cy="1935823"/>
          </a:xfrm>
        </p:grpSpPr>
        <p:sp>
          <p:nvSpPr>
            <p:cNvPr name="Freeform 22" id="22"/>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23" id="23"/>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24" id="24"/>
          <p:cNvGrpSpPr/>
          <p:nvPr/>
        </p:nvGrpSpPr>
        <p:grpSpPr>
          <a:xfrm rot="0">
            <a:off x="9235440" y="3017520"/>
            <a:ext cx="219456" cy="1426464"/>
            <a:chOff x="0" y="0"/>
            <a:chExt cx="292608" cy="1901952"/>
          </a:xfrm>
        </p:grpSpPr>
        <p:sp>
          <p:nvSpPr>
            <p:cNvPr name="Freeform 25" id="25"/>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26" id="26"/>
          <p:cNvGrpSpPr/>
          <p:nvPr/>
        </p:nvGrpSpPr>
        <p:grpSpPr>
          <a:xfrm rot="0">
            <a:off x="9692640" y="3200400"/>
            <a:ext cx="7498080" cy="548640"/>
            <a:chOff x="0" y="0"/>
            <a:chExt cx="9997440" cy="731520"/>
          </a:xfrm>
        </p:grpSpPr>
        <p:sp>
          <p:nvSpPr>
            <p:cNvPr name="Freeform 27" id="27"/>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28" id="28"/>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db_service</a:t>
              </a:r>
            </a:p>
          </p:txBody>
        </p:sp>
      </p:grpSp>
      <p:grpSp>
        <p:nvGrpSpPr>
          <p:cNvPr name="Group 29" id="29"/>
          <p:cNvGrpSpPr/>
          <p:nvPr/>
        </p:nvGrpSpPr>
        <p:grpSpPr>
          <a:xfrm rot="0">
            <a:off x="9692640" y="3749040"/>
            <a:ext cx="7498080" cy="548640"/>
            <a:chOff x="0" y="0"/>
            <a:chExt cx="9997440" cy="731520"/>
          </a:xfrm>
        </p:grpSpPr>
        <p:sp>
          <p:nvSpPr>
            <p:cNvPr name="Freeform 30" id="30"/>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31" id="31"/>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CRUD PostgreSQL via SQLAlchemy</a:t>
              </a:r>
            </a:p>
          </p:txBody>
        </p:sp>
      </p:grpSp>
      <p:grpSp>
        <p:nvGrpSpPr>
          <p:cNvPr name="Group 32" id="32"/>
          <p:cNvGrpSpPr/>
          <p:nvPr/>
        </p:nvGrpSpPr>
        <p:grpSpPr>
          <a:xfrm rot="0">
            <a:off x="901703" y="4614167"/>
            <a:ext cx="8163563" cy="1451867"/>
            <a:chOff x="0" y="0"/>
            <a:chExt cx="10884751" cy="1935823"/>
          </a:xfrm>
        </p:grpSpPr>
        <p:sp>
          <p:nvSpPr>
            <p:cNvPr name="Freeform 33" id="33"/>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34" id="34"/>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35" id="35"/>
          <p:cNvGrpSpPr/>
          <p:nvPr/>
        </p:nvGrpSpPr>
        <p:grpSpPr>
          <a:xfrm rot="0">
            <a:off x="914400" y="4626864"/>
            <a:ext cx="219456" cy="1426464"/>
            <a:chOff x="0" y="0"/>
            <a:chExt cx="292608" cy="1901952"/>
          </a:xfrm>
        </p:grpSpPr>
        <p:sp>
          <p:nvSpPr>
            <p:cNvPr name="Freeform 36" id="36"/>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37" id="37"/>
          <p:cNvGrpSpPr/>
          <p:nvPr/>
        </p:nvGrpSpPr>
        <p:grpSpPr>
          <a:xfrm rot="0">
            <a:off x="1371600" y="4809744"/>
            <a:ext cx="7498080" cy="548640"/>
            <a:chOff x="0" y="0"/>
            <a:chExt cx="9997440" cy="731520"/>
          </a:xfrm>
        </p:grpSpPr>
        <p:sp>
          <p:nvSpPr>
            <p:cNvPr name="Freeform 38" id="38"/>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39" id="39"/>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router_service</a:t>
              </a:r>
            </a:p>
          </p:txBody>
        </p:sp>
      </p:grpSp>
      <p:grpSp>
        <p:nvGrpSpPr>
          <p:cNvPr name="Group 40" id="40"/>
          <p:cNvGrpSpPr/>
          <p:nvPr/>
        </p:nvGrpSpPr>
        <p:grpSpPr>
          <a:xfrm rot="0">
            <a:off x="1371600" y="5358384"/>
            <a:ext cx="7498080" cy="548640"/>
            <a:chOff x="0" y="0"/>
            <a:chExt cx="9997440" cy="731520"/>
          </a:xfrm>
        </p:grpSpPr>
        <p:sp>
          <p:nvSpPr>
            <p:cNvPr name="Freeform 41" id="41"/>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42" id="42"/>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Routage FAQ / EDT, résolution filière</a:t>
              </a:r>
            </a:p>
          </p:txBody>
        </p:sp>
      </p:grpSp>
      <p:grpSp>
        <p:nvGrpSpPr>
          <p:cNvPr name="Group 43" id="43"/>
          <p:cNvGrpSpPr/>
          <p:nvPr/>
        </p:nvGrpSpPr>
        <p:grpSpPr>
          <a:xfrm rot="0">
            <a:off x="9222743" y="4614167"/>
            <a:ext cx="8163563" cy="1451867"/>
            <a:chOff x="0" y="0"/>
            <a:chExt cx="10884751" cy="1935823"/>
          </a:xfrm>
        </p:grpSpPr>
        <p:sp>
          <p:nvSpPr>
            <p:cNvPr name="Freeform 44" id="44"/>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45" id="45"/>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46" id="46"/>
          <p:cNvGrpSpPr/>
          <p:nvPr/>
        </p:nvGrpSpPr>
        <p:grpSpPr>
          <a:xfrm rot="0">
            <a:off x="9235440" y="4626864"/>
            <a:ext cx="219456" cy="1426464"/>
            <a:chOff x="0" y="0"/>
            <a:chExt cx="292608" cy="1901952"/>
          </a:xfrm>
        </p:grpSpPr>
        <p:sp>
          <p:nvSpPr>
            <p:cNvPr name="Freeform 47" id="47"/>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48" id="48"/>
          <p:cNvGrpSpPr/>
          <p:nvPr/>
        </p:nvGrpSpPr>
        <p:grpSpPr>
          <a:xfrm rot="0">
            <a:off x="9692640" y="4809744"/>
            <a:ext cx="7498080" cy="548640"/>
            <a:chOff x="0" y="0"/>
            <a:chExt cx="9997440" cy="731520"/>
          </a:xfrm>
        </p:grpSpPr>
        <p:sp>
          <p:nvSpPr>
            <p:cNvPr name="Freeform 49" id="49"/>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50" id="50"/>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rag_service</a:t>
              </a:r>
            </a:p>
          </p:txBody>
        </p:sp>
      </p:grpSp>
      <p:grpSp>
        <p:nvGrpSpPr>
          <p:cNvPr name="Group 51" id="51"/>
          <p:cNvGrpSpPr/>
          <p:nvPr/>
        </p:nvGrpSpPr>
        <p:grpSpPr>
          <a:xfrm rot="0">
            <a:off x="9692640" y="5358384"/>
            <a:ext cx="7498080" cy="548640"/>
            <a:chOff x="0" y="0"/>
            <a:chExt cx="9997440" cy="731520"/>
          </a:xfrm>
        </p:grpSpPr>
        <p:sp>
          <p:nvSpPr>
            <p:cNvPr name="Freeform 52" id="52"/>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53" id="53"/>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FastEmbed, recherche Qdrant</a:t>
              </a:r>
            </a:p>
          </p:txBody>
        </p:sp>
      </p:grpSp>
      <p:grpSp>
        <p:nvGrpSpPr>
          <p:cNvPr name="Group 54" id="54"/>
          <p:cNvGrpSpPr/>
          <p:nvPr/>
        </p:nvGrpSpPr>
        <p:grpSpPr>
          <a:xfrm rot="0">
            <a:off x="901703" y="6223511"/>
            <a:ext cx="8163563" cy="1451867"/>
            <a:chOff x="0" y="0"/>
            <a:chExt cx="10884751" cy="1935823"/>
          </a:xfrm>
        </p:grpSpPr>
        <p:sp>
          <p:nvSpPr>
            <p:cNvPr name="Freeform 55" id="55"/>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56" id="56"/>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57" id="57"/>
          <p:cNvGrpSpPr/>
          <p:nvPr/>
        </p:nvGrpSpPr>
        <p:grpSpPr>
          <a:xfrm rot="0">
            <a:off x="914400" y="6236208"/>
            <a:ext cx="219456" cy="1426464"/>
            <a:chOff x="0" y="0"/>
            <a:chExt cx="292608" cy="1901952"/>
          </a:xfrm>
        </p:grpSpPr>
        <p:sp>
          <p:nvSpPr>
            <p:cNvPr name="Freeform 58" id="58"/>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59" id="59"/>
          <p:cNvGrpSpPr/>
          <p:nvPr/>
        </p:nvGrpSpPr>
        <p:grpSpPr>
          <a:xfrm rot="0">
            <a:off x="1371600" y="6419088"/>
            <a:ext cx="7498080" cy="548640"/>
            <a:chOff x="0" y="0"/>
            <a:chExt cx="9997440" cy="731520"/>
          </a:xfrm>
        </p:grpSpPr>
        <p:sp>
          <p:nvSpPr>
            <p:cNvPr name="Freeform 60" id="60"/>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61" id="61"/>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groq_service</a:t>
              </a:r>
            </a:p>
          </p:txBody>
        </p:sp>
      </p:grpSp>
      <p:grpSp>
        <p:nvGrpSpPr>
          <p:cNvPr name="Group 62" id="62"/>
          <p:cNvGrpSpPr/>
          <p:nvPr/>
        </p:nvGrpSpPr>
        <p:grpSpPr>
          <a:xfrm rot="0">
            <a:off x="1371600" y="6967728"/>
            <a:ext cx="7498080" cy="548640"/>
            <a:chOff x="0" y="0"/>
            <a:chExt cx="9997440" cy="731520"/>
          </a:xfrm>
        </p:grpSpPr>
        <p:sp>
          <p:nvSpPr>
            <p:cNvPr name="Freeform 63" id="63"/>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64" id="64"/>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Appels LLM, masquage PII</a:t>
              </a:r>
            </a:p>
          </p:txBody>
        </p:sp>
      </p:grpSp>
      <p:grpSp>
        <p:nvGrpSpPr>
          <p:cNvPr name="Group 65" id="65"/>
          <p:cNvGrpSpPr/>
          <p:nvPr/>
        </p:nvGrpSpPr>
        <p:grpSpPr>
          <a:xfrm rot="0">
            <a:off x="9222743" y="6223511"/>
            <a:ext cx="8163563" cy="1451867"/>
            <a:chOff x="0" y="0"/>
            <a:chExt cx="10884751" cy="1935823"/>
          </a:xfrm>
        </p:grpSpPr>
        <p:sp>
          <p:nvSpPr>
            <p:cNvPr name="Freeform 66" id="66"/>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67" id="67"/>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68" id="68"/>
          <p:cNvGrpSpPr/>
          <p:nvPr/>
        </p:nvGrpSpPr>
        <p:grpSpPr>
          <a:xfrm rot="0">
            <a:off x="9235440" y="6236208"/>
            <a:ext cx="219456" cy="1426464"/>
            <a:chOff x="0" y="0"/>
            <a:chExt cx="292608" cy="1901952"/>
          </a:xfrm>
        </p:grpSpPr>
        <p:sp>
          <p:nvSpPr>
            <p:cNvPr name="Freeform 69" id="69"/>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70" id="70"/>
          <p:cNvGrpSpPr/>
          <p:nvPr/>
        </p:nvGrpSpPr>
        <p:grpSpPr>
          <a:xfrm rot="0">
            <a:off x="9692640" y="6419088"/>
            <a:ext cx="7498080" cy="548640"/>
            <a:chOff x="0" y="0"/>
            <a:chExt cx="9997440" cy="731520"/>
          </a:xfrm>
        </p:grpSpPr>
        <p:sp>
          <p:nvSpPr>
            <p:cNvPr name="Freeform 71" id="71"/>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72" id="72"/>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cache_service</a:t>
              </a:r>
            </a:p>
          </p:txBody>
        </p:sp>
      </p:grpSp>
      <p:grpSp>
        <p:nvGrpSpPr>
          <p:cNvPr name="Group 73" id="73"/>
          <p:cNvGrpSpPr/>
          <p:nvPr/>
        </p:nvGrpSpPr>
        <p:grpSpPr>
          <a:xfrm rot="0">
            <a:off x="9692640" y="6967728"/>
            <a:ext cx="7498080" cy="548640"/>
            <a:chOff x="0" y="0"/>
            <a:chExt cx="9997440" cy="731520"/>
          </a:xfrm>
        </p:grpSpPr>
        <p:sp>
          <p:nvSpPr>
            <p:cNvPr name="Freeform 74" id="74"/>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75" id="75"/>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Redis L1/L2, invalidation</a:t>
              </a:r>
            </a:p>
          </p:txBody>
        </p:sp>
      </p:grpSp>
      <p:grpSp>
        <p:nvGrpSpPr>
          <p:cNvPr name="Group 76" id="76"/>
          <p:cNvGrpSpPr/>
          <p:nvPr/>
        </p:nvGrpSpPr>
        <p:grpSpPr>
          <a:xfrm rot="0">
            <a:off x="901703" y="7832855"/>
            <a:ext cx="8163563" cy="1451867"/>
            <a:chOff x="0" y="0"/>
            <a:chExt cx="10884751" cy="1935823"/>
          </a:xfrm>
        </p:grpSpPr>
        <p:sp>
          <p:nvSpPr>
            <p:cNvPr name="Freeform 77" id="77"/>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78" id="78"/>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79" id="79"/>
          <p:cNvGrpSpPr/>
          <p:nvPr/>
        </p:nvGrpSpPr>
        <p:grpSpPr>
          <a:xfrm rot="0">
            <a:off x="914400" y="7845552"/>
            <a:ext cx="219456" cy="1426464"/>
            <a:chOff x="0" y="0"/>
            <a:chExt cx="292608" cy="1901952"/>
          </a:xfrm>
        </p:grpSpPr>
        <p:sp>
          <p:nvSpPr>
            <p:cNvPr name="Freeform 80" id="80"/>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81" id="81"/>
          <p:cNvGrpSpPr/>
          <p:nvPr/>
        </p:nvGrpSpPr>
        <p:grpSpPr>
          <a:xfrm rot="0">
            <a:off x="1371600" y="8028432"/>
            <a:ext cx="7498080" cy="548640"/>
            <a:chOff x="0" y="0"/>
            <a:chExt cx="9997440" cy="731520"/>
          </a:xfrm>
        </p:grpSpPr>
        <p:sp>
          <p:nvSpPr>
            <p:cNvPr name="Freeform 82" id="82"/>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83" id="83"/>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limiter_service</a:t>
              </a:r>
            </a:p>
          </p:txBody>
        </p:sp>
      </p:grpSp>
      <p:grpSp>
        <p:nvGrpSpPr>
          <p:cNvPr name="Group 84" id="84"/>
          <p:cNvGrpSpPr/>
          <p:nvPr/>
        </p:nvGrpSpPr>
        <p:grpSpPr>
          <a:xfrm rot="0">
            <a:off x="1371600" y="8577072"/>
            <a:ext cx="7498080" cy="548640"/>
            <a:chOff x="0" y="0"/>
            <a:chExt cx="9997440" cy="731520"/>
          </a:xfrm>
        </p:grpSpPr>
        <p:sp>
          <p:nvSpPr>
            <p:cNvPr name="Freeform 85" id="85"/>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86" id="86"/>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Limitation de débit SlowAPI</a:t>
              </a:r>
            </a:p>
          </p:txBody>
        </p:sp>
      </p:grpSp>
      <p:grpSp>
        <p:nvGrpSpPr>
          <p:cNvPr name="Group 87" id="87"/>
          <p:cNvGrpSpPr/>
          <p:nvPr/>
        </p:nvGrpSpPr>
        <p:grpSpPr>
          <a:xfrm rot="0">
            <a:off x="9222743" y="7832855"/>
            <a:ext cx="8163563" cy="1451867"/>
            <a:chOff x="0" y="0"/>
            <a:chExt cx="10884751" cy="1935823"/>
          </a:xfrm>
        </p:grpSpPr>
        <p:sp>
          <p:nvSpPr>
            <p:cNvPr name="Freeform 88" id="88"/>
            <p:cNvSpPr/>
            <p:nvPr/>
          </p:nvSpPr>
          <p:spPr>
            <a:xfrm flipH="false" flipV="false" rot="0">
              <a:off x="16891" y="16891"/>
              <a:ext cx="10850881" cy="1901952"/>
            </a:xfrm>
            <a:custGeom>
              <a:avLst/>
              <a:gdLst/>
              <a:ahLst/>
              <a:cxnLst/>
              <a:rect r="r" b="b" t="t" l="l"/>
              <a:pathLst>
                <a:path h="1901952" w="10850881">
                  <a:moveTo>
                    <a:pt x="0" y="0"/>
                  </a:moveTo>
                  <a:lnTo>
                    <a:pt x="10850881" y="0"/>
                  </a:lnTo>
                  <a:lnTo>
                    <a:pt x="10850881" y="1901952"/>
                  </a:lnTo>
                  <a:lnTo>
                    <a:pt x="0" y="1901952"/>
                  </a:lnTo>
                  <a:close/>
                </a:path>
              </a:pathLst>
            </a:custGeom>
            <a:solidFill>
              <a:srgbClr val="FFFFFF"/>
            </a:solidFill>
          </p:spPr>
          <p:txBody>
            <a:bodyPr/>
            <a:p/>
          </p:txBody>
        </p:sp>
        <p:sp>
          <p:nvSpPr>
            <p:cNvPr name="Freeform 89" id="89"/>
            <p:cNvSpPr/>
            <p:nvPr/>
          </p:nvSpPr>
          <p:spPr>
            <a:xfrm flipH="false" flipV="false" rot="0">
              <a:off x="0" y="0"/>
              <a:ext cx="10884662" cy="1935734"/>
            </a:xfrm>
            <a:custGeom>
              <a:avLst/>
              <a:gdLst/>
              <a:ahLst/>
              <a:cxnLst/>
              <a:rect r="r" b="b" t="t" l="l"/>
              <a:pathLst>
                <a:path h="1935734" w="10884662">
                  <a:moveTo>
                    <a:pt x="16891" y="0"/>
                  </a:moveTo>
                  <a:lnTo>
                    <a:pt x="10867772" y="0"/>
                  </a:lnTo>
                  <a:cubicBezTo>
                    <a:pt x="10877169" y="0"/>
                    <a:pt x="10884662" y="7620"/>
                    <a:pt x="10884662" y="16891"/>
                  </a:cubicBezTo>
                  <a:lnTo>
                    <a:pt x="10884662" y="1918843"/>
                  </a:lnTo>
                  <a:cubicBezTo>
                    <a:pt x="10884662" y="1928241"/>
                    <a:pt x="10877042" y="1935734"/>
                    <a:pt x="10867772"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0867772" y="1901952"/>
                  </a:lnTo>
                  <a:lnTo>
                    <a:pt x="10867772" y="1918843"/>
                  </a:lnTo>
                  <a:lnTo>
                    <a:pt x="10850880" y="1918843"/>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90" id="90"/>
          <p:cNvGrpSpPr/>
          <p:nvPr/>
        </p:nvGrpSpPr>
        <p:grpSpPr>
          <a:xfrm rot="0">
            <a:off x="9235440" y="7845552"/>
            <a:ext cx="219456" cy="1426464"/>
            <a:chOff x="0" y="0"/>
            <a:chExt cx="292608" cy="1901952"/>
          </a:xfrm>
        </p:grpSpPr>
        <p:sp>
          <p:nvSpPr>
            <p:cNvPr name="Freeform 91" id="91"/>
            <p:cNvSpPr/>
            <p:nvPr/>
          </p:nvSpPr>
          <p:spPr>
            <a:xfrm flipH="false" flipV="false" rot="0">
              <a:off x="0" y="0"/>
              <a:ext cx="292608" cy="1901952"/>
            </a:xfrm>
            <a:custGeom>
              <a:avLst/>
              <a:gdLst/>
              <a:ahLst/>
              <a:cxnLst/>
              <a:rect r="r" b="b" t="t" l="l"/>
              <a:pathLst>
                <a:path h="1901952" w="292608">
                  <a:moveTo>
                    <a:pt x="0" y="0"/>
                  </a:moveTo>
                  <a:lnTo>
                    <a:pt x="292608" y="0"/>
                  </a:lnTo>
                  <a:lnTo>
                    <a:pt x="292608" y="1901952"/>
                  </a:lnTo>
                  <a:lnTo>
                    <a:pt x="0" y="1901952"/>
                  </a:lnTo>
                  <a:close/>
                </a:path>
              </a:pathLst>
            </a:custGeom>
            <a:solidFill>
              <a:srgbClr val="2563EB"/>
            </a:solidFill>
          </p:spPr>
          <p:txBody>
            <a:bodyPr/>
            <a:p/>
          </p:txBody>
        </p:sp>
      </p:grpSp>
      <p:grpSp>
        <p:nvGrpSpPr>
          <p:cNvPr name="Group 92" id="92"/>
          <p:cNvGrpSpPr/>
          <p:nvPr/>
        </p:nvGrpSpPr>
        <p:grpSpPr>
          <a:xfrm rot="0">
            <a:off x="9692640" y="8028432"/>
            <a:ext cx="7498080" cy="548640"/>
            <a:chOff x="0" y="0"/>
            <a:chExt cx="9997440" cy="731520"/>
          </a:xfrm>
        </p:grpSpPr>
        <p:sp>
          <p:nvSpPr>
            <p:cNvPr name="Freeform 93" id="93"/>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94" id="94"/>
            <p:cNvSpPr txBox="true"/>
            <p:nvPr/>
          </p:nvSpPr>
          <p:spPr>
            <a:xfrm>
              <a:off x="0" y="-57150"/>
              <a:ext cx="9997440" cy="788670"/>
            </a:xfrm>
            <a:prstGeom prst="rect">
              <a:avLst/>
            </a:prstGeom>
          </p:spPr>
          <p:txBody>
            <a:bodyPr anchor="ctr" rtlCol="false" tIns="0" lIns="0" bIns="0" rIns="0"/>
            <a:lstStyle/>
            <a:p>
              <a:pPr algn="l">
                <a:lnSpc>
                  <a:spcPts val="3120"/>
                </a:lnSpc>
              </a:pPr>
              <a:r>
                <a:rPr lang="en-US" sz="2600" b="true">
                  <a:solidFill>
                    <a:srgbClr val="2563EB"/>
                  </a:solidFill>
                  <a:latin typeface="Consolas Bold"/>
                  <a:ea typeface="Consolas Bold"/>
                  <a:cs typeface="Consolas Bold"/>
                  <a:sym typeface="Consolas Bold"/>
                </a:rPr>
                <a:t>logging_service</a:t>
              </a:r>
            </a:p>
          </p:txBody>
        </p:sp>
      </p:grpSp>
      <p:grpSp>
        <p:nvGrpSpPr>
          <p:cNvPr name="Group 95" id="95"/>
          <p:cNvGrpSpPr/>
          <p:nvPr/>
        </p:nvGrpSpPr>
        <p:grpSpPr>
          <a:xfrm rot="0">
            <a:off x="9692640" y="8577072"/>
            <a:ext cx="7498080" cy="548640"/>
            <a:chOff x="0" y="0"/>
            <a:chExt cx="9997440" cy="731520"/>
          </a:xfrm>
        </p:grpSpPr>
        <p:sp>
          <p:nvSpPr>
            <p:cNvPr name="Freeform 96" id="96"/>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txBody>
            <a:bodyPr/>
            <a:p/>
          </p:txBody>
        </p:sp>
        <p:sp>
          <p:nvSpPr>
            <p:cNvPr name="TextBox 97" id="97"/>
            <p:cNvSpPr txBox="true"/>
            <p:nvPr/>
          </p:nvSpPr>
          <p:spPr>
            <a:xfrm>
              <a:off x="0" y="-47625"/>
              <a:ext cx="9997440" cy="779145"/>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Journalisation structurée Loguru</a:t>
              </a:r>
            </a:p>
          </p:txBody>
        </p:sp>
      </p:grpSp>
      <p:sp>
        <p:nvSpPr>
          <p:cNvPr name="TextBox 98" id="9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Frontend — fonctionnalités</a:t>
              </a:r>
            </a:p>
          </p:txBody>
        </p:sp>
      </p:grpSp>
      <p:grpSp>
        <p:nvGrpSpPr>
          <p:cNvPr name="Group 7" id="7"/>
          <p:cNvGrpSpPr/>
          <p:nvPr/>
        </p:nvGrpSpPr>
        <p:grpSpPr>
          <a:xfrm rot="0">
            <a:off x="1084583" y="2273303"/>
            <a:ext cx="16118843" cy="1268987"/>
            <a:chOff x="0" y="0"/>
            <a:chExt cx="21491791" cy="1691983"/>
          </a:xfrm>
        </p:grpSpPr>
        <p:sp>
          <p:nvSpPr>
            <p:cNvPr name="Freeform 8" id="8"/>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9" id="9"/>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10" id="10"/>
          <p:cNvGrpSpPr/>
          <p:nvPr/>
        </p:nvGrpSpPr>
        <p:grpSpPr>
          <a:xfrm rot="0">
            <a:off x="1554480" y="2560320"/>
            <a:ext cx="731520" cy="731520"/>
            <a:chOff x="0" y="0"/>
            <a:chExt cx="975360" cy="975360"/>
          </a:xfrm>
        </p:grpSpPr>
        <p:sp>
          <p:nvSpPr>
            <p:cNvPr name="Freeform 11" id="11"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2743200" y="2432304"/>
            <a:ext cx="5486400" cy="585216"/>
            <a:chOff x="0" y="0"/>
            <a:chExt cx="7315200" cy="780288"/>
          </a:xfrm>
        </p:grpSpPr>
        <p:sp>
          <p:nvSpPr>
            <p:cNvPr name="Freeform 13" id="13"/>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14" id="14"/>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Streaming SSE</a:t>
              </a:r>
            </a:p>
          </p:txBody>
        </p:sp>
      </p:grpSp>
      <p:grpSp>
        <p:nvGrpSpPr>
          <p:cNvPr name="Group 15" id="15"/>
          <p:cNvGrpSpPr/>
          <p:nvPr/>
        </p:nvGrpSpPr>
        <p:grpSpPr>
          <a:xfrm rot="0">
            <a:off x="2743200" y="2944368"/>
            <a:ext cx="13898880" cy="548640"/>
            <a:chOff x="0" y="0"/>
            <a:chExt cx="18531840" cy="731520"/>
          </a:xfrm>
        </p:grpSpPr>
        <p:sp>
          <p:nvSpPr>
            <p:cNvPr name="Freeform 16" id="16"/>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17" id="17"/>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Effet de frappe progressif, comme ChatGPT</a:t>
              </a:r>
            </a:p>
          </p:txBody>
        </p:sp>
      </p:grpSp>
      <p:grpSp>
        <p:nvGrpSpPr>
          <p:cNvPr name="Group 18" id="18"/>
          <p:cNvGrpSpPr/>
          <p:nvPr/>
        </p:nvGrpSpPr>
        <p:grpSpPr>
          <a:xfrm rot="0">
            <a:off x="1084583" y="3699767"/>
            <a:ext cx="16118843" cy="1268987"/>
            <a:chOff x="0" y="0"/>
            <a:chExt cx="21491791" cy="1691983"/>
          </a:xfrm>
        </p:grpSpPr>
        <p:sp>
          <p:nvSpPr>
            <p:cNvPr name="Freeform 19" id="19"/>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20" id="20"/>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21" id="21"/>
          <p:cNvGrpSpPr/>
          <p:nvPr/>
        </p:nvGrpSpPr>
        <p:grpSpPr>
          <a:xfrm rot="0">
            <a:off x="1554480" y="3986784"/>
            <a:ext cx="731520" cy="731520"/>
            <a:chOff x="0" y="0"/>
            <a:chExt cx="975360" cy="975360"/>
          </a:xfrm>
        </p:grpSpPr>
        <p:sp>
          <p:nvSpPr>
            <p:cNvPr name="Freeform 22" id="22"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2743200" y="3858768"/>
            <a:ext cx="5486400" cy="585216"/>
            <a:chOff x="0" y="0"/>
            <a:chExt cx="7315200" cy="780288"/>
          </a:xfrm>
        </p:grpSpPr>
        <p:sp>
          <p:nvSpPr>
            <p:cNvPr name="Freeform 24" id="24"/>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25" id="25"/>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Trois langues</a:t>
              </a:r>
            </a:p>
          </p:txBody>
        </p:sp>
      </p:grpSp>
      <p:grpSp>
        <p:nvGrpSpPr>
          <p:cNvPr name="Group 26" id="26"/>
          <p:cNvGrpSpPr/>
          <p:nvPr/>
        </p:nvGrpSpPr>
        <p:grpSpPr>
          <a:xfrm rot="0">
            <a:off x="2743200" y="4370832"/>
            <a:ext cx="13898880" cy="548640"/>
            <a:chOff x="0" y="0"/>
            <a:chExt cx="18531840" cy="731520"/>
          </a:xfrm>
        </p:grpSpPr>
        <p:sp>
          <p:nvSpPr>
            <p:cNvPr name="Freeform 27" id="27"/>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28" id="28"/>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Détection auto · RTL complet pour l'arabe</a:t>
              </a:r>
            </a:p>
          </p:txBody>
        </p:sp>
      </p:grpSp>
      <p:grpSp>
        <p:nvGrpSpPr>
          <p:cNvPr name="Group 29" id="29"/>
          <p:cNvGrpSpPr/>
          <p:nvPr/>
        </p:nvGrpSpPr>
        <p:grpSpPr>
          <a:xfrm rot="0">
            <a:off x="1084583" y="5126231"/>
            <a:ext cx="16118843" cy="1268987"/>
            <a:chOff x="0" y="0"/>
            <a:chExt cx="21491791" cy="1691983"/>
          </a:xfrm>
        </p:grpSpPr>
        <p:sp>
          <p:nvSpPr>
            <p:cNvPr name="Freeform 30" id="30"/>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31" id="31"/>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32" id="32"/>
          <p:cNvGrpSpPr/>
          <p:nvPr/>
        </p:nvGrpSpPr>
        <p:grpSpPr>
          <a:xfrm rot="0">
            <a:off x="1554480" y="5413248"/>
            <a:ext cx="731520" cy="731520"/>
            <a:chOff x="0" y="0"/>
            <a:chExt cx="975360" cy="975360"/>
          </a:xfrm>
        </p:grpSpPr>
        <p:sp>
          <p:nvSpPr>
            <p:cNvPr name="Freeform 33" id="33"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2743200" y="5285232"/>
            <a:ext cx="5486400" cy="585216"/>
            <a:chOff x="0" y="0"/>
            <a:chExt cx="7315200" cy="780288"/>
          </a:xfrm>
        </p:grpSpPr>
        <p:sp>
          <p:nvSpPr>
            <p:cNvPr name="Freeform 35" id="35"/>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36" id="36"/>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Historique</a:t>
              </a:r>
            </a:p>
          </p:txBody>
        </p:sp>
      </p:grpSp>
      <p:grpSp>
        <p:nvGrpSpPr>
          <p:cNvPr name="Group 37" id="37"/>
          <p:cNvGrpSpPr/>
          <p:nvPr/>
        </p:nvGrpSpPr>
        <p:grpSpPr>
          <a:xfrm rot="0">
            <a:off x="2743200" y="5797296"/>
            <a:ext cx="13898880" cy="548640"/>
            <a:chOff x="0" y="0"/>
            <a:chExt cx="18531840" cy="731520"/>
          </a:xfrm>
        </p:grpSpPr>
        <p:sp>
          <p:nvSpPr>
            <p:cNvPr name="Freeform 38" id="38"/>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39" id="39"/>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Conversations sauvegardées, feedback +/−</a:t>
              </a:r>
            </a:p>
          </p:txBody>
        </p:sp>
      </p:grpSp>
      <p:grpSp>
        <p:nvGrpSpPr>
          <p:cNvPr name="Group 40" id="40"/>
          <p:cNvGrpSpPr/>
          <p:nvPr/>
        </p:nvGrpSpPr>
        <p:grpSpPr>
          <a:xfrm rot="0">
            <a:off x="1084583" y="6552695"/>
            <a:ext cx="16118843" cy="1268987"/>
            <a:chOff x="0" y="0"/>
            <a:chExt cx="21491791" cy="1691983"/>
          </a:xfrm>
        </p:grpSpPr>
        <p:sp>
          <p:nvSpPr>
            <p:cNvPr name="Freeform 41" id="41"/>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42" id="42"/>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43" id="43"/>
          <p:cNvGrpSpPr/>
          <p:nvPr/>
        </p:nvGrpSpPr>
        <p:grpSpPr>
          <a:xfrm rot="0">
            <a:off x="1554480" y="6839712"/>
            <a:ext cx="731520" cy="731520"/>
            <a:chOff x="0" y="0"/>
            <a:chExt cx="975360" cy="975360"/>
          </a:xfrm>
        </p:grpSpPr>
        <p:sp>
          <p:nvSpPr>
            <p:cNvPr name="Freeform 44" id="44"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txBody>
            <a:bodyPr/>
            <a:p/>
          </p:txBody>
        </p:sp>
      </p:grpSp>
      <p:grpSp>
        <p:nvGrpSpPr>
          <p:cNvPr name="Group 45" id="45"/>
          <p:cNvGrpSpPr/>
          <p:nvPr/>
        </p:nvGrpSpPr>
        <p:grpSpPr>
          <a:xfrm rot="0">
            <a:off x="2743200" y="6711696"/>
            <a:ext cx="5486400" cy="585216"/>
            <a:chOff x="0" y="0"/>
            <a:chExt cx="7315200" cy="780288"/>
          </a:xfrm>
        </p:grpSpPr>
        <p:sp>
          <p:nvSpPr>
            <p:cNvPr name="Freeform 46" id="46"/>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47" id="47"/>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Routes protégées</a:t>
              </a:r>
            </a:p>
          </p:txBody>
        </p:sp>
      </p:grpSp>
      <p:grpSp>
        <p:nvGrpSpPr>
          <p:cNvPr name="Group 48" id="48"/>
          <p:cNvGrpSpPr/>
          <p:nvPr/>
        </p:nvGrpSpPr>
        <p:grpSpPr>
          <a:xfrm rot="0">
            <a:off x="2743200" y="7223760"/>
            <a:ext cx="13898880" cy="548640"/>
            <a:chOff x="0" y="0"/>
            <a:chExt cx="18531840" cy="731520"/>
          </a:xfrm>
        </p:grpSpPr>
        <p:sp>
          <p:nvSpPr>
            <p:cNvPr name="Freeform 49" id="49"/>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50" id="50"/>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Middleware Next.js + intercepteur Axios</a:t>
              </a:r>
            </a:p>
          </p:txBody>
        </p:sp>
      </p:grpSp>
      <p:grpSp>
        <p:nvGrpSpPr>
          <p:cNvPr name="Group 51" id="51"/>
          <p:cNvGrpSpPr/>
          <p:nvPr/>
        </p:nvGrpSpPr>
        <p:grpSpPr>
          <a:xfrm rot="0">
            <a:off x="1084583" y="7979159"/>
            <a:ext cx="16118843" cy="1268987"/>
            <a:chOff x="0" y="0"/>
            <a:chExt cx="21491791" cy="1691983"/>
          </a:xfrm>
        </p:grpSpPr>
        <p:sp>
          <p:nvSpPr>
            <p:cNvPr name="Freeform 52" id="52"/>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53" id="53"/>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54" id="54"/>
          <p:cNvGrpSpPr/>
          <p:nvPr/>
        </p:nvGrpSpPr>
        <p:grpSpPr>
          <a:xfrm rot="0">
            <a:off x="1554480" y="8266176"/>
            <a:ext cx="731520" cy="731520"/>
            <a:chOff x="0" y="0"/>
            <a:chExt cx="975360" cy="975360"/>
          </a:xfrm>
        </p:grpSpPr>
        <p:sp>
          <p:nvSpPr>
            <p:cNvPr name="Freeform 55" id="55"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8"/>
              <a:stretch>
                <a:fillRect l="0" t="0" r="0" b="0"/>
              </a:stretch>
            </a:blipFill>
          </p:spPr>
          <p:txBody>
            <a:bodyPr/>
            <a:p/>
          </p:txBody>
        </p:sp>
      </p:grpSp>
      <p:grpSp>
        <p:nvGrpSpPr>
          <p:cNvPr name="Group 56" id="56"/>
          <p:cNvGrpSpPr/>
          <p:nvPr/>
        </p:nvGrpSpPr>
        <p:grpSpPr>
          <a:xfrm rot="0">
            <a:off x="2743200" y="8138160"/>
            <a:ext cx="5486400" cy="585216"/>
            <a:chOff x="0" y="0"/>
            <a:chExt cx="7315200" cy="780288"/>
          </a:xfrm>
        </p:grpSpPr>
        <p:sp>
          <p:nvSpPr>
            <p:cNvPr name="Freeform 57" id="57"/>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58" id="58"/>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Emploi du temps</a:t>
              </a:r>
            </a:p>
          </p:txBody>
        </p:sp>
      </p:grpSp>
      <p:grpSp>
        <p:nvGrpSpPr>
          <p:cNvPr name="Group 59" id="59"/>
          <p:cNvGrpSpPr/>
          <p:nvPr/>
        </p:nvGrpSpPr>
        <p:grpSpPr>
          <a:xfrm rot="0">
            <a:off x="2743200" y="8650224"/>
            <a:ext cx="13898880" cy="548640"/>
            <a:chOff x="0" y="0"/>
            <a:chExt cx="18531840" cy="731520"/>
          </a:xfrm>
        </p:grpSpPr>
        <p:sp>
          <p:nvSpPr>
            <p:cNvPr name="Freeform 60" id="60"/>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61" id="61"/>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Grille visuelle TimetableGrid responsive</a:t>
              </a:r>
            </a:p>
          </p:txBody>
        </p:sp>
      </p:grpSp>
      <p:sp>
        <p:nvSpPr>
          <p:cNvPr name="AutoShape 62" id="62"/>
          <p:cNvSpPr/>
          <p:nvPr/>
        </p:nvSpPr>
        <p:spPr>
          <a:xfrm>
            <a:off x="5897880" y="5143500"/>
            <a:ext cx="6492240" cy="0"/>
          </a:xfrm>
          <a:prstGeom prst="line">
            <a:avLst/>
          </a:prstGeom>
          <a:ln cap="flat" w="38100">
            <a:solidFill>
              <a:srgbClr val="000000"/>
            </a:solidFill>
            <a:prstDash val="solid"/>
            <a:headEnd type="none" len="sm" w="sm"/>
            <a:tailEnd type="none" len="sm" w="sm"/>
          </a:ln>
        </p:spPr>
        <p:txBody>
          <a:bodyPr/>
          <a:p/>
        </p:txBody>
      </p:sp>
      <p:sp>
        <p:nvSpPr>
          <p:cNvPr name="TextBox 63" id="6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Espace administrateur</a:t>
              </a:r>
            </a:p>
          </p:txBody>
        </p:sp>
      </p:grpSp>
      <p:grpSp>
        <p:nvGrpSpPr>
          <p:cNvPr name="Group 7" id="7"/>
          <p:cNvGrpSpPr/>
          <p:nvPr/>
        </p:nvGrpSpPr>
        <p:grpSpPr>
          <a:xfrm rot="0">
            <a:off x="1084583" y="2273303"/>
            <a:ext cx="16118843" cy="1268987"/>
            <a:chOff x="0" y="0"/>
            <a:chExt cx="21491791" cy="1691983"/>
          </a:xfrm>
        </p:grpSpPr>
        <p:sp>
          <p:nvSpPr>
            <p:cNvPr name="Freeform 8" id="8"/>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9" id="9"/>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10" id="10"/>
          <p:cNvGrpSpPr/>
          <p:nvPr/>
        </p:nvGrpSpPr>
        <p:grpSpPr>
          <a:xfrm rot="0">
            <a:off x="1554480" y="2560320"/>
            <a:ext cx="731520" cy="731520"/>
            <a:chOff x="0" y="0"/>
            <a:chExt cx="975360" cy="975360"/>
          </a:xfrm>
        </p:grpSpPr>
        <p:sp>
          <p:nvSpPr>
            <p:cNvPr name="Freeform 11" id="11"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2743200" y="2432304"/>
            <a:ext cx="5486400" cy="585216"/>
            <a:chOff x="0" y="0"/>
            <a:chExt cx="7315200" cy="780288"/>
          </a:xfrm>
        </p:grpSpPr>
        <p:sp>
          <p:nvSpPr>
            <p:cNvPr name="Freeform 13" id="13"/>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14" id="14"/>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Statistiques</a:t>
              </a:r>
            </a:p>
          </p:txBody>
        </p:sp>
      </p:grpSp>
      <p:grpSp>
        <p:nvGrpSpPr>
          <p:cNvPr name="Group 15" id="15"/>
          <p:cNvGrpSpPr/>
          <p:nvPr/>
        </p:nvGrpSpPr>
        <p:grpSpPr>
          <a:xfrm rot="0">
            <a:off x="2743200" y="2944368"/>
            <a:ext cx="13898880" cy="548640"/>
            <a:chOff x="0" y="0"/>
            <a:chExt cx="18531840" cy="731520"/>
          </a:xfrm>
        </p:grpSpPr>
        <p:sp>
          <p:nvSpPr>
            <p:cNvPr name="Freeform 16" id="16"/>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17" id="17"/>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Utilisateurs, messages, questions fréquentes</a:t>
              </a:r>
            </a:p>
          </p:txBody>
        </p:sp>
      </p:grpSp>
      <p:grpSp>
        <p:nvGrpSpPr>
          <p:cNvPr name="Group 18" id="18"/>
          <p:cNvGrpSpPr/>
          <p:nvPr/>
        </p:nvGrpSpPr>
        <p:grpSpPr>
          <a:xfrm rot="0">
            <a:off x="1084583" y="3699767"/>
            <a:ext cx="16118843" cy="1268987"/>
            <a:chOff x="0" y="0"/>
            <a:chExt cx="21491791" cy="1691983"/>
          </a:xfrm>
        </p:grpSpPr>
        <p:sp>
          <p:nvSpPr>
            <p:cNvPr name="Freeform 19" id="19"/>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20" id="20"/>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21" id="21"/>
          <p:cNvGrpSpPr/>
          <p:nvPr/>
        </p:nvGrpSpPr>
        <p:grpSpPr>
          <a:xfrm rot="0">
            <a:off x="1554480" y="3986784"/>
            <a:ext cx="731520" cy="731520"/>
            <a:chOff x="0" y="0"/>
            <a:chExt cx="975360" cy="975360"/>
          </a:xfrm>
        </p:grpSpPr>
        <p:sp>
          <p:nvSpPr>
            <p:cNvPr name="Freeform 22" id="22"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2743200" y="3858768"/>
            <a:ext cx="5486400" cy="585216"/>
            <a:chOff x="0" y="0"/>
            <a:chExt cx="7315200" cy="780288"/>
          </a:xfrm>
        </p:grpSpPr>
        <p:sp>
          <p:nvSpPr>
            <p:cNvPr name="Freeform 24" id="24"/>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25" id="25"/>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Base FAQ</a:t>
              </a:r>
            </a:p>
          </p:txBody>
        </p:sp>
      </p:grpSp>
      <p:grpSp>
        <p:nvGrpSpPr>
          <p:cNvPr name="Group 26" id="26"/>
          <p:cNvGrpSpPr/>
          <p:nvPr/>
        </p:nvGrpSpPr>
        <p:grpSpPr>
          <a:xfrm rot="0">
            <a:off x="2743200" y="4370832"/>
            <a:ext cx="13898880" cy="548640"/>
            <a:chOff x="0" y="0"/>
            <a:chExt cx="18531840" cy="731520"/>
          </a:xfrm>
        </p:grpSpPr>
        <p:sp>
          <p:nvSpPr>
            <p:cNvPr name="Freeform 27" id="27"/>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28" id="28"/>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Import PDF/JSON, aperçu, rebuild index Qdrant</a:t>
              </a:r>
            </a:p>
          </p:txBody>
        </p:sp>
      </p:grpSp>
      <p:grpSp>
        <p:nvGrpSpPr>
          <p:cNvPr name="Group 29" id="29"/>
          <p:cNvGrpSpPr/>
          <p:nvPr/>
        </p:nvGrpSpPr>
        <p:grpSpPr>
          <a:xfrm rot="0">
            <a:off x="1084583" y="5126231"/>
            <a:ext cx="16118843" cy="1268987"/>
            <a:chOff x="0" y="0"/>
            <a:chExt cx="21491791" cy="1691983"/>
          </a:xfrm>
        </p:grpSpPr>
        <p:sp>
          <p:nvSpPr>
            <p:cNvPr name="Freeform 30" id="30"/>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31" id="31"/>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32" id="32"/>
          <p:cNvGrpSpPr/>
          <p:nvPr/>
        </p:nvGrpSpPr>
        <p:grpSpPr>
          <a:xfrm rot="0">
            <a:off x="1554480" y="5413248"/>
            <a:ext cx="731520" cy="731520"/>
            <a:chOff x="0" y="0"/>
            <a:chExt cx="975360" cy="975360"/>
          </a:xfrm>
        </p:grpSpPr>
        <p:sp>
          <p:nvSpPr>
            <p:cNvPr name="Freeform 33" id="33"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6"/>
              <a:stretch>
                <a:fillRect l="0" t="0" r="0" b="0"/>
              </a:stretch>
            </a:blipFill>
          </p:spPr>
          <p:txBody>
            <a:bodyPr/>
            <a:p/>
          </p:txBody>
        </p:sp>
      </p:grpSp>
      <p:grpSp>
        <p:nvGrpSpPr>
          <p:cNvPr name="Group 34" id="34"/>
          <p:cNvGrpSpPr/>
          <p:nvPr/>
        </p:nvGrpSpPr>
        <p:grpSpPr>
          <a:xfrm rot="0">
            <a:off x="2743200" y="5285232"/>
            <a:ext cx="5486400" cy="585216"/>
            <a:chOff x="0" y="0"/>
            <a:chExt cx="7315200" cy="780288"/>
          </a:xfrm>
        </p:grpSpPr>
        <p:sp>
          <p:nvSpPr>
            <p:cNvPr name="Freeform 35" id="35"/>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36" id="36"/>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Emplois du temps</a:t>
              </a:r>
            </a:p>
          </p:txBody>
        </p:sp>
      </p:grpSp>
      <p:grpSp>
        <p:nvGrpSpPr>
          <p:cNvPr name="Group 37" id="37"/>
          <p:cNvGrpSpPr/>
          <p:nvPr/>
        </p:nvGrpSpPr>
        <p:grpSpPr>
          <a:xfrm rot="0">
            <a:off x="2743200" y="5797296"/>
            <a:ext cx="13898880" cy="548640"/>
            <a:chOff x="0" y="0"/>
            <a:chExt cx="18531840" cy="731520"/>
          </a:xfrm>
        </p:grpSpPr>
        <p:sp>
          <p:nvSpPr>
            <p:cNvPr name="Freeform 38" id="38"/>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39" id="39"/>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Import JSON, publication, duplication, suppression</a:t>
              </a:r>
            </a:p>
          </p:txBody>
        </p:sp>
      </p:grpSp>
      <p:grpSp>
        <p:nvGrpSpPr>
          <p:cNvPr name="Group 40" id="40"/>
          <p:cNvGrpSpPr/>
          <p:nvPr/>
        </p:nvGrpSpPr>
        <p:grpSpPr>
          <a:xfrm rot="0">
            <a:off x="1084583" y="6552695"/>
            <a:ext cx="16118843" cy="1268987"/>
            <a:chOff x="0" y="0"/>
            <a:chExt cx="21491791" cy="1691983"/>
          </a:xfrm>
        </p:grpSpPr>
        <p:sp>
          <p:nvSpPr>
            <p:cNvPr name="Freeform 41" id="41"/>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42" id="42"/>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43" id="43"/>
          <p:cNvGrpSpPr/>
          <p:nvPr/>
        </p:nvGrpSpPr>
        <p:grpSpPr>
          <a:xfrm rot="0">
            <a:off x="1554480" y="6839712"/>
            <a:ext cx="731520" cy="731520"/>
            <a:chOff x="0" y="0"/>
            <a:chExt cx="975360" cy="975360"/>
          </a:xfrm>
        </p:grpSpPr>
        <p:sp>
          <p:nvSpPr>
            <p:cNvPr name="Freeform 44" id="44"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txBody>
            <a:bodyPr/>
            <a:p/>
          </p:txBody>
        </p:sp>
      </p:grpSp>
      <p:grpSp>
        <p:nvGrpSpPr>
          <p:cNvPr name="Group 45" id="45"/>
          <p:cNvGrpSpPr/>
          <p:nvPr/>
        </p:nvGrpSpPr>
        <p:grpSpPr>
          <a:xfrm rot="0">
            <a:off x="2743200" y="6711696"/>
            <a:ext cx="5486400" cy="585216"/>
            <a:chOff x="0" y="0"/>
            <a:chExt cx="7315200" cy="780288"/>
          </a:xfrm>
        </p:grpSpPr>
        <p:sp>
          <p:nvSpPr>
            <p:cNvPr name="Freeform 46" id="46"/>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47" id="47"/>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Utilisateurs</a:t>
              </a:r>
            </a:p>
          </p:txBody>
        </p:sp>
      </p:grpSp>
      <p:grpSp>
        <p:nvGrpSpPr>
          <p:cNvPr name="Group 48" id="48"/>
          <p:cNvGrpSpPr/>
          <p:nvPr/>
        </p:nvGrpSpPr>
        <p:grpSpPr>
          <a:xfrm rot="0">
            <a:off x="2743200" y="7223760"/>
            <a:ext cx="13898880" cy="548640"/>
            <a:chOff x="0" y="0"/>
            <a:chExt cx="18531840" cy="731520"/>
          </a:xfrm>
        </p:grpSpPr>
        <p:sp>
          <p:nvSpPr>
            <p:cNvPr name="Freeform 49" id="49"/>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50" id="50"/>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Comptes, demandes de changement de filière</a:t>
              </a:r>
            </a:p>
          </p:txBody>
        </p:sp>
      </p:grpSp>
      <p:grpSp>
        <p:nvGrpSpPr>
          <p:cNvPr name="Group 51" id="51"/>
          <p:cNvGrpSpPr/>
          <p:nvPr/>
        </p:nvGrpSpPr>
        <p:grpSpPr>
          <a:xfrm rot="0">
            <a:off x="1084583" y="7979159"/>
            <a:ext cx="16118843" cy="1268987"/>
            <a:chOff x="0" y="0"/>
            <a:chExt cx="21491791" cy="1691983"/>
          </a:xfrm>
        </p:grpSpPr>
        <p:sp>
          <p:nvSpPr>
            <p:cNvPr name="Freeform 52" id="52"/>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53" id="53"/>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54" id="54"/>
          <p:cNvGrpSpPr/>
          <p:nvPr/>
        </p:nvGrpSpPr>
        <p:grpSpPr>
          <a:xfrm rot="0">
            <a:off x="1554480" y="8266176"/>
            <a:ext cx="731520" cy="731520"/>
            <a:chOff x="0" y="0"/>
            <a:chExt cx="975360" cy="975360"/>
          </a:xfrm>
        </p:grpSpPr>
        <p:sp>
          <p:nvSpPr>
            <p:cNvPr name="Freeform 55" id="55"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8"/>
              <a:stretch>
                <a:fillRect l="0" t="0" r="0" b="0"/>
              </a:stretch>
            </a:blipFill>
          </p:spPr>
          <p:txBody>
            <a:bodyPr/>
            <a:p/>
          </p:txBody>
        </p:sp>
      </p:grpSp>
      <p:grpSp>
        <p:nvGrpSpPr>
          <p:cNvPr name="Group 56" id="56"/>
          <p:cNvGrpSpPr/>
          <p:nvPr/>
        </p:nvGrpSpPr>
        <p:grpSpPr>
          <a:xfrm rot="0">
            <a:off x="2743200" y="8138160"/>
            <a:ext cx="5486400" cy="585216"/>
            <a:chOff x="0" y="0"/>
            <a:chExt cx="7315200" cy="780288"/>
          </a:xfrm>
        </p:grpSpPr>
        <p:sp>
          <p:nvSpPr>
            <p:cNvPr name="Freeform 57" id="57"/>
            <p:cNvSpPr/>
            <p:nvPr/>
          </p:nvSpPr>
          <p:spPr>
            <a:xfrm flipH="false" flipV="false" rot="0">
              <a:off x="0" y="0"/>
              <a:ext cx="7315200" cy="780288"/>
            </a:xfrm>
            <a:custGeom>
              <a:avLst/>
              <a:gdLst/>
              <a:ahLst/>
              <a:cxnLst/>
              <a:rect r="r" b="b" t="t" l="l"/>
              <a:pathLst>
                <a:path h="780288" w="7315200">
                  <a:moveTo>
                    <a:pt x="0" y="0"/>
                  </a:moveTo>
                  <a:lnTo>
                    <a:pt x="7315200" y="0"/>
                  </a:lnTo>
                  <a:lnTo>
                    <a:pt x="7315200" y="780288"/>
                  </a:lnTo>
                  <a:lnTo>
                    <a:pt x="0" y="780288"/>
                  </a:lnTo>
                  <a:close/>
                </a:path>
              </a:pathLst>
            </a:custGeom>
            <a:blipFill>
              <a:blip r:embed="rId3">
                <a:alphaModFix amt="0"/>
              </a:blip>
              <a:stretch>
                <a:fillRect l="0" t="-132672" r="0" b="-132672"/>
              </a:stretch>
            </a:blipFill>
          </p:spPr>
          <p:txBody>
            <a:bodyPr/>
            <a:p/>
          </p:txBody>
        </p:sp>
        <p:sp>
          <p:nvSpPr>
            <p:cNvPr name="TextBox 58" id="58"/>
            <p:cNvSpPr txBox="true"/>
            <p:nvPr/>
          </p:nvSpPr>
          <p:spPr>
            <a:xfrm>
              <a:off x="0" y="-47625"/>
              <a:ext cx="7315200" cy="827913"/>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Maintenance</a:t>
              </a:r>
            </a:p>
          </p:txBody>
        </p:sp>
      </p:grpSp>
      <p:grpSp>
        <p:nvGrpSpPr>
          <p:cNvPr name="Group 59" id="59"/>
          <p:cNvGrpSpPr/>
          <p:nvPr/>
        </p:nvGrpSpPr>
        <p:grpSpPr>
          <a:xfrm rot="0">
            <a:off x="2743200" y="8650224"/>
            <a:ext cx="13898880" cy="548640"/>
            <a:chOff x="0" y="0"/>
            <a:chExt cx="18531840" cy="731520"/>
          </a:xfrm>
        </p:grpSpPr>
        <p:sp>
          <p:nvSpPr>
            <p:cNvPr name="Freeform 60" id="60"/>
            <p:cNvSpPr/>
            <p:nvPr/>
          </p:nvSpPr>
          <p:spPr>
            <a:xfrm flipH="false" flipV="false" rot="0">
              <a:off x="0" y="0"/>
              <a:ext cx="18531839" cy="731520"/>
            </a:xfrm>
            <a:custGeom>
              <a:avLst/>
              <a:gdLst/>
              <a:ahLst/>
              <a:cxnLst/>
              <a:rect r="r" b="b" t="t" l="l"/>
              <a:pathLst>
                <a:path h="731520" w="18531839">
                  <a:moveTo>
                    <a:pt x="0" y="0"/>
                  </a:moveTo>
                  <a:lnTo>
                    <a:pt x="18531839" y="0"/>
                  </a:lnTo>
                  <a:lnTo>
                    <a:pt x="18531839" y="731520"/>
                  </a:lnTo>
                  <a:lnTo>
                    <a:pt x="0" y="731520"/>
                  </a:lnTo>
                  <a:close/>
                </a:path>
              </a:pathLst>
            </a:custGeom>
            <a:blipFill>
              <a:blip r:embed="rId3">
                <a:alphaModFix amt="0"/>
              </a:blip>
              <a:stretch>
                <a:fillRect l="0" t="-443620" r="0" b="-443620"/>
              </a:stretch>
            </a:blipFill>
          </p:spPr>
          <p:txBody>
            <a:bodyPr/>
            <a:p/>
          </p:txBody>
        </p:sp>
        <p:sp>
          <p:nvSpPr>
            <p:cNvPr name="TextBox 61" id="61"/>
            <p:cNvSpPr txBox="true"/>
            <p:nvPr/>
          </p:nvSpPr>
          <p:spPr>
            <a:xfrm>
              <a:off x="0" y="-38100"/>
              <a:ext cx="1853184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Vidage cache Redis, purge données &gt; 180 j</a:t>
              </a:r>
            </a:p>
          </p:txBody>
        </p:sp>
      </p:grpSp>
      <p:sp>
        <p:nvSpPr>
          <p:cNvPr name="TextBox 62" id="6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2926080"/>
            <a:ext cx="16093440" cy="914400"/>
            <a:chOff x="0" y="0"/>
            <a:chExt cx="21457920" cy="1219200"/>
          </a:xfrm>
        </p:grpSpPr>
        <p:sp>
          <p:nvSpPr>
            <p:cNvPr name="Freeform 5" id="5"/>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6" id="6"/>
            <p:cNvSpPr txBox="true"/>
            <p:nvPr/>
          </p:nvSpPr>
          <p:spPr>
            <a:xfrm>
              <a:off x="0" y="-47625"/>
              <a:ext cx="21457920" cy="1266825"/>
            </a:xfrm>
            <a:prstGeom prst="rect">
              <a:avLst/>
            </a:prstGeom>
          </p:spPr>
          <p:txBody>
            <a:bodyPr anchor="ctr" rtlCol="false" tIns="0" lIns="0" bIns="0" rIns="0"/>
            <a:lstStyle/>
            <a:p>
              <a:pPr algn="l">
                <a:lnSpc>
                  <a:spcPts val="3359"/>
                </a:lnSpc>
              </a:pPr>
              <a:r>
                <a:rPr lang="en-US" sz="2799" b="true">
                  <a:solidFill>
                    <a:srgbClr val="06B6D4"/>
                  </a:solidFill>
                  <a:latin typeface="Calibri (MS) Bold"/>
                  <a:ea typeface="Calibri (MS) Bold"/>
                  <a:cs typeface="Calibri (MS) Bold"/>
                  <a:sym typeface="Calibri (MS) Bold"/>
                </a:rPr>
                <a:t>06</a:t>
              </a:r>
            </a:p>
          </p:txBody>
        </p:sp>
      </p:grpSp>
      <p:grpSp>
        <p:nvGrpSpPr>
          <p:cNvPr name="Group 7" id="7"/>
          <p:cNvGrpSpPr/>
          <p:nvPr/>
        </p:nvGrpSpPr>
        <p:grpSpPr>
          <a:xfrm rot="0">
            <a:off x="1097280" y="3749040"/>
            <a:ext cx="16093440" cy="2011680"/>
            <a:chOff x="0" y="0"/>
            <a:chExt cx="21457920" cy="2682240"/>
          </a:xfrm>
        </p:grpSpPr>
        <p:sp>
          <p:nvSpPr>
            <p:cNvPr name="Freeform 8" id="8"/>
            <p:cNvSpPr/>
            <p:nvPr/>
          </p:nvSpPr>
          <p:spPr>
            <a:xfrm flipH="false" flipV="false" rot="0">
              <a:off x="0" y="0"/>
              <a:ext cx="21457920" cy="2682240"/>
            </a:xfrm>
            <a:custGeom>
              <a:avLst/>
              <a:gdLst/>
              <a:ahLst/>
              <a:cxnLst/>
              <a:rect r="r" b="b" t="t" l="l"/>
              <a:pathLst>
                <a:path h="2682240" w="21457920">
                  <a:moveTo>
                    <a:pt x="0" y="0"/>
                  </a:moveTo>
                  <a:lnTo>
                    <a:pt x="21457920" y="0"/>
                  </a:lnTo>
                  <a:lnTo>
                    <a:pt x="21457920" y="2682240"/>
                  </a:lnTo>
                  <a:lnTo>
                    <a:pt x="0" y="2682240"/>
                  </a:lnTo>
                  <a:close/>
                </a:path>
              </a:pathLst>
            </a:custGeom>
            <a:blipFill>
              <a:blip r:embed="rId3">
                <a:alphaModFix amt="0"/>
              </a:blip>
              <a:stretch>
                <a:fillRect l="0" t="-105880" r="0" b="-105880"/>
              </a:stretch>
            </a:blipFill>
          </p:spPr>
          <p:txBody>
            <a:bodyPr/>
            <a:p/>
          </p:txBody>
        </p:sp>
        <p:sp>
          <p:nvSpPr>
            <p:cNvPr name="TextBox 9" id="9"/>
            <p:cNvSpPr txBox="true"/>
            <p:nvPr/>
          </p:nvSpPr>
          <p:spPr>
            <a:xfrm>
              <a:off x="0" y="-161925"/>
              <a:ext cx="21457920" cy="284416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Tests &amp; déploiement</a:t>
              </a:r>
            </a:p>
          </p:txBody>
        </p:sp>
      </p:gr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Tests automatisés</a:t>
              </a:r>
            </a:p>
          </p:txBody>
        </p:sp>
      </p:grpSp>
      <p:pic>
        <p:nvPicPr>
          <p:cNvPr name="Picture 7" id="7"/>
          <p:cNvPicPr>
            <a:picLocks noChangeAspect="true"/>
          </p:cNvPicPr>
          <p:nvPr/>
        </p:nvPicPr>
        <p:blipFill>
          <a:blip r:embed="rId4"/>
          <a:stretch>
            <a:fillRect/>
          </a:stretch>
        </p:blipFill>
        <p:spPr>
          <a:xfrm rot="0">
            <a:off x="-292608" y="1353312"/>
            <a:ext cx="10094976" cy="8997696"/>
          </a:xfrm>
          <a:prstGeom prst="rect">
            <a:avLst/>
          </a:prstGeom>
        </p:spPr>
      </p:pic>
      <p:grpSp>
        <p:nvGrpSpPr>
          <p:cNvPr name="Group 8" id="8"/>
          <p:cNvGrpSpPr/>
          <p:nvPr/>
        </p:nvGrpSpPr>
        <p:grpSpPr>
          <a:xfrm rot="0">
            <a:off x="9405623" y="2364743"/>
            <a:ext cx="7980683" cy="1525019"/>
            <a:chOff x="0" y="0"/>
            <a:chExt cx="10640911" cy="2033359"/>
          </a:xfrm>
        </p:grpSpPr>
        <p:sp>
          <p:nvSpPr>
            <p:cNvPr name="Freeform 9" id="9"/>
            <p:cNvSpPr/>
            <p:nvPr/>
          </p:nvSpPr>
          <p:spPr>
            <a:xfrm flipH="false" flipV="false" rot="0">
              <a:off x="16891" y="16891"/>
              <a:ext cx="10607040" cy="1999488"/>
            </a:xfrm>
            <a:custGeom>
              <a:avLst/>
              <a:gdLst/>
              <a:ahLst/>
              <a:cxnLst/>
              <a:rect r="r" b="b" t="t" l="l"/>
              <a:pathLst>
                <a:path h="1999488" w="10607040">
                  <a:moveTo>
                    <a:pt x="0" y="0"/>
                  </a:moveTo>
                  <a:lnTo>
                    <a:pt x="10607040" y="0"/>
                  </a:lnTo>
                  <a:lnTo>
                    <a:pt x="10607040" y="1999488"/>
                  </a:lnTo>
                  <a:lnTo>
                    <a:pt x="0" y="1999488"/>
                  </a:lnTo>
                  <a:close/>
                </a:path>
              </a:pathLst>
            </a:custGeom>
            <a:solidFill>
              <a:srgbClr val="FFFFFF"/>
            </a:solidFill>
          </p:spPr>
          <p:txBody>
            <a:bodyPr/>
            <a:p/>
          </p:txBody>
        </p:sp>
        <p:sp>
          <p:nvSpPr>
            <p:cNvPr name="Freeform 10" id="10"/>
            <p:cNvSpPr/>
            <p:nvPr/>
          </p:nvSpPr>
          <p:spPr>
            <a:xfrm flipH="false" flipV="false" rot="0">
              <a:off x="0" y="0"/>
              <a:ext cx="10640822" cy="2033270"/>
            </a:xfrm>
            <a:custGeom>
              <a:avLst/>
              <a:gdLst/>
              <a:ahLst/>
              <a:cxnLst/>
              <a:rect r="r" b="b" t="t" l="l"/>
              <a:pathLst>
                <a:path h="2033270" w="10640822">
                  <a:moveTo>
                    <a:pt x="16891" y="0"/>
                  </a:moveTo>
                  <a:lnTo>
                    <a:pt x="10623931" y="0"/>
                  </a:lnTo>
                  <a:cubicBezTo>
                    <a:pt x="10633329" y="0"/>
                    <a:pt x="10640822" y="7620"/>
                    <a:pt x="10640822" y="16891"/>
                  </a:cubicBezTo>
                  <a:lnTo>
                    <a:pt x="10640822" y="2016379"/>
                  </a:lnTo>
                  <a:cubicBezTo>
                    <a:pt x="10640822" y="2025777"/>
                    <a:pt x="10633202" y="2033270"/>
                    <a:pt x="10623931"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623931" y="1999488"/>
                  </a:lnTo>
                  <a:lnTo>
                    <a:pt x="10623931" y="2016379"/>
                  </a:lnTo>
                  <a:lnTo>
                    <a:pt x="10607040" y="2016379"/>
                  </a:lnTo>
                  <a:lnTo>
                    <a:pt x="10607040" y="16891"/>
                  </a:lnTo>
                  <a:lnTo>
                    <a:pt x="10623931" y="16891"/>
                  </a:lnTo>
                  <a:lnTo>
                    <a:pt x="10623931" y="33909"/>
                  </a:lnTo>
                  <a:lnTo>
                    <a:pt x="16891" y="33909"/>
                  </a:lnTo>
                  <a:close/>
                </a:path>
              </a:pathLst>
            </a:custGeom>
            <a:solidFill>
              <a:srgbClr val="E2E8F0"/>
            </a:solidFill>
          </p:spPr>
          <p:txBody>
            <a:bodyPr/>
            <a:p/>
          </p:txBody>
        </p:sp>
      </p:grpSp>
      <p:grpSp>
        <p:nvGrpSpPr>
          <p:cNvPr name="Group 11" id="11"/>
          <p:cNvGrpSpPr/>
          <p:nvPr/>
        </p:nvGrpSpPr>
        <p:grpSpPr>
          <a:xfrm rot="0">
            <a:off x="9692640" y="2377440"/>
            <a:ext cx="1828800" cy="1499616"/>
            <a:chOff x="0" y="0"/>
            <a:chExt cx="2438400" cy="1999488"/>
          </a:xfrm>
        </p:grpSpPr>
        <p:sp>
          <p:nvSpPr>
            <p:cNvPr name="Freeform 12" id="12"/>
            <p:cNvSpPr/>
            <p:nvPr/>
          </p:nvSpPr>
          <p:spPr>
            <a:xfrm flipH="false" flipV="false" rot="0">
              <a:off x="0" y="0"/>
              <a:ext cx="2438400" cy="1999488"/>
            </a:xfrm>
            <a:custGeom>
              <a:avLst/>
              <a:gdLst/>
              <a:ahLst/>
              <a:cxnLst/>
              <a:rect r="r" b="b" t="t" l="l"/>
              <a:pathLst>
                <a:path h="1999488" w="2438400">
                  <a:moveTo>
                    <a:pt x="0" y="0"/>
                  </a:moveTo>
                  <a:lnTo>
                    <a:pt x="2438400" y="0"/>
                  </a:lnTo>
                  <a:lnTo>
                    <a:pt x="2438400" y="1999488"/>
                  </a:lnTo>
                  <a:lnTo>
                    <a:pt x="0" y="1999488"/>
                  </a:lnTo>
                  <a:close/>
                </a:path>
              </a:pathLst>
            </a:custGeom>
            <a:blipFill>
              <a:blip r:embed="rId3">
                <a:alphaModFix amt="0"/>
              </a:blip>
              <a:stretch>
                <a:fillRect l="-55208" t="0" r="-55208" b="0"/>
              </a:stretch>
            </a:blipFill>
          </p:spPr>
          <p:txBody>
            <a:bodyPr/>
            <a:p/>
          </p:txBody>
        </p:sp>
        <p:sp>
          <p:nvSpPr>
            <p:cNvPr name="TextBox 13" id="13"/>
            <p:cNvSpPr txBox="true"/>
            <p:nvPr/>
          </p:nvSpPr>
          <p:spPr>
            <a:xfrm>
              <a:off x="0" y="-104775"/>
              <a:ext cx="2438400" cy="2104263"/>
            </a:xfrm>
            <a:prstGeom prst="rect">
              <a:avLst/>
            </a:prstGeom>
          </p:spPr>
          <p:txBody>
            <a:bodyPr anchor="ctr" rtlCol="false" tIns="0" lIns="0" bIns="0" rIns="0"/>
            <a:lstStyle/>
            <a:p>
              <a:r>
                <a:t>127</a:t>
              </a:r>
            </a:p>
          </p:txBody>
        </p:sp>
      </p:grpSp>
      <p:grpSp>
        <p:nvGrpSpPr>
          <p:cNvPr name="Group 14" id="14"/>
          <p:cNvGrpSpPr/>
          <p:nvPr/>
        </p:nvGrpSpPr>
        <p:grpSpPr>
          <a:xfrm rot="0">
            <a:off x="11612880" y="2377440"/>
            <a:ext cx="5669280" cy="1499616"/>
            <a:chOff x="0" y="0"/>
            <a:chExt cx="7559040" cy="1999488"/>
          </a:xfrm>
        </p:grpSpPr>
        <p:sp>
          <p:nvSpPr>
            <p:cNvPr name="Freeform 15" id="15"/>
            <p:cNvSpPr/>
            <p:nvPr/>
          </p:nvSpPr>
          <p:spPr>
            <a:xfrm flipH="false" flipV="false" rot="0">
              <a:off x="0" y="0"/>
              <a:ext cx="7559040" cy="1999488"/>
            </a:xfrm>
            <a:custGeom>
              <a:avLst/>
              <a:gdLst/>
              <a:ahLst/>
              <a:cxnLst/>
              <a:rect r="r" b="b" t="t" l="l"/>
              <a:pathLst>
                <a:path h="1999488" w="7559040">
                  <a:moveTo>
                    <a:pt x="0" y="0"/>
                  </a:moveTo>
                  <a:lnTo>
                    <a:pt x="7559040" y="0"/>
                  </a:lnTo>
                  <a:lnTo>
                    <a:pt x="7559040" y="1999488"/>
                  </a:lnTo>
                  <a:lnTo>
                    <a:pt x="0" y="1999488"/>
                  </a:lnTo>
                  <a:close/>
                </a:path>
              </a:pathLst>
            </a:custGeom>
            <a:blipFill>
              <a:blip r:embed="rId3">
                <a:alphaModFix amt="0"/>
              </a:blip>
              <a:stretch>
                <a:fillRect l="0" t="-23662" r="0" b="-23662"/>
              </a:stretch>
            </a:blipFill>
          </p:spPr>
          <p:txBody>
            <a:bodyPr/>
            <a:p/>
          </p:txBody>
        </p:sp>
        <p:sp>
          <p:nvSpPr>
            <p:cNvPr name="TextBox 16" id="16"/>
            <p:cNvSpPr txBox="true"/>
            <p:nvPr/>
          </p:nvSpPr>
          <p:spPr>
            <a:xfrm>
              <a:off x="0" y="-57150"/>
              <a:ext cx="75590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Tests automatisés</a:t>
              </a:r>
            </a:p>
          </p:txBody>
        </p:sp>
      </p:grpSp>
      <p:grpSp>
        <p:nvGrpSpPr>
          <p:cNvPr name="Group 17" id="17"/>
          <p:cNvGrpSpPr/>
          <p:nvPr/>
        </p:nvGrpSpPr>
        <p:grpSpPr>
          <a:xfrm rot="0">
            <a:off x="9405623" y="4102103"/>
            <a:ext cx="7980683" cy="1525019"/>
            <a:chOff x="0" y="0"/>
            <a:chExt cx="10640911" cy="2033359"/>
          </a:xfrm>
        </p:grpSpPr>
        <p:sp>
          <p:nvSpPr>
            <p:cNvPr name="Freeform 18" id="18"/>
            <p:cNvSpPr/>
            <p:nvPr/>
          </p:nvSpPr>
          <p:spPr>
            <a:xfrm flipH="false" flipV="false" rot="0">
              <a:off x="16891" y="16891"/>
              <a:ext cx="10607040" cy="1999488"/>
            </a:xfrm>
            <a:custGeom>
              <a:avLst/>
              <a:gdLst/>
              <a:ahLst/>
              <a:cxnLst/>
              <a:rect r="r" b="b" t="t" l="l"/>
              <a:pathLst>
                <a:path h="1999488" w="10607040">
                  <a:moveTo>
                    <a:pt x="0" y="0"/>
                  </a:moveTo>
                  <a:lnTo>
                    <a:pt x="10607040" y="0"/>
                  </a:lnTo>
                  <a:lnTo>
                    <a:pt x="10607040" y="1999488"/>
                  </a:lnTo>
                  <a:lnTo>
                    <a:pt x="0" y="1999488"/>
                  </a:lnTo>
                  <a:close/>
                </a:path>
              </a:pathLst>
            </a:custGeom>
            <a:solidFill>
              <a:srgbClr val="FFFFFF"/>
            </a:solidFill>
          </p:spPr>
          <p:txBody>
            <a:bodyPr/>
            <a:p/>
          </p:txBody>
        </p:sp>
        <p:sp>
          <p:nvSpPr>
            <p:cNvPr name="Freeform 19" id="19"/>
            <p:cNvSpPr/>
            <p:nvPr/>
          </p:nvSpPr>
          <p:spPr>
            <a:xfrm flipH="false" flipV="false" rot="0">
              <a:off x="0" y="0"/>
              <a:ext cx="10640822" cy="2033270"/>
            </a:xfrm>
            <a:custGeom>
              <a:avLst/>
              <a:gdLst/>
              <a:ahLst/>
              <a:cxnLst/>
              <a:rect r="r" b="b" t="t" l="l"/>
              <a:pathLst>
                <a:path h="2033270" w="10640822">
                  <a:moveTo>
                    <a:pt x="16891" y="0"/>
                  </a:moveTo>
                  <a:lnTo>
                    <a:pt x="10623931" y="0"/>
                  </a:lnTo>
                  <a:cubicBezTo>
                    <a:pt x="10633329" y="0"/>
                    <a:pt x="10640822" y="7620"/>
                    <a:pt x="10640822" y="16891"/>
                  </a:cubicBezTo>
                  <a:lnTo>
                    <a:pt x="10640822" y="2016379"/>
                  </a:lnTo>
                  <a:cubicBezTo>
                    <a:pt x="10640822" y="2025777"/>
                    <a:pt x="10633202" y="2033270"/>
                    <a:pt x="10623931"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623931" y="1999488"/>
                  </a:lnTo>
                  <a:lnTo>
                    <a:pt x="10623931" y="2016379"/>
                  </a:lnTo>
                  <a:lnTo>
                    <a:pt x="10607040" y="2016379"/>
                  </a:lnTo>
                  <a:lnTo>
                    <a:pt x="10607040" y="16891"/>
                  </a:lnTo>
                  <a:lnTo>
                    <a:pt x="10623931" y="16891"/>
                  </a:lnTo>
                  <a:lnTo>
                    <a:pt x="10623931" y="33909"/>
                  </a:lnTo>
                  <a:lnTo>
                    <a:pt x="16891" y="33909"/>
                  </a:lnTo>
                  <a:close/>
                </a:path>
              </a:pathLst>
            </a:custGeom>
            <a:solidFill>
              <a:srgbClr val="E2E8F0"/>
            </a:solidFill>
          </p:spPr>
          <p:txBody>
            <a:bodyPr/>
            <a:p/>
          </p:txBody>
        </p:sp>
      </p:grpSp>
      <p:grpSp>
        <p:nvGrpSpPr>
          <p:cNvPr name="Group 20" id="20"/>
          <p:cNvGrpSpPr/>
          <p:nvPr/>
        </p:nvGrpSpPr>
        <p:grpSpPr>
          <a:xfrm rot="0">
            <a:off x="9692640" y="4114800"/>
            <a:ext cx="1828800" cy="1499616"/>
            <a:chOff x="0" y="0"/>
            <a:chExt cx="2438400" cy="1999488"/>
          </a:xfrm>
        </p:grpSpPr>
        <p:sp>
          <p:nvSpPr>
            <p:cNvPr name="Freeform 21" id="21"/>
            <p:cNvSpPr/>
            <p:nvPr/>
          </p:nvSpPr>
          <p:spPr>
            <a:xfrm flipH="false" flipV="false" rot="0">
              <a:off x="0" y="0"/>
              <a:ext cx="2438400" cy="1999488"/>
            </a:xfrm>
            <a:custGeom>
              <a:avLst/>
              <a:gdLst/>
              <a:ahLst/>
              <a:cxnLst/>
              <a:rect r="r" b="b" t="t" l="l"/>
              <a:pathLst>
                <a:path h="1999488" w="2438400">
                  <a:moveTo>
                    <a:pt x="0" y="0"/>
                  </a:moveTo>
                  <a:lnTo>
                    <a:pt x="2438400" y="0"/>
                  </a:lnTo>
                  <a:lnTo>
                    <a:pt x="2438400" y="1999488"/>
                  </a:lnTo>
                  <a:lnTo>
                    <a:pt x="0" y="1999488"/>
                  </a:lnTo>
                  <a:close/>
                </a:path>
              </a:pathLst>
            </a:custGeom>
            <a:blipFill>
              <a:blip r:embed="rId3">
                <a:alphaModFix amt="0"/>
              </a:blip>
              <a:stretch>
                <a:fillRect l="-55208" t="0" r="-55208" b="0"/>
              </a:stretch>
            </a:blipFill>
          </p:spPr>
          <p:txBody>
            <a:bodyPr/>
            <a:p/>
          </p:txBody>
        </p:sp>
        <p:sp>
          <p:nvSpPr>
            <p:cNvPr name="TextBox 22" id="22"/>
            <p:cNvSpPr txBox="true"/>
            <p:nvPr/>
          </p:nvSpPr>
          <p:spPr>
            <a:xfrm>
              <a:off x="0" y="-104775"/>
              <a:ext cx="2438400" cy="2104263"/>
            </a:xfrm>
            <a:prstGeom prst="rect">
              <a:avLst/>
            </a:prstGeom>
          </p:spPr>
          <p:txBody>
            <a:bodyPr anchor="ctr" rtlCol="false" tIns="0" lIns="0" bIns="0" rIns="0"/>
            <a:lstStyle/>
            <a:p>
              <a:r>
                <a:t>8</a:t>
              </a:r>
            </a:p>
          </p:txBody>
        </p:sp>
      </p:grpSp>
      <p:grpSp>
        <p:nvGrpSpPr>
          <p:cNvPr name="Group 23" id="23"/>
          <p:cNvGrpSpPr/>
          <p:nvPr/>
        </p:nvGrpSpPr>
        <p:grpSpPr>
          <a:xfrm rot="0">
            <a:off x="11612880" y="4114800"/>
            <a:ext cx="5669280" cy="1499616"/>
            <a:chOff x="0" y="0"/>
            <a:chExt cx="7559040" cy="1999488"/>
          </a:xfrm>
        </p:grpSpPr>
        <p:sp>
          <p:nvSpPr>
            <p:cNvPr name="Freeform 24" id="24"/>
            <p:cNvSpPr/>
            <p:nvPr/>
          </p:nvSpPr>
          <p:spPr>
            <a:xfrm flipH="false" flipV="false" rot="0">
              <a:off x="0" y="0"/>
              <a:ext cx="7559040" cy="1999488"/>
            </a:xfrm>
            <a:custGeom>
              <a:avLst/>
              <a:gdLst/>
              <a:ahLst/>
              <a:cxnLst/>
              <a:rect r="r" b="b" t="t" l="l"/>
              <a:pathLst>
                <a:path h="1999488" w="7559040">
                  <a:moveTo>
                    <a:pt x="0" y="0"/>
                  </a:moveTo>
                  <a:lnTo>
                    <a:pt x="7559040" y="0"/>
                  </a:lnTo>
                  <a:lnTo>
                    <a:pt x="7559040" y="1999488"/>
                  </a:lnTo>
                  <a:lnTo>
                    <a:pt x="0" y="1999488"/>
                  </a:lnTo>
                  <a:close/>
                </a:path>
              </a:pathLst>
            </a:custGeom>
            <a:blipFill>
              <a:blip r:embed="rId3">
                <a:alphaModFix amt="0"/>
              </a:blip>
              <a:stretch>
                <a:fillRect l="0" t="-23662" r="0" b="-23662"/>
              </a:stretch>
            </a:blipFill>
          </p:spPr>
          <p:txBody>
            <a:bodyPr/>
            <a:p/>
          </p:txBody>
        </p:sp>
        <p:sp>
          <p:nvSpPr>
            <p:cNvPr name="TextBox 25" id="25"/>
            <p:cNvSpPr txBox="true"/>
            <p:nvPr/>
          </p:nvSpPr>
          <p:spPr>
            <a:xfrm>
              <a:off x="0" y="-57150"/>
              <a:ext cx="75590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Modules pytest</a:t>
              </a:r>
            </a:p>
          </p:txBody>
        </p:sp>
      </p:grpSp>
      <p:grpSp>
        <p:nvGrpSpPr>
          <p:cNvPr name="Group 26" id="26"/>
          <p:cNvGrpSpPr/>
          <p:nvPr/>
        </p:nvGrpSpPr>
        <p:grpSpPr>
          <a:xfrm rot="0">
            <a:off x="9405623" y="5839463"/>
            <a:ext cx="7980683" cy="1525019"/>
            <a:chOff x="0" y="0"/>
            <a:chExt cx="10640911" cy="2033359"/>
          </a:xfrm>
        </p:grpSpPr>
        <p:sp>
          <p:nvSpPr>
            <p:cNvPr name="Freeform 27" id="27"/>
            <p:cNvSpPr/>
            <p:nvPr/>
          </p:nvSpPr>
          <p:spPr>
            <a:xfrm flipH="false" flipV="false" rot="0">
              <a:off x="16891" y="16891"/>
              <a:ext cx="10607040" cy="1999488"/>
            </a:xfrm>
            <a:custGeom>
              <a:avLst/>
              <a:gdLst/>
              <a:ahLst/>
              <a:cxnLst/>
              <a:rect r="r" b="b" t="t" l="l"/>
              <a:pathLst>
                <a:path h="1999488" w="10607040">
                  <a:moveTo>
                    <a:pt x="0" y="0"/>
                  </a:moveTo>
                  <a:lnTo>
                    <a:pt x="10607040" y="0"/>
                  </a:lnTo>
                  <a:lnTo>
                    <a:pt x="10607040" y="1999488"/>
                  </a:lnTo>
                  <a:lnTo>
                    <a:pt x="0" y="1999488"/>
                  </a:lnTo>
                  <a:close/>
                </a:path>
              </a:pathLst>
            </a:custGeom>
            <a:solidFill>
              <a:srgbClr val="FFFFFF"/>
            </a:solidFill>
          </p:spPr>
          <p:txBody>
            <a:bodyPr/>
            <a:p/>
          </p:txBody>
        </p:sp>
        <p:sp>
          <p:nvSpPr>
            <p:cNvPr name="Freeform 28" id="28"/>
            <p:cNvSpPr/>
            <p:nvPr/>
          </p:nvSpPr>
          <p:spPr>
            <a:xfrm flipH="false" flipV="false" rot="0">
              <a:off x="0" y="0"/>
              <a:ext cx="10640822" cy="2033270"/>
            </a:xfrm>
            <a:custGeom>
              <a:avLst/>
              <a:gdLst/>
              <a:ahLst/>
              <a:cxnLst/>
              <a:rect r="r" b="b" t="t" l="l"/>
              <a:pathLst>
                <a:path h="2033270" w="10640822">
                  <a:moveTo>
                    <a:pt x="16891" y="0"/>
                  </a:moveTo>
                  <a:lnTo>
                    <a:pt x="10623931" y="0"/>
                  </a:lnTo>
                  <a:cubicBezTo>
                    <a:pt x="10633329" y="0"/>
                    <a:pt x="10640822" y="7620"/>
                    <a:pt x="10640822" y="16891"/>
                  </a:cubicBezTo>
                  <a:lnTo>
                    <a:pt x="10640822" y="2016379"/>
                  </a:lnTo>
                  <a:cubicBezTo>
                    <a:pt x="10640822" y="2025777"/>
                    <a:pt x="10633202" y="2033270"/>
                    <a:pt x="10623931"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623931" y="1999488"/>
                  </a:lnTo>
                  <a:lnTo>
                    <a:pt x="10623931" y="2016379"/>
                  </a:lnTo>
                  <a:lnTo>
                    <a:pt x="10607040" y="2016379"/>
                  </a:lnTo>
                  <a:lnTo>
                    <a:pt x="10607040" y="16891"/>
                  </a:lnTo>
                  <a:lnTo>
                    <a:pt x="10623931" y="16891"/>
                  </a:lnTo>
                  <a:lnTo>
                    <a:pt x="10623931" y="33909"/>
                  </a:lnTo>
                  <a:lnTo>
                    <a:pt x="16891" y="33909"/>
                  </a:lnTo>
                  <a:close/>
                </a:path>
              </a:pathLst>
            </a:custGeom>
            <a:solidFill>
              <a:srgbClr val="E2E8F0"/>
            </a:solidFill>
          </p:spPr>
          <p:txBody>
            <a:bodyPr/>
            <a:p/>
          </p:txBody>
        </p:sp>
      </p:grpSp>
      <p:grpSp>
        <p:nvGrpSpPr>
          <p:cNvPr name="Group 29" id="29"/>
          <p:cNvGrpSpPr/>
          <p:nvPr/>
        </p:nvGrpSpPr>
        <p:grpSpPr>
          <a:xfrm rot="0">
            <a:off x="9692640" y="5852160"/>
            <a:ext cx="1828800" cy="1499616"/>
            <a:chOff x="0" y="0"/>
            <a:chExt cx="2438400" cy="1999488"/>
          </a:xfrm>
        </p:grpSpPr>
        <p:sp>
          <p:nvSpPr>
            <p:cNvPr name="Freeform 30" id="30"/>
            <p:cNvSpPr/>
            <p:nvPr/>
          </p:nvSpPr>
          <p:spPr>
            <a:xfrm flipH="false" flipV="false" rot="0">
              <a:off x="0" y="0"/>
              <a:ext cx="2438400" cy="1999488"/>
            </a:xfrm>
            <a:custGeom>
              <a:avLst/>
              <a:gdLst/>
              <a:ahLst/>
              <a:cxnLst/>
              <a:rect r="r" b="b" t="t" l="l"/>
              <a:pathLst>
                <a:path h="1999488" w="2438400">
                  <a:moveTo>
                    <a:pt x="0" y="0"/>
                  </a:moveTo>
                  <a:lnTo>
                    <a:pt x="2438400" y="0"/>
                  </a:lnTo>
                  <a:lnTo>
                    <a:pt x="2438400" y="1999488"/>
                  </a:lnTo>
                  <a:lnTo>
                    <a:pt x="0" y="1999488"/>
                  </a:lnTo>
                  <a:close/>
                </a:path>
              </a:pathLst>
            </a:custGeom>
            <a:blipFill>
              <a:blip r:embed="rId3">
                <a:alphaModFix amt="0"/>
              </a:blip>
              <a:stretch>
                <a:fillRect l="-55208" t="0" r="-55208" b="0"/>
              </a:stretch>
            </a:blipFill>
          </p:spPr>
          <p:txBody>
            <a:bodyPr/>
            <a:p/>
          </p:txBody>
        </p:sp>
        <p:sp>
          <p:nvSpPr>
            <p:cNvPr name="TextBox 31" id="31"/>
            <p:cNvSpPr txBox="true"/>
            <p:nvPr/>
          </p:nvSpPr>
          <p:spPr>
            <a:xfrm>
              <a:off x="0" y="-104775"/>
              <a:ext cx="2438400" cy="2104263"/>
            </a:xfrm>
            <a:prstGeom prst="rect">
              <a:avLst/>
            </a:prstGeom>
          </p:spPr>
          <p:txBody>
            <a:bodyPr anchor="ctr" rtlCol="false" tIns="0" lIns="0" bIns="0" rIns="0"/>
            <a:lstStyle/>
            <a:p>
              <a:pPr algn="ctr">
                <a:lnSpc>
                  <a:spcPts val="6240"/>
                </a:lnSpc>
              </a:pPr>
              <a:r>
                <a:rPr lang="en-US" sz="5200" b="true">
                  <a:solidFill>
                    <a:srgbClr val="2563EB"/>
                  </a:solidFill>
                  <a:latin typeface="Calibri (MS) Bold"/>
                  <a:ea typeface="Calibri (MS) Bold"/>
                  <a:cs typeface="Calibri (MS) Bold"/>
                  <a:sym typeface="Calibri (MS) Bold"/>
                </a:rPr>
                <a:t>✓</a:t>
              </a:r>
            </a:p>
          </p:txBody>
        </p:sp>
      </p:grpSp>
      <p:grpSp>
        <p:nvGrpSpPr>
          <p:cNvPr name="Group 32" id="32"/>
          <p:cNvGrpSpPr/>
          <p:nvPr/>
        </p:nvGrpSpPr>
        <p:grpSpPr>
          <a:xfrm rot="0">
            <a:off x="11612880" y="5852160"/>
            <a:ext cx="5669280" cy="1499616"/>
            <a:chOff x="0" y="0"/>
            <a:chExt cx="7559040" cy="1999488"/>
          </a:xfrm>
        </p:grpSpPr>
        <p:sp>
          <p:nvSpPr>
            <p:cNvPr name="Freeform 33" id="33"/>
            <p:cNvSpPr/>
            <p:nvPr/>
          </p:nvSpPr>
          <p:spPr>
            <a:xfrm flipH="false" flipV="false" rot="0">
              <a:off x="0" y="0"/>
              <a:ext cx="7559040" cy="1999488"/>
            </a:xfrm>
            <a:custGeom>
              <a:avLst/>
              <a:gdLst/>
              <a:ahLst/>
              <a:cxnLst/>
              <a:rect r="r" b="b" t="t" l="l"/>
              <a:pathLst>
                <a:path h="1999488" w="7559040">
                  <a:moveTo>
                    <a:pt x="0" y="0"/>
                  </a:moveTo>
                  <a:lnTo>
                    <a:pt x="7559040" y="0"/>
                  </a:lnTo>
                  <a:lnTo>
                    <a:pt x="7559040" y="1999488"/>
                  </a:lnTo>
                  <a:lnTo>
                    <a:pt x="0" y="1999488"/>
                  </a:lnTo>
                  <a:close/>
                </a:path>
              </a:pathLst>
            </a:custGeom>
            <a:blipFill>
              <a:blip r:embed="rId3">
                <a:alphaModFix amt="0"/>
              </a:blip>
              <a:stretch>
                <a:fillRect l="0" t="-23662" r="0" b="-23662"/>
              </a:stretch>
            </a:blipFill>
          </p:spPr>
          <p:txBody>
            <a:bodyPr/>
            <a:p/>
          </p:txBody>
        </p:sp>
        <p:sp>
          <p:nvSpPr>
            <p:cNvPr name="TextBox 34" id="34"/>
            <p:cNvSpPr txBox="true"/>
            <p:nvPr/>
          </p:nvSpPr>
          <p:spPr>
            <a:xfrm>
              <a:off x="0" y="-57150"/>
              <a:ext cx="75590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Base SQLite isolée en mémoire</a:t>
              </a:r>
            </a:p>
          </p:txBody>
        </p:sp>
      </p:grpSp>
      <p:grpSp>
        <p:nvGrpSpPr>
          <p:cNvPr name="Group 35" id="35"/>
          <p:cNvGrpSpPr/>
          <p:nvPr/>
        </p:nvGrpSpPr>
        <p:grpSpPr>
          <a:xfrm rot="0">
            <a:off x="9405623" y="7576823"/>
            <a:ext cx="7980683" cy="1525019"/>
            <a:chOff x="0" y="0"/>
            <a:chExt cx="10640911" cy="2033359"/>
          </a:xfrm>
        </p:grpSpPr>
        <p:sp>
          <p:nvSpPr>
            <p:cNvPr name="Freeform 36" id="36"/>
            <p:cNvSpPr/>
            <p:nvPr/>
          </p:nvSpPr>
          <p:spPr>
            <a:xfrm flipH="false" flipV="false" rot="0">
              <a:off x="16891" y="16891"/>
              <a:ext cx="10607040" cy="1999488"/>
            </a:xfrm>
            <a:custGeom>
              <a:avLst/>
              <a:gdLst/>
              <a:ahLst/>
              <a:cxnLst/>
              <a:rect r="r" b="b" t="t" l="l"/>
              <a:pathLst>
                <a:path h="1999488" w="10607040">
                  <a:moveTo>
                    <a:pt x="0" y="0"/>
                  </a:moveTo>
                  <a:lnTo>
                    <a:pt x="10607040" y="0"/>
                  </a:lnTo>
                  <a:lnTo>
                    <a:pt x="10607040" y="1999488"/>
                  </a:lnTo>
                  <a:lnTo>
                    <a:pt x="0" y="1999488"/>
                  </a:lnTo>
                  <a:close/>
                </a:path>
              </a:pathLst>
            </a:custGeom>
            <a:solidFill>
              <a:srgbClr val="FFFFFF"/>
            </a:solidFill>
          </p:spPr>
          <p:txBody>
            <a:bodyPr/>
            <a:p/>
          </p:txBody>
        </p:sp>
        <p:sp>
          <p:nvSpPr>
            <p:cNvPr name="Freeform 37" id="37"/>
            <p:cNvSpPr/>
            <p:nvPr/>
          </p:nvSpPr>
          <p:spPr>
            <a:xfrm flipH="false" flipV="false" rot="0">
              <a:off x="0" y="0"/>
              <a:ext cx="10640822" cy="2033270"/>
            </a:xfrm>
            <a:custGeom>
              <a:avLst/>
              <a:gdLst/>
              <a:ahLst/>
              <a:cxnLst/>
              <a:rect r="r" b="b" t="t" l="l"/>
              <a:pathLst>
                <a:path h="2033270" w="10640822">
                  <a:moveTo>
                    <a:pt x="16891" y="0"/>
                  </a:moveTo>
                  <a:lnTo>
                    <a:pt x="10623931" y="0"/>
                  </a:lnTo>
                  <a:cubicBezTo>
                    <a:pt x="10633329" y="0"/>
                    <a:pt x="10640822" y="7620"/>
                    <a:pt x="10640822" y="16891"/>
                  </a:cubicBezTo>
                  <a:lnTo>
                    <a:pt x="10640822" y="2016379"/>
                  </a:lnTo>
                  <a:cubicBezTo>
                    <a:pt x="10640822" y="2025777"/>
                    <a:pt x="10633202" y="2033270"/>
                    <a:pt x="10623931"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623931" y="1999488"/>
                  </a:lnTo>
                  <a:lnTo>
                    <a:pt x="10623931" y="2016379"/>
                  </a:lnTo>
                  <a:lnTo>
                    <a:pt x="10607040" y="2016379"/>
                  </a:lnTo>
                  <a:lnTo>
                    <a:pt x="10607040" y="16891"/>
                  </a:lnTo>
                  <a:lnTo>
                    <a:pt x="10623931" y="16891"/>
                  </a:lnTo>
                  <a:lnTo>
                    <a:pt x="10623931" y="33909"/>
                  </a:lnTo>
                  <a:lnTo>
                    <a:pt x="16891" y="33909"/>
                  </a:lnTo>
                  <a:close/>
                </a:path>
              </a:pathLst>
            </a:custGeom>
            <a:solidFill>
              <a:srgbClr val="E2E8F0"/>
            </a:solidFill>
          </p:spPr>
          <p:txBody>
            <a:bodyPr/>
            <a:p/>
          </p:txBody>
        </p:sp>
      </p:grpSp>
      <p:grpSp>
        <p:nvGrpSpPr>
          <p:cNvPr name="Group 38" id="38"/>
          <p:cNvGrpSpPr/>
          <p:nvPr/>
        </p:nvGrpSpPr>
        <p:grpSpPr>
          <a:xfrm rot="0">
            <a:off x="9692640" y="7589520"/>
            <a:ext cx="1828800" cy="1499616"/>
            <a:chOff x="0" y="0"/>
            <a:chExt cx="2438400" cy="1999488"/>
          </a:xfrm>
        </p:grpSpPr>
        <p:sp>
          <p:nvSpPr>
            <p:cNvPr name="Freeform 39" id="39"/>
            <p:cNvSpPr/>
            <p:nvPr/>
          </p:nvSpPr>
          <p:spPr>
            <a:xfrm flipH="false" flipV="false" rot="0">
              <a:off x="0" y="0"/>
              <a:ext cx="2438400" cy="1999488"/>
            </a:xfrm>
            <a:custGeom>
              <a:avLst/>
              <a:gdLst/>
              <a:ahLst/>
              <a:cxnLst/>
              <a:rect r="r" b="b" t="t" l="l"/>
              <a:pathLst>
                <a:path h="1999488" w="2438400">
                  <a:moveTo>
                    <a:pt x="0" y="0"/>
                  </a:moveTo>
                  <a:lnTo>
                    <a:pt x="2438400" y="0"/>
                  </a:lnTo>
                  <a:lnTo>
                    <a:pt x="2438400" y="1999488"/>
                  </a:lnTo>
                  <a:lnTo>
                    <a:pt x="0" y="1999488"/>
                  </a:lnTo>
                  <a:close/>
                </a:path>
              </a:pathLst>
            </a:custGeom>
            <a:blipFill>
              <a:blip r:embed="rId3">
                <a:alphaModFix amt="0"/>
              </a:blip>
              <a:stretch>
                <a:fillRect l="-55208" t="0" r="-55208" b="0"/>
              </a:stretch>
            </a:blipFill>
          </p:spPr>
          <p:txBody>
            <a:bodyPr/>
            <a:p/>
          </p:txBody>
        </p:sp>
        <p:sp>
          <p:nvSpPr>
            <p:cNvPr name="TextBox 40" id="40"/>
            <p:cNvSpPr txBox="true"/>
            <p:nvPr/>
          </p:nvSpPr>
          <p:spPr>
            <a:xfrm>
              <a:off x="0" y="-104775"/>
              <a:ext cx="2438400" cy="2104263"/>
            </a:xfrm>
            <a:prstGeom prst="rect">
              <a:avLst/>
            </a:prstGeom>
          </p:spPr>
          <p:txBody>
            <a:bodyPr anchor="ctr" rtlCol="false" tIns="0" lIns="0" bIns="0" rIns="0"/>
            <a:lstStyle/>
            <a:p>
              <a:pPr algn="ctr">
                <a:lnSpc>
                  <a:spcPts val="6240"/>
                </a:lnSpc>
              </a:pPr>
              <a:r>
                <a:rPr lang="en-US" sz="5200" b="true">
                  <a:solidFill>
                    <a:srgbClr val="2563EB"/>
                  </a:solidFill>
                  <a:latin typeface="Calibri (MS) Bold"/>
                  <a:ea typeface="Calibri (MS) Bold"/>
                  <a:cs typeface="Calibri (MS) Bold"/>
                  <a:sym typeface="Calibri (MS) Bold"/>
                </a:rPr>
                <a:t>✓</a:t>
              </a:r>
            </a:p>
          </p:txBody>
        </p:sp>
      </p:grpSp>
      <p:grpSp>
        <p:nvGrpSpPr>
          <p:cNvPr name="Group 41" id="41"/>
          <p:cNvGrpSpPr/>
          <p:nvPr/>
        </p:nvGrpSpPr>
        <p:grpSpPr>
          <a:xfrm rot="0">
            <a:off x="11612880" y="7589520"/>
            <a:ext cx="5669280" cy="1499616"/>
            <a:chOff x="0" y="0"/>
            <a:chExt cx="7559040" cy="1999488"/>
          </a:xfrm>
        </p:grpSpPr>
        <p:sp>
          <p:nvSpPr>
            <p:cNvPr name="Freeform 42" id="42"/>
            <p:cNvSpPr/>
            <p:nvPr/>
          </p:nvSpPr>
          <p:spPr>
            <a:xfrm flipH="false" flipV="false" rot="0">
              <a:off x="0" y="0"/>
              <a:ext cx="7559040" cy="1999488"/>
            </a:xfrm>
            <a:custGeom>
              <a:avLst/>
              <a:gdLst/>
              <a:ahLst/>
              <a:cxnLst/>
              <a:rect r="r" b="b" t="t" l="l"/>
              <a:pathLst>
                <a:path h="1999488" w="7559040">
                  <a:moveTo>
                    <a:pt x="0" y="0"/>
                  </a:moveTo>
                  <a:lnTo>
                    <a:pt x="7559040" y="0"/>
                  </a:lnTo>
                  <a:lnTo>
                    <a:pt x="7559040" y="1999488"/>
                  </a:lnTo>
                  <a:lnTo>
                    <a:pt x="0" y="1999488"/>
                  </a:lnTo>
                  <a:close/>
                </a:path>
              </a:pathLst>
            </a:custGeom>
            <a:blipFill>
              <a:blip r:embed="rId3">
                <a:alphaModFix amt="0"/>
              </a:blip>
              <a:stretch>
                <a:fillRect l="0" t="-23662" r="0" b="-23662"/>
              </a:stretch>
            </a:blipFill>
          </p:spPr>
          <p:txBody>
            <a:bodyPr/>
            <a:p/>
          </p:txBody>
        </p:sp>
        <p:sp>
          <p:nvSpPr>
            <p:cNvPr name="TextBox 43" id="43"/>
            <p:cNvSpPr txBox="true"/>
            <p:nvPr/>
          </p:nvSpPr>
          <p:spPr>
            <a:xfrm>
              <a:off x="0" y="-57150"/>
              <a:ext cx="75590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Pipeline GitHub Actions</a:t>
              </a:r>
            </a:p>
          </p:txBody>
        </p:sp>
      </p:grpSp>
      <p:sp>
        <p:nvSpPr>
          <p:cNvPr name="TextBox 44" id="4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Pipeline CI/CD — GitHub Actions</a:t>
              </a:r>
            </a:p>
          </p:txBody>
        </p:sp>
      </p:grpSp>
      <p:grpSp>
        <p:nvGrpSpPr>
          <p:cNvPr name="Group 7" id="7"/>
          <p:cNvGrpSpPr/>
          <p:nvPr/>
        </p:nvGrpSpPr>
        <p:grpSpPr>
          <a:xfrm rot="0">
            <a:off x="914400" y="2103120"/>
            <a:ext cx="16459200" cy="731520"/>
            <a:chOff x="0" y="0"/>
            <a:chExt cx="21945600" cy="975360"/>
          </a:xfrm>
        </p:grpSpPr>
        <p:sp>
          <p:nvSpPr>
            <p:cNvPr name="Freeform 8" id="8"/>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txBody>
            <a:bodyPr/>
            <a:p/>
          </p:txBody>
        </p:sp>
        <p:sp>
          <p:nvSpPr>
            <p:cNvPr name="TextBox 9" id="9"/>
            <p:cNvSpPr txBox="true"/>
            <p:nvPr/>
          </p:nvSpPr>
          <p:spPr>
            <a:xfrm>
              <a:off x="0" y="-66675"/>
              <a:ext cx="21945600" cy="1042035"/>
            </a:xfrm>
            <a:prstGeom prst="rect">
              <a:avLst/>
            </a:prstGeom>
          </p:spPr>
          <p:txBody>
            <a:bodyPr anchor="ctr" rtlCol="false" tIns="0" lIns="0" bIns="0" rIns="0"/>
            <a:lstStyle/>
            <a:p>
              <a:pPr algn="ctr">
                <a:lnSpc>
                  <a:spcPts val="3600"/>
                </a:lnSpc>
              </a:pPr>
              <a:r>
                <a:rPr lang="en-US" sz="3000" i="true">
                  <a:solidFill>
                    <a:srgbClr val="64748B"/>
                  </a:solidFill>
                  <a:latin typeface="Calibri (MS) Italics"/>
                  <a:ea typeface="Calibri (MS) Italics"/>
                  <a:cs typeface="Calibri (MS) Italics"/>
                  <a:sym typeface="Calibri (MS) Italics"/>
                </a:rPr>
                <a:t>Validation automatique à chaque push sur la branche principale</a:t>
              </a:r>
            </a:p>
          </p:txBody>
        </p:sp>
      </p:grpSp>
      <p:grpSp>
        <p:nvGrpSpPr>
          <p:cNvPr name="Group 10" id="10"/>
          <p:cNvGrpSpPr/>
          <p:nvPr/>
        </p:nvGrpSpPr>
        <p:grpSpPr>
          <a:xfrm rot="0">
            <a:off x="1084583" y="3370583"/>
            <a:ext cx="16118843" cy="1268987"/>
            <a:chOff x="0" y="0"/>
            <a:chExt cx="21491791" cy="1691983"/>
          </a:xfrm>
        </p:grpSpPr>
        <p:sp>
          <p:nvSpPr>
            <p:cNvPr name="Freeform 11" id="11"/>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12" id="12"/>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13" id="13"/>
          <p:cNvGrpSpPr/>
          <p:nvPr/>
        </p:nvGrpSpPr>
        <p:grpSpPr>
          <a:xfrm rot="0">
            <a:off x="1554480" y="3639312"/>
            <a:ext cx="768096" cy="768096"/>
            <a:chOff x="0" y="0"/>
            <a:chExt cx="1024128" cy="1024128"/>
          </a:xfrm>
        </p:grpSpPr>
        <p:sp>
          <p:nvSpPr>
            <p:cNvPr name="Freeform 14" id="14"/>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D1B2A"/>
            </a:solidFill>
          </p:spPr>
          <p:txBody>
            <a:bodyPr/>
            <a:p/>
          </p:txBody>
        </p:sp>
      </p:grpSp>
      <p:grpSp>
        <p:nvGrpSpPr>
          <p:cNvPr name="Group 15" id="15"/>
          <p:cNvGrpSpPr/>
          <p:nvPr/>
        </p:nvGrpSpPr>
        <p:grpSpPr>
          <a:xfrm rot="0">
            <a:off x="1554480" y="3639312"/>
            <a:ext cx="768096" cy="768096"/>
            <a:chOff x="0" y="0"/>
            <a:chExt cx="1024128" cy="1024128"/>
          </a:xfrm>
        </p:grpSpPr>
        <p:sp>
          <p:nvSpPr>
            <p:cNvPr name="Freeform 16" id="16"/>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17" id="17"/>
            <p:cNvSpPr txBox="true"/>
            <p:nvPr/>
          </p:nvSpPr>
          <p:spPr>
            <a:xfrm>
              <a:off x="0" y="-47625"/>
              <a:ext cx="1024128" cy="107175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1</a:t>
              </a:r>
            </a:p>
          </p:txBody>
        </p:sp>
      </p:grpSp>
      <p:grpSp>
        <p:nvGrpSpPr>
          <p:cNvPr name="Group 18" id="18"/>
          <p:cNvGrpSpPr/>
          <p:nvPr/>
        </p:nvGrpSpPr>
        <p:grpSpPr>
          <a:xfrm rot="0">
            <a:off x="2743200" y="3639312"/>
            <a:ext cx="768096" cy="768096"/>
            <a:chOff x="0" y="0"/>
            <a:chExt cx="1024128" cy="1024128"/>
          </a:xfrm>
        </p:grpSpPr>
        <p:sp>
          <p:nvSpPr>
            <p:cNvPr name="Freeform 19" id="19"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20" id="20"/>
          <p:cNvGrpSpPr/>
          <p:nvPr/>
        </p:nvGrpSpPr>
        <p:grpSpPr>
          <a:xfrm rot="0">
            <a:off x="3840480" y="3493008"/>
            <a:ext cx="6400800" cy="548640"/>
            <a:chOff x="0" y="0"/>
            <a:chExt cx="8534400" cy="731520"/>
          </a:xfrm>
        </p:grpSpPr>
        <p:sp>
          <p:nvSpPr>
            <p:cNvPr name="Freeform 21" id="21"/>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22" id="22"/>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Push / Pull Request</a:t>
              </a:r>
            </a:p>
          </p:txBody>
        </p:sp>
      </p:grpSp>
      <p:grpSp>
        <p:nvGrpSpPr>
          <p:cNvPr name="Group 23" id="23"/>
          <p:cNvGrpSpPr/>
          <p:nvPr/>
        </p:nvGrpSpPr>
        <p:grpSpPr>
          <a:xfrm rot="0">
            <a:off x="3840480" y="4041648"/>
            <a:ext cx="12801600" cy="548640"/>
            <a:chOff x="0" y="0"/>
            <a:chExt cx="17068800" cy="731520"/>
          </a:xfrm>
        </p:grpSpPr>
        <p:sp>
          <p:nvSpPr>
            <p:cNvPr name="Freeform 24" id="24"/>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txBody>
            <a:bodyPr/>
            <a:p/>
          </p:txBody>
        </p:sp>
        <p:sp>
          <p:nvSpPr>
            <p:cNvPr name="TextBox 25" id="25"/>
            <p:cNvSpPr txBox="true"/>
            <p:nvPr/>
          </p:nvSpPr>
          <p:spPr>
            <a:xfrm>
              <a:off x="0" y="-38100"/>
              <a:ext cx="1706880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Déclenchement automatique sur main</a:t>
              </a:r>
            </a:p>
          </p:txBody>
        </p:sp>
      </p:grpSp>
      <p:grpSp>
        <p:nvGrpSpPr>
          <p:cNvPr name="Group 26" id="26"/>
          <p:cNvGrpSpPr/>
          <p:nvPr/>
        </p:nvGrpSpPr>
        <p:grpSpPr>
          <a:xfrm rot="0">
            <a:off x="1084583" y="4797047"/>
            <a:ext cx="16118843" cy="1268987"/>
            <a:chOff x="0" y="0"/>
            <a:chExt cx="21491791" cy="1691983"/>
          </a:xfrm>
        </p:grpSpPr>
        <p:sp>
          <p:nvSpPr>
            <p:cNvPr name="Freeform 27" id="27"/>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28" id="28"/>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29" id="29"/>
          <p:cNvGrpSpPr/>
          <p:nvPr/>
        </p:nvGrpSpPr>
        <p:grpSpPr>
          <a:xfrm rot="0">
            <a:off x="1554480" y="5065776"/>
            <a:ext cx="768096" cy="768096"/>
            <a:chOff x="0" y="0"/>
            <a:chExt cx="1024128" cy="1024128"/>
          </a:xfrm>
        </p:grpSpPr>
        <p:sp>
          <p:nvSpPr>
            <p:cNvPr name="Freeform 30" id="30"/>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2563EB"/>
            </a:solidFill>
          </p:spPr>
          <p:txBody>
            <a:bodyPr/>
            <a:p/>
          </p:txBody>
        </p:sp>
      </p:grpSp>
      <p:grpSp>
        <p:nvGrpSpPr>
          <p:cNvPr name="Group 31" id="31"/>
          <p:cNvGrpSpPr/>
          <p:nvPr/>
        </p:nvGrpSpPr>
        <p:grpSpPr>
          <a:xfrm rot="0">
            <a:off x="1554480" y="5065776"/>
            <a:ext cx="768096" cy="768096"/>
            <a:chOff x="0" y="0"/>
            <a:chExt cx="1024128" cy="1024128"/>
          </a:xfrm>
        </p:grpSpPr>
        <p:sp>
          <p:nvSpPr>
            <p:cNvPr name="Freeform 32" id="32"/>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33" id="33"/>
            <p:cNvSpPr txBox="true"/>
            <p:nvPr/>
          </p:nvSpPr>
          <p:spPr>
            <a:xfrm>
              <a:off x="0" y="-47625"/>
              <a:ext cx="1024128" cy="107175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2</a:t>
              </a:r>
            </a:p>
          </p:txBody>
        </p:sp>
      </p:grpSp>
      <p:grpSp>
        <p:nvGrpSpPr>
          <p:cNvPr name="Group 34" id="34"/>
          <p:cNvGrpSpPr/>
          <p:nvPr/>
        </p:nvGrpSpPr>
        <p:grpSpPr>
          <a:xfrm rot="0">
            <a:off x="2743200" y="5065776"/>
            <a:ext cx="768096" cy="768096"/>
            <a:chOff x="0" y="0"/>
            <a:chExt cx="1024128" cy="1024128"/>
          </a:xfrm>
        </p:grpSpPr>
        <p:sp>
          <p:nvSpPr>
            <p:cNvPr name="Freeform 35" id="35"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5"/>
              <a:stretch>
                <a:fillRect l="0" t="0" r="0" b="0"/>
              </a:stretch>
            </a:blipFill>
          </p:spPr>
          <p:txBody>
            <a:bodyPr/>
            <a:p/>
          </p:txBody>
        </p:sp>
      </p:grpSp>
      <p:grpSp>
        <p:nvGrpSpPr>
          <p:cNvPr name="Group 36" id="36"/>
          <p:cNvGrpSpPr/>
          <p:nvPr/>
        </p:nvGrpSpPr>
        <p:grpSpPr>
          <a:xfrm rot="0">
            <a:off x="3840480" y="4919472"/>
            <a:ext cx="6400800" cy="548640"/>
            <a:chOff x="0" y="0"/>
            <a:chExt cx="8534400" cy="731520"/>
          </a:xfrm>
        </p:grpSpPr>
        <p:sp>
          <p:nvSpPr>
            <p:cNvPr name="Freeform 37" id="37"/>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38" id="38"/>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Tests backend</a:t>
              </a:r>
            </a:p>
          </p:txBody>
        </p:sp>
      </p:grpSp>
      <p:grpSp>
        <p:nvGrpSpPr>
          <p:cNvPr name="Group 39" id="39"/>
          <p:cNvGrpSpPr/>
          <p:nvPr/>
        </p:nvGrpSpPr>
        <p:grpSpPr>
          <a:xfrm rot="0">
            <a:off x="3840480" y="5468112"/>
            <a:ext cx="12801600" cy="548640"/>
            <a:chOff x="0" y="0"/>
            <a:chExt cx="17068800" cy="731520"/>
          </a:xfrm>
        </p:grpSpPr>
        <p:sp>
          <p:nvSpPr>
            <p:cNvPr name="Freeform 40" id="40"/>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txBody>
            <a:bodyPr/>
            <a:p/>
          </p:txBody>
        </p:sp>
        <p:sp>
          <p:nvSpPr>
            <p:cNvPr name="TextBox 41" id="41"/>
            <p:cNvSpPr txBox="true"/>
            <p:nvPr/>
          </p:nvSpPr>
          <p:spPr>
            <a:xfrm>
              <a:off x="0" y="-38100"/>
              <a:ext cx="17068800" cy="769620"/>
            </a:xfrm>
            <a:prstGeom prst="rect">
              <a:avLst/>
            </a:prstGeom>
          </p:spPr>
          <p:txBody>
            <a:bodyPr anchor="ctr" rtlCol="false" tIns="0" lIns="0" bIns="0" rIns="0"/>
            <a:lstStyle/>
            <a:p>
              <a:r>
                <a:t>pytest sur SQLite en mémoire (127 tests)</a:t>
              </a:r>
            </a:p>
          </p:txBody>
        </p:sp>
      </p:grpSp>
      <p:grpSp>
        <p:nvGrpSpPr>
          <p:cNvPr name="Group 42" id="42"/>
          <p:cNvGrpSpPr/>
          <p:nvPr/>
        </p:nvGrpSpPr>
        <p:grpSpPr>
          <a:xfrm rot="0">
            <a:off x="1084583" y="6223511"/>
            <a:ext cx="16118843" cy="1268987"/>
            <a:chOff x="0" y="0"/>
            <a:chExt cx="21491791" cy="1691983"/>
          </a:xfrm>
        </p:grpSpPr>
        <p:sp>
          <p:nvSpPr>
            <p:cNvPr name="Freeform 43" id="43"/>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44" id="44"/>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45" id="45"/>
          <p:cNvGrpSpPr/>
          <p:nvPr/>
        </p:nvGrpSpPr>
        <p:grpSpPr>
          <a:xfrm rot="0">
            <a:off x="1554480" y="6492240"/>
            <a:ext cx="768096" cy="768096"/>
            <a:chOff x="0" y="0"/>
            <a:chExt cx="1024128" cy="1024128"/>
          </a:xfrm>
        </p:grpSpPr>
        <p:sp>
          <p:nvSpPr>
            <p:cNvPr name="Freeform 46" id="46"/>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6B6D4"/>
            </a:solidFill>
          </p:spPr>
          <p:txBody>
            <a:bodyPr/>
            <a:p/>
          </p:txBody>
        </p:sp>
      </p:grpSp>
      <p:grpSp>
        <p:nvGrpSpPr>
          <p:cNvPr name="Group 47" id="47"/>
          <p:cNvGrpSpPr/>
          <p:nvPr/>
        </p:nvGrpSpPr>
        <p:grpSpPr>
          <a:xfrm rot="0">
            <a:off x="1554480" y="6492240"/>
            <a:ext cx="768096" cy="768096"/>
            <a:chOff x="0" y="0"/>
            <a:chExt cx="1024128" cy="1024128"/>
          </a:xfrm>
        </p:grpSpPr>
        <p:sp>
          <p:nvSpPr>
            <p:cNvPr name="Freeform 48" id="48"/>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49" id="49"/>
            <p:cNvSpPr txBox="true"/>
            <p:nvPr/>
          </p:nvSpPr>
          <p:spPr>
            <a:xfrm>
              <a:off x="0" y="-47625"/>
              <a:ext cx="1024128" cy="107175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3</a:t>
              </a:r>
            </a:p>
          </p:txBody>
        </p:sp>
      </p:grpSp>
      <p:grpSp>
        <p:nvGrpSpPr>
          <p:cNvPr name="Group 50" id="50"/>
          <p:cNvGrpSpPr/>
          <p:nvPr/>
        </p:nvGrpSpPr>
        <p:grpSpPr>
          <a:xfrm rot="0">
            <a:off x="2743200" y="6492240"/>
            <a:ext cx="768096" cy="768096"/>
            <a:chOff x="0" y="0"/>
            <a:chExt cx="1024128" cy="1024128"/>
          </a:xfrm>
        </p:grpSpPr>
        <p:sp>
          <p:nvSpPr>
            <p:cNvPr name="Freeform 51" id="51"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6"/>
              <a:stretch>
                <a:fillRect l="0" t="0" r="0" b="0"/>
              </a:stretch>
            </a:blipFill>
          </p:spPr>
          <p:txBody>
            <a:bodyPr/>
            <a:p/>
          </p:txBody>
        </p:sp>
      </p:grpSp>
      <p:grpSp>
        <p:nvGrpSpPr>
          <p:cNvPr name="Group 52" id="52"/>
          <p:cNvGrpSpPr/>
          <p:nvPr/>
        </p:nvGrpSpPr>
        <p:grpSpPr>
          <a:xfrm rot="0">
            <a:off x="3840480" y="6345936"/>
            <a:ext cx="6400800" cy="548640"/>
            <a:chOff x="0" y="0"/>
            <a:chExt cx="8534400" cy="731520"/>
          </a:xfrm>
        </p:grpSpPr>
        <p:sp>
          <p:nvSpPr>
            <p:cNvPr name="Freeform 53" id="53"/>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54" id="54"/>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Build frontend</a:t>
              </a:r>
            </a:p>
          </p:txBody>
        </p:sp>
      </p:grpSp>
      <p:grpSp>
        <p:nvGrpSpPr>
          <p:cNvPr name="Group 55" id="55"/>
          <p:cNvGrpSpPr/>
          <p:nvPr/>
        </p:nvGrpSpPr>
        <p:grpSpPr>
          <a:xfrm rot="0">
            <a:off x="3840480" y="6894576"/>
            <a:ext cx="12801600" cy="548640"/>
            <a:chOff x="0" y="0"/>
            <a:chExt cx="17068800" cy="731520"/>
          </a:xfrm>
        </p:grpSpPr>
        <p:sp>
          <p:nvSpPr>
            <p:cNvPr name="Freeform 56" id="56"/>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txBody>
            <a:bodyPr/>
            <a:p/>
          </p:txBody>
        </p:sp>
        <p:sp>
          <p:nvSpPr>
            <p:cNvPr name="TextBox 57" id="57"/>
            <p:cNvSpPr txBox="true"/>
            <p:nvPr/>
          </p:nvSpPr>
          <p:spPr>
            <a:xfrm>
              <a:off x="0" y="-38100"/>
              <a:ext cx="1706880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npm run build · Next.js standalone</a:t>
              </a:r>
            </a:p>
          </p:txBody>
        </p:sp>
      </p:grpSp>
      <p:grpSp>
        <p:nvGrpSpPr>
          <p:cNvPr name="Group 58" id="58"/>
          <p:cNvGrpSpPr/>
          <p:nvPr/>
        </p:nvGrpSpPr>
        <p:grpSpPr>
          <a:xfrm rot="0">
            <a:off x="1084583" y="7649975"/>
            <a:ext cx="16118843" cy="1268987"/>
            <a:chOff x="0" y="0"/>
            <a:chExt cx="21491791" cy="1691983"/>
          </a:xfrm>
        </p:grpSpPr>
        <p:sp>
          <p:nvSpPr>
            <p:cNvPr name="Freeform 59" id="59"/>
            <p:cNvSpPr/>
            <p:nvPr/>
          </p:nvSpPr>
          <p:spPr>
            <a:xfrm flipH="false" flipV="false" rot="0">
              <a:off x="16891" y="16891"/>
              <a:ext cx="21457919" cy="1658112"/>
            </a:xfrm>
            <a:custGeom>
              <a:avLst/>
              <a:gdLst/>
              <a:ahLst/>
              <a:cxnLst/>
              <a:rect r="r" b="b" t="t" l="l"/>
              <a:pathLst>
                <a:path h="1658112" w="21457919">
                  <a:moveTo>
                    <a:pt x="0" y="0"/>
                  </a:moveTo>
                  <a:lnTo>
                    <a:pt x="21457919" y="0"/>
                  </a:lnTo>
                  <a:lnTo>
                    <a:pt x="21457919" y="1658112"/>
                  </a:lnTo>
                  <a:lnTo>
                    <a:pt x="0" y="1658112"/>
                  </a:lnTo>
                  <a:close/>
                </a:path>
              </a:pathLst>
            </a:custGeom>
            <a:solidFill>
              <a:srgbClr val="FFFFFF"/>
            </a:solidFill>
          </p:spPr>
          <p:txBody>
            <a:bodyPr/>
            <a:p/>
          </p:txBody>
        </p:sp>
        <p:sp>
          <p:nvSpPr>
            <p:cNvPr name="Freeform 60" id="60"/>
            <p:cNvSpPr/>
            <p:nvPr/>
          </p:nvSpPr>
          <p:spPr>
            <a:xfrm flipH="false" flipV="false" rot="0">
              <a:off x="0" y="0"/>
              <a:ext cx="21491702" cy="1691894"/>
            </a:xfrm>
            <a:custGeom>
              <a:avLst/>
              <a:gdLst/>
              <a:ahLst/>
              <a:cxnLst/>
              <a:rect r="r" b="b" t="t" l="l"/>
              <a:pathLst>
                <a:path h="1691894" w="21491702">
                  <a:moveTo>
                    <a:pt x="16891" y="0"/>
                  </a:moveTo>
                  <a:lnTo>
                    <a:pt x="21474810" y="0"/>
                  </a:lnTo>
                  <a:cubicBezTo>
                    <a:pt x="21484208" y="0"/>
                    <a:pt x="21491702" y="7620"/>
                    <a:pt x="21491702" y="16891"/>
                  </a:cubicBezTo>
                  <a:lnTo>
                    <a:pt x="21491702" y="1675003"/>
                  </a:lnTo>
                  <a:cubicBezTo>
                    <a:pt x="21491702" y="1684401"/>
                    <a:pt x="21484082" y="1691894"/>
                    <a:pt x="21474810"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21474810" y="1658112"/>
                  </a:lnTo>
                  <a:lnTo>
                    <a:pt x="21474810" y="1675003"/>
                  </a:lnTo>
                  <a:lnTo>
                    <a:pt x="21457920" y="1675003"/>
                  </a:lnTo>
                  <a:lnTo>
                    <a:pt x="21457920" y="16891"/>
                  </a:lnTo>
                  <a:lnTo>
                    <a:pt x="21474810" y="16891"/>
                  </a:lnTo>
                  <a:lnTo>
                    <a:pt x="21474810" y="33909"/>
                  </a:lnTo>
                  <a:lnTo>
                    <a:pt x="16891" y="33909"/>
                  </a:lnTo>
                  <a:close/>
                </a:path>
              </a:pathLst>
            </a:custGeom>
            <a:solidFill>
              <a:srgbClr val="E2E8F0"/>
            </a:solidFill>
          </p:spPr>
          <p:txBody>
            <a:bodyPr/>
            <a:p/>
          </p:txBody>
        </p:sp>
      </p:grpSp>
      <p:grpSp>
        <p:nvGrpSpPr>
          <p:cNvPr name="Group 61" id="61"/>
          <p:cNvGrpSpPr/>
          <p:nvPr/>
        </p:nvGrpSpPr>
        <p:grpSpPr>
          <a:xfrm rot="0">
            <a:off x="1554480" y="7918704"/>
            <a:ext cx="768096" cy="768096"/>
            <a:chOff x="0" y="0"/>
            <a:chExt cx="1024128" cy="1024128"/>
          </a:xfrm>
        </p:grpSpPr>
        <p:sp>
          <p:nvSpPr>
            <p:cNvPr name="Freeform 62" id="6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F766E"/>
            </a:solidFill>
          </p:spPr>
          <p:txBody>
            <a:bodyPr/>
            <a:p/>
          </p:txBody>
        </p:sp>
      </p:grpSp>
      <p:grpSp>
        <p:nvGrpSpPr>
          <p:cNvPr name="Group 63" id="63"/>
          <p:cNvGrpSpPr/>
          <p:nvPr/>
        </p:nvGrpSpPr>
        <p:grpSpPr>
          <a:xfrm rot="0">
            <a:off x="1554480" y="7918704"/>
            <a:ext cx="768096" cy="768096"/>
            <a:chOff x="0" y="0"/>
            <a:chExt cx="1024128" cy="1024128"/>
          </a:xfrm>
        </p:grpSpPr>
        <p:sp>
          <p:nvSpPr>
            <p:cNvPr name="Freeform 64" id="6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txBody>
            <a:bodyPr/>
            <a:p/>
          </p:txBody>
        </p:sp>
        <p:sp>
          <p:nvSpPr>
            <p:cNvPr name="TextBox 65" id="65"/>
            <p:cNvSpPr txBox="true"/>
            <p:nvPr/>
          </p:nvSpPr>
          <p:spPr>
            <a:xfrm>
              <a:off x="0" y="-47625"/>
              <a:ext cx="1024128" cy="1071753"/>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4</a:t>
              </a:r>
            </a:p>
          </p:txBody>
        </p:sp>
      </p:grpSp>
      <p:grpSp>
        <p:nvGrpSpPr>
          <p:cNvPr name="Group 66" id="66"/>
          <p:cNvGrpSpPr/>
          <p:nvPr/>
        </p:nvGrpSpPr>
        <p:grpSpPr>
          <a:xfrm rot="0">
            <a:off x="2743200" y="7918704"/>
            <a:ext cx="768096" cy="768096"/>
            <a:chOff x="0" y="0"/>
            <a:chExt cx="1024128" cy="1024128"/>
          </a:xfrm>
        </p:grpSpPr>
        <p:sp>
          <p:nvSpPr>
            <p:cNvPr name="Freeform 67" id="67"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7"/>
              <a:stretch>
                <a:fillRect l="0" t="0" r="0" b="0"/>
              </a:stretch>
            </a:blipFill>
          </p:spPr>
          <p:txBody>
            <a:bodyPr/>
            <a:p/>
          </p:txBody>
        </p:sp>
      </p:grpSp>
      <p:grpSp>
        <p:nvGrpSpPr>
          <p:cNvPr name="Group 68" id="68"/>
          <p:cNvGrpSpPr/>
          <p:nvPr/>
        </p:nvGrpSpPr>
        <p:grpSpPr>
          <a:xfrm rot="0">
            <a:off x="3840480" y="7772400"/>
            <a:ext cx="6400800" cy="548640"/>
            <a:chOff x="0" y="0"/>
            <a:chExt cx="8534400" cy="731520"/>
          </a:xfrm>
        </p:grpSpPr>
        <p:sp>
          <p:nvSpPr>
            <p:cNvPr name="Freeform 69" id="69"/>
            <p:cNvSpPr/>
            <p:nvPr/>
          </p:nvSpPr>
          <p:spPr>
            <a:xfrm flipH="false" flipV="false" rot="0">
              <a:off x="0" y="0"/>
              <a:ext cx="8534400" cy="731520"/>
            </a:xfrm>
            <a:custGeom>
              <a:avLst/>
              <a:gdLst/>
              <a:ahLst/>
              <a:cxnLst/>
              <a:rect r="r" b="b" t="t" l="l"/>
              <a:pathLst>
                <a:path h="731520" w="8534400">
                  <a:moveTo>
                    <a:pt x="0" y="0"/>
                  </a:moveTo>
                  <a:lnTo>
                    <a:pt x="8534400" y="0"/>
                  </a:lnTo>
                  <a:lnTo>
                    <a:pt x="8534400" y="731520"/>
                  </a:lnTo>
                  <a:lnTo>
                    <a:pt x="0" y="731520"/>
                  </a:lnTo>
                  <a:close/>
                </a:path>
              </a:pathLst>
            </a:custGeom>
            <a:blipFill>
              <a:blip r:embed="rId3">
                <a:alphaModFix amt="0"/>
              </a:blip>
              <a:stretch>
                <a:fillRect l="0" t="-177325" r="0" b="-177325"/>
              </a:stretch>
            </a:blipFill>
          </p:spPr>
          <p:txBody>
            <a:bodyPr/>
            <a:p/>
          </p:txBody>
        </p:sp>
        <p:sp>
          <p:nvSpPr>
            <p:cNvPr name="TextBox 70" id="70"/>
            <p:cNvSpPr txBox="true"/>
            <p:nvPr/>
          </p:nvSpPr>
          <p:spPr>
            <a:xfrm>
              <a:off x="0" y="-47625"/>
              <a:ext cx="8534400" cy="779145"/>
            </a:xfrm>
            <a:prstGeom prst="rect">
              <a:avLst/>
            </a:prstGeom>
          </p:spPr>
          <p:txBody>
            <a:bodyPr anchor="ctr" rtlCol="false" tIns="0" lIns="0" bIns="0" rIns="0"/>
            <a:lstStyle/>
            <a:p>
              <a:pPr algn="l">
                <a:lnSpc>
                  <a:spcPts val="3359"/>
                </a:lnSpc>
              </a:pPr>
              <a:r>
                <a:rPr lang="en-US" sz="2799" b="true">
                  <a:solidFill>
                    <a:srgbClr val="1E3A5F"/>
                  </a:solidFill>
                  <a:latin typeface="Calibri (MS) Bold"/>
                  <a:ea typeface="Calibri (MS) Bold"/>
                  <a:cs typeface="Calibri (MS) Bold"/>
                  <a:sym typeface="Calibri (MS) Bold"/>
                </a:rPr>
                <a:t>Build Docker</a:t>
              </a:r>
            </a:p>
          </p:txBody>
        </p:sp>
      </p:grpSp>
      <p:grpSp>
        <p:nvGrpSpPr>
          <p:cNvPr name="Group 71" id="71"/>
          <p:cNvGrpSpPr/>
          <p:nvPr/>
        </p:nvGrpSpPr>
        <p:grpSpPr>
          <a:xfrm rot="0">
            <a:off x="3840480" y="8321040"/>
            <a:ext cx="12801600" cy="548640"/>
            <a:chOff x="0" y="0"/>
            <a:chExt cx="17068800" cy="731520"/>
          </a:xfrm>
        </p:grpSpPr>
        <p:sp>
          <p:nvSpPr>
            <p:cNvPr name="Freeform 72" id="72"/>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txBody>
            <a:bodyPr/>
            <a:p/>
          </p:txBody>
        </p:sp>
        <p:sp>
          <p:nvSpPr>
            <p:cNvPr name="TextBox 73" id="73"/>
            <p:cNvSpPr txBox="true"/>
            <p:nvPr/>
          </p:nvSpPr>
          <p:spPr>
            <a:xfrm>
              <a:off x="0" y="-38100"/>
              <a:ext cx="17068800" cy="76962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Validation des Dockerfiles backend + front</a:t>
              </a:r>
            </a:p>
          </p:txBody>
        </p:sp>
      </p:grpSp>
      <p:sp>
        <p:nvSpPr>
          <p:cNvPr name="TextBox 74" id="7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Déploiement Docker Compose</a:t>
              </a:r>
            </a:p>
          </p:txBody>
        </p:sp>
      </p:grpSp>
      <p:grpSp>
        <p:nvGrpSpPr>
          <p:cNvPr name="Group 7" id="7"/>
          <p:cNvGrpSpPr/>
          <p:nvPr/>
        </p:nvGrpSpPr>
        <p:grpSpPr>
          <a:xfrm rot="0">
            <a:off x="914400" y="2103120"/>
            <a:ext cx="16459200" cy="731520"/>
            <a:chOff x="0" y="0"/>
            <a:chExt cx="21945600" cy="975360"/>
          </a:xfrm>
        </p:grpSpPr>
        <p:sp>
          <p:nvSpPr>
            <p:cNvPr name="Freeform 8" id="8"/>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txBody>
            <a:bodyPr/>
            <a:p/>
          </p:txBody>
        </p:sp>
        <p:sp>
          <p:nvSpPr>
            <p:cNvPr name="TextBox 9" id="9"/>
            <p:cNvSpPr txBox="true"/>
            <p:nvPr/>
          </p:nvSpPr>
          <p:spPr>
            <a:xfrm>
              <a:off x="0" y="-66675"/>
              <a:ext cx="21945600" cy="1042035"/>
            </a:xfrm>
            <a:prstGeom prst="rect">
              <a:avLst/>
            </a:prstGeom>
          </p:spPr>
          <p:txBody>
            <a:bodyPr anchor="ctr" rtlCol="false" tIns="0" lIns="0" bIns="0" rIns="0"/>
            <a:lstStyle/>
            <a:p>
              <a:pPr algn="ctr">
                <a:lnSpc>
                  <a:spcPts val="3600"/>
                </a:lnSpc>
              </a:pPr>
              <a:r>
                <a:rPr lang="en-US" sz="3000" i="true">
                  <a:solidFill>
                    <a:srgbClr val="64748B"/>
                  </a:solidFill>
                  <a:latin typeface="Calibri (MS) Italics"/>
                  <a:ea typeface="Calibri (MS) Italics"/>
                  <a:cs typeface="Calibri (MS) Italics"/>
                  <a:sym typeface="Calibri (MS) Italics"/>
                </a:rPr>
                <a:t>Une commande pour démarrer toute la stack</a:t>
              </a:r>
            </a:p>
          </p:txBody>
        </p:sp>
      </p:grpSp>
      <p:grpSp>
        <p:nvGrpSpPr>
          <p:cNvPr name="Group 10" id="10"/>
          <p:cNvGrpSpPr/>
          <p:nvPr/>
        </p:nvGrpSpPr>
        <p:grpSpPr>
          <a:xfrm rot="0">
            <a:off x="2730503" y="3279143"/>
            <a:ext cx="12827003" cy="1488443"/>
            <a:chOff x="0" y="0"/>
            <a:chExt cx="17102671" cy="1984591"/>
          </a:xfrm>
        </p:grpSpPr>
        <p:sp>
          <p:nvSpPr>
            <p:cNvPr name="Freeform 11" id="11"/>
            <p:cNvSpPr/>
            <p:nvPr/>
          </p:nvSpPr>
          <p:spPr>
            <a:xfrm flipH="false" flipV="false" rot="0">
              <a:off x="16891" y="16891"/>
              <a:ext cx="17068799" cy="1950720"/>
            </a:xfrm>
            <a:custGeom>
              <a:avLst/>
              <a:gdLst/>
              <a:ahLst/>
              <a:cxnLst/>
              <a:rect r="r" b="b" t="t" l="l"/>
              <a:pathLst>
                <a:path h="1950720" w="17068799">
                  <a:moveTo>
                    <a:pt x="0" y="0"/>
                  </a:moveTo>
                  <a:lnTo>
                    <a:pt x="17068799" y="0"/>
                  </a:lnTo>
                  <a:lnTo>
                    <a:pt x="17068799" y="1950720"/>
                  </a:lnTo>
                  <a:lnTo>
                    <a:pt x="0" y="1950720"/>
                  </a:lnTo>
                  <a:close/>
                </a:path>
              </a:pathLst>
            </a:custGeom>
            <a:solidFill>
              <a:srgbClr val="1E293B"/>
            </a:solidFill>
          </p:spPr>
          <p:txBody>
            <a:bodyPr/>
            <a:p/>
          </p:txBody>
        </p:sp>
        <p:sp>
          <p:nvSpPr>
            <p:cNvPr name="Freeform 12" id="12"/>
            <p:cNvSpPr/>
            <p:nvPr/>
          </p:nvSpPr>
          <p:spPr>
            <a:xfrm flipH="false" flipV="false" rot="0">
              <a:off x="0" y="0"/>
              <a:ext cx="17102582" cy="1984502"/>
            </a:xfrm>
            <a:custGeom>
              <a:avLst/>
              <a:gdLst/>
              <a:ahLst/>
              <a:cxnLst/>
              <a:rect r="r" b="b" t="t" l="l"/>
              <a:pathLst>
                <a:path h="1984502" w="17102582">
                  <a:moveTo>
                    <a:pt x="16891" y="0"/>
                  </a:moveTo>
                  <a:lnTo>
                    <a:pt x="17085690" y="0"/>
                  </a:lnTo>
                  <a:cubicBezTo>
                    <a:pt x="17095090" y="0"/>
                    <a:pt x="17102582" y="7620"/>
                    <a:pt x="17102582" y="16891"/>
                  </a:cubicBezTo>
                  <a:lnTo>
                    <a:pt x="17102582" y="1967611"/>
                  </a:lnTo>
                  <a:cubicBezTo>
                    <a:pt x="17102582" y="1977009"/>
                    <a:pt x="17094963" y="1984502"/>
                    <a:pt x="17085690"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17085690" y="1950720"/>
                  </a:lnTo>
                  <a:lnTo>
                    <a:pt x="17085690" y="1967611"/>
                  </a:lnTo>
                  <a:lnTo>
                    <a:pt x="17068800" y="1967611"/>
                  </a:lnTo>
                  <a:lnTo>
                    <a:pt x="17068800" y="16891"/>
                  </a:lnTo>
                  <a:lnTo>
                    <a:pt x="17085690" y="16891"/>
                  </a:lnTo>
                  <a:lnTo>
                    <a:pt x="17085690" y="33909"/>
                  </a:lnTo>
                  <a:lnTo>
                    <a:pt x="16891" y="33909"/>
                  </a:lnTo>
                  <a:close/>
                </a:path>
              </a:pathLst>
            </a:custGeom>
            <a:solidFill>
              <a:srgbClr val="1E293B"/>
            </a:solidFill>
          </p:spPr>
          <p:txBody>
            <a:bodyPr/>
            <a:p/>
          </p:txBody>
        </p:sp>
      </p:grpSp>
      <p:grpSp>
        <p:nvGrpSpPr>
          <p:cNvPr name="Group 13" id="13"/>
          <p:cNvGrpSpPr/>
          <p:nvPr/>
        </p:nvGrpSpPr>
        <p:grpSpPr>
          <a:xfrm rot="0">
            <a:off x="3108960" y="3291840"/>
            <a:ext cx="12070080" cy="1463040"/>
            <a:chOff x="0" y="0"/>
            <a:chExt cx="16093440" cy="1950720"/>
          </a:xfrm>
        </p:grpSpPr>
        <p:sp>
          <p:nvSpPr>
            <p:cNvPr name="Freeform 14" id="14"/>
            <p:cNvSpPr/>
            <p:nvPr/>
          </p:nvSpPr>
          <p:spPr>
            <a:xfrm flipH="false" flipV="false" rot="0">
              <a:off x="0" y="0"/>
              <a:ext cx="16093439" cy="1950720"/>
            </a:xfrm>
            <a:custGeom>
              <a:avLst/>
              <a:gdLst/>
              <a:ahLst/>
              <a:cxnLst/>
              <a:rect r="r" b="b" t="t" l="l"/>
              <a:pathLst>
                <a:path h="1950720" w="16093439">
                  <a:moveTo>
                    <a:pt x="0" y="0"/>
                  </a:moveTo>
                  <a:lnTo>
                    <a:pt x="16093439" y="0"/>
                  </a:lnTo>
                  <a:lnTo>
                    <a:pt x="16093439" y="1950720"/>
                  </a:lnTo>
                  <a:lnTo>
                    <a:pt x="0" y="1950720"/>
                  </a:lnTo>
                  <a:close/>
                </a:path>
              </a:pathLst>
            </a:custGeom>
            <a:blipFill>
              <a:blip r:embed="rId3">
                <a:alphaModFix amt="0"/>
              </a:blip>
              <a:stretch>
                <a:fillRect l="0" t="-110751" r="0" b="-110751"/>
              </a:stretch>
            </a:blipFill>
          </p:spPr>
          <p:txBody>
            <a:bodyPr/>
            <a:p/>
          </p:txBody>
        </p:sp>
        <p:sp>
          <p:nvSpPr>
            <p:cNvPr name="TextBox 15" id="15"/>
            <p:cNvSpPr txBox="true"/>
            <p:nvPr/>
          </p:nvSpPr>
          <p:spPr>
            <a:xfrm>
              <a:off x="0" y="-66675"/>
              <a:ext cx="16093440" cy="2017395"/>
            </a:xfrm>
            <a:prstGeom prst="rect">
              <a:avLst/>
            </a:prstGeom>
          </p:spPr>
          <p:txBody>
            <a:bodyPr anchor="ctr" rtlCol="false" tIns="0" lIns="0" bIns="0" rIns="0"/>
            <a:lstStyle/>
            <a:p>
              <a:pPr algn="l">
                <a:lnSpc>
                  <a:spcPts val="4320"/>
                </a:lnSpc>
              </a:pPr>
              <a:r>
                <a:rPr lang="en-US" sz="3600" b="true">
                  <a:solidFill>
                    <a:srgbClr val="06B6D4"/>
                  </a:solidFill>
                  <a:latin typeface="Consolas Bold"/>
                  <a:ea typeface="Consolas Bold"/>
                  <a:cs typeface="Consolas Bold"/>
                  <a:sym typeface="Consolas Bold"/>
                </a:rPr>
                <a:t>$  docker compose up -d --build</a:t>
              </a:r>
            </a:p>
          </p:txBody>
        </p:sp>
      </p:grpSp>
      <p:grpSp>
        <p:nvGrpSpPr>
          <p:cNvPr name="Group 16" id="16"/>
          <p:cNvGrpSpPr/>
          <p:nvPr/>
        </p:nvGrpSpPr>
        <p:grpSpPr>
          <a:xfrm rot="0">
            <a:off x="855983" y="5565143"/>
            <a:ext cx="3042923" cy="3042923"/>
            <a:chOff x="0" y="0"/>
            <a:chExt cx="4057231" cy="4057231"/>
          </a:xfrm>
        </p:grpSpPr>
        <p:sp>
          <p:nvSpPr>
            <p:cNvPr name="Freeform 17" id="17"/>
            <p:cNvSpPr/>
            <p:nvPr/>
          </p:nvSpPr>
          <p:spPr>
            <a:xfrm flipH="false" flipV="false" rot="0">
              <a:off x="16891" y="16891"/>
              <a:ext cx="4023360" cy="4023360"/>
            </a:xfrm>
            <a:custGeom>
              <a:avLst/>
              <a:gdLst/>
              <a:ahLst/>
              <a:cxnLst/>
              <a:rect r="r" b="b" t="t" l="l"/>
              <a:pathLst>
                <a:path h="4023360" w="4023360">
                  <a:moveTo>
                    <a:pt x="0" y="0"/>
                  </a:moveTo>
                  <a:lnTo>
                    <a:pt x="4023360" y="0"/>
                  </a:lnTo>
                  <a:lnTo>
                    <a:pt x="4023360" y="4023360"/>
                  </a:lnTo>
                  <a:lnTo>
                    <a:pt x="0" y="4023360"/>
                  </a:lnTo>
                  <a:close/>
                </a:path>
              </a:pathLst>
            </a:custGeom>
            <a:solidFill>
              <a:srgbClr val="2563EB"/>
            </a:solidFill>
          </p:spPr>
          <p:txBody>
            <a:bodyPr/>
            <a:p/>
          </p:txBody>
        </p:sp>
        <p:sp>
          <p:nvSpPr>
            <p:cNvPr name="Freeform 18" id="18"/>
            <p:cNvSpPr/>
            <p:nvPr/>
          </p:nvSpPr>
          <p:spPr>
            <a:xfrm flipH="false" flipV="false" rot="0">
              <a:off x="0" y="0"/>
              <a:ext cx="4057142" cy="4057142"/>
            </a:xfrm>
            <a:custGeom>
              <a:avLst/>
              <a:gdLst/>
              <a:ahLst/>
              <a:cxnLst/>
              <a:rect r="r" b="b" t="t" l="l"/>
              <a:pathLst>
                <a:path h="4057142" w="4057142">
                  <a:moveTo>
                    <a:pt x="16891" y="0"/>
                  </a:moveTo>
                  <a:lnTo>
                    <a:pt x="4040251" y="0"/>
                  </a:lnTo>
                  <a:cubicBezTo>
                    <a:pt x="4049649" y="0"/>
                    <a:pt x="4057142" y="7620"/>
                    <a:pt x="4057142" y="16891"/>
                  </a:cubicBezTo>
                  <a:lnTo>
                    <a:pt x="4057142" y="4040251"/>
                  </a:lnTo>
                  <a:cubicBezTo>
                    <a:pt x="4057142" y="4049649"/>
                    <a:pt x="4049522" y="4057142"/>
                    <a:pt x="404025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4040251" y="4023360"/>
                  </a:lnTo>
                  <a:lnTo>
                    <a:pt x="4040251" y="4040251"/>
                  </a:lnTo>
                  <a:lnTo>
                    <a:pt x="4023360" y="4040251"/>
                  </a:lnTo>
                  <a:lnTo>
                    <a:pt x="4023360" y="16891"/>
                  </a:lnTo>
                  <a:lnTo>
                    <a:pt x="4040251" y="16891"/>
                  </a:lnTo>
                  <a:lnTo>
                    <a:pt x="4040251" y="33909"/>
                  </a:lnTo>
                  <a:lnTo>
                    <a:pt x="16891" y="33909"/>
                  </a:lnTo>
                  <a:close/>
                </a:path>
              </a:pathLst>
            </a:custGeom>
            <a:solidFill>
              <a:srgbClr val="2563EB"/>
            </a:solidFill>
          </p:spPr>
          <p:txBody>
            <a:bodyPr/>
            <a:p/>
          </p:txBody>
        </p:sp>
      </p:grpSp>
      <p:grpSp>
        <p:nvGrpSpPr>
          <p:cNvPr name="Group 19" id="19"/>
          <p:cNvGrpSpPr/>
          <p:nvPr/>
        </p:nvGrpSpPr>
        <p:grpSpPr>
          <a:xfrm rot="0">
            <a:off x="868680" y="6035040"/>
            <a:ext cx="3017520" cy="822960"/>
            <a:chOff x="0" y="0"/>
            <a:chExt cx="4023360" cy="1097280"/>
          </a:xfrm>
        </p:grpSpPr>
        <p:sp>
          <p:nvSpPr>
            <p:cNvPr name="Freeform 20" id="20"/>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txBody>
            <a:bodyPr/>
            <a:p/>
          </p:txBody>
        </p:sp>
        <p:sp>
          <p:nvSpPr>
            <p:cNvPr name="TextBox 21" id="21"/>
            <p:cNvSpPr txBox="true"/>
            <p:nvPr/>
          </p:nvSpPr>
          <p:spPr>
            <a:xfrm>
              <a:off x="0" y="-47625"/>
              <a:ext cx="4023360" cy="114490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Frontend</a:t>
              </a:r>
            </a:p>
          </p:txBody>
        </p:sp>
      </p:grpSp>
      <p:grpSp>
        <p:nvGrpSpPr>
          <p:cNvPr name="Group 22" id="22"/>
          <p:cNvGrpSpPr/>
          <p:nvPr/>
        </p:nvGrpSpPr>
        <p:grpSpPr>
          <a:xfrm rot="0">
            <a:off x="868680" y="7040880"/>
            <a:ext cx="3017520" cy="731520"/>
            <a:chOff x="0" y="0"/>
            <a:chExt cx="4023360" cy="975360"/>
          </a:xfrm>
        </p:grpSpPr>
        <p:sp>
          <p:nvSpPr>
            <p:cNvPr name="Freeform 23" id="23"/>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24" id="24"/>
            <p:cNvSpPr txBox="true"/>
            <p:nvPr/>
          </p:nvSpPr>
          <p:spPr>
            <a:xfrm>
              <a:off x="0" y="-66675"/>
              <a:ext cx="4023360" cy="1042035"/>
            </a:xfrm>
            <a:prstGeom prst="rect">
              <a:avLst/>
            </a:prstGeom>
          </p:spPr>
          <p:txBody>
            <a:bodyPr anchor="ctr" rtlCol="false" tIns="0" lIns="0" bIns="0" rIns="0"/>
            <a:lstStyle/>
            <a:p>
              <a:pPr algn="ctr">
                <a:lnSpc>
                  <a:spcPts val="3840"/>
                </a:lnSpc>
              </a:pPr>
              <a:r>
                <a:rPr lang="en-US" sz="3200" b="true">
                  <a:solidFill>
                    <a:srgbClr val="CFFAFE"/>
                  </a:solidFill>
                  <a:latin typeface="Consolas Bold"/>
                  <a:ea typeface="Consolas Bold"/>
                  <a:cs typeface="Consolas Bold"/>
                  <a:sym typeface="Consolas Bold"/>
                </a:rPr>
                <a:t>:3000</a:t>
              </a:r>
            </a:p>
          </p:txBody>
        </p:sp>
      </p:grpSp>
      <p:grpSp>
        <p:nvGrpSpPr>
          <p:cNvPr name="Group 25" id="25"/>
          <p:cNvGrpSpPr/>
          <p:nvPr/>
        </p:nvGrpSpPr>
        <p:grpSpPr>
          <a:xfrm rot="0">
            <a:off x="868680" y="7772400"/>
            <a:ext cx="3017520" cy="548640"/>
            <a:chOff x="0" y="0"/>
            <a:chExt cx="4023360" cy="731520"/>
          </a:xfrm>
        </p:grpSpPr>
        <p:sp>
          <p:nvSpPr>
            <p:cNvPr name="Freeform 26" id="26"/>
            <p:cNvSpPr/>
            <p:nvPr/>
          </p:nvSpPr>
          <p:spPr>
            <a:xfrm flipH="false" flipV="false" rot="0">
              <a:off x="0" y="0"/>
              <a:ext cx="4023360" cy="731520"/>
            </a:xfrm>
            <a:custGeom>
              <a:avLst/>
              <a:gdLst/>
              <a:ahLst/>
              <a:cxnLst/>
              <a:rect r="r" b="b" t="t" l="l"/>
              <a:pathLst>
                <a:path h="731520" w="4023360">
                  <a:moveTo>
                    <a:pt x="0" y="0"/>
                  </a:moveTo>
                  <a:lnTo>
                    <a:pt x="4023360" y="0"/>
                  </a:lnTo>
                  <a:lnTo>
                    <a:pt x="4023360" y="731520"/>
                  </a:lnTo>
                  <a:lnTo>
                    <a:pt x="0" y="731520"/>
                  </a:lnTo>
                  <a:close/>
                </a:path>
              </a:pathLst>
            </a:custGeom>
            <a:blipFill>
              <a:blip r:embed="rId3">
                <a:alphaModFix amt="0"/>
              </a:blip>
              <a:stretch>
                <a:fillRect l="0" t="-57167" r="0" b="-57167"/>
              </a:stretch>
            </a:blipFill>
          </p:spPr>
          <p:txBody>
            <a:bodyPr/>
            <a:p/>
          </p:txBody>
        </p:sp>
        <p:sp>
          <p:nvSpPr>
            <p:cNvPr name="TextBox 27" id="27"/>
            <p:cNvSpPr txBox="true"/>
            <p:nvPr/>
          </p:nvSpPr>
          <p:spPr>
            <a:xfrm>
              <a:off x="0" y="-38100"/>
              <a:ext cx="4023360" cy="769620"/>
            </a:xfrm>
            <a:prstGeom prst="rect">
              <a:avLst/>
            </a:prstGeom>
          </p:spPr>
          <p:txBody>
            <a:bodyPr anchor="ctr" rtlCol="false" tIns="0" lIns="0" bIns="0" rIns="0"/>
            <a:lstStyle/>
            <a:p>
              <a:pPr algn="ctr">
                <a:lnSpc>
                  <a:spcPts val="2160"/>
                </a:lnSpc>
              </a:pPr>
              <a:r>
                <a:rPr lang="en-US" sz="1800">
                  <a:solidFill>
                    <a:srgbClr val="CFFAFE"/>
                  </a:solidFill>
                  <a:latin typeface="Calibri (MS)"/>
                  <a:ea typeface="Calibri (MS)"/>
                  <a:cs typeface="Calibri (MS)"/>
                  <a:sym typeface="Calibri (MS)"/>
                </a:rPr>
                <a:t>localhost</a:t>
              </a:r>
            </a:p>
          </p:txBody>
        </p:sp>
      </p:grpSp>
      <p:grpSp>
        <p:nvGrpSpPr>
          <p:cNvPr name="Group 28" id="28"/>
          <p:cNvGrpSpPr/>
          <p:nvPr/>
        </p:nvGrpSpPr>
        <p:grpSpPr>
          <a:xfrm rot="0">
            <a:off x="4239263" y="5565143"/>
            <a:ext cx="3042923" cy="3042923"/>
            <a:chOff x="0" y="0"/>
            <a:chExt cx="4057231" cy="4057231"/>
          </a:xfrm>
        </p:grpSpPr>
        <p:sp>
          <p:nvSpPr>
            <p:cNvPr name="Freeform 29" id="29"/>
            <p:cNvSpPr/>
            <p:nvPr/>
          </p:nvSpPr>
          <p:spPr>
            <a:xfrm flipH="false" flipV="false" rot="0">
              <a:off x="16891" y="16891"/>
              <a:ext cx="4023360" cy="4023360"/>
            </a:xfrm>
            <a:custGeom>
              <a:avLst/>
              <a:gdLst/>
              <a:ahLst/>
              <a:cxnLst/>
              <a:rect r="r" b="b" t="t" l="l"/>
              <a:pathLst>
                <a:path h="4023360" w="4023360">
                  <a:moveTo>
                    <a:pt x="0" y="0"/>
                  </a:moveTo>
                  <a:lnTo>
                    <a:pt x="4023360" y="0"/>
                  </a:lnTo>
                  <a:lnTo>
                    <a:pt x="4023360" y="4023360"/>
                  </a:lnTo>
                  <a:lnTo>
                    <a:pt x="0" y="4023360"/>
                  </a:lnTo>
                  <a:close/>
                </a:path>
              </a:pathLst>
            </a:custGeom>
            <a:solidFill>
              <a:srgbClr val="0D1B2A"/>
            </a:solidFill>
          </p:spPr>
          <p:txBody>
            <a:bodyPr/>
            <a:p/>
          </p:txBody>
        </p:sp>
        <p:sp>
          <p:nvSpPr>
            <p:cNvPr name="Freeform 30" id="30"/>
            <p:cNvSpPr/>
            <p:nvPr/>
          </p:nvSpPr>
          <p:spPr>
            <a:xfrm flipH="false" flipV="false" rot="0">
              <a:off x="0" y="0"/>
              <a:ext cx="4057142" cy="4057142"/>
            </a:xfrm>
            <a:custGeom>
              <a:avLst/>
              <a:gdLst/>
              <a:ahLst/>
              <a:cxnLst/>
              <a:rect r="r" b="b" t="t" l="l"/>
              <a:pathLst>
                <a:path h="4057142" w="4057142">
                  <a:moveTo>
                    <a:pt x="16891" y="0"/>
                  </a:moveTo>
                  <a:lnTo>
                    <a:pt x="4040251" y="0"/>
                  </a:lnTo>
                  <a:cubicBezTo>
                    <a:pt x="4049649" y="0"/>
                    <a:pt x="4057142" y="7620"/>
                    <a:pt x="4057142" y="16891"/>
                  </a:cubicBezTo>
                  <a:lnTo>
                    <a:pt x="4057142" y="4040251"/>
                  </a:lnTo>
                  <a:cubicBezTo>
                    <a:pt x="4057142" y="4049649"/>
                    <a:pt x="4049522" y="4057142"/>
                    <a:pt x="404025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4040251" y="4023360"/>
                  </a:lnTo>
                  <a:lnTo>
                    <a:pt x="4040251" y="4040251"/>
                  </a:lnTo>
                  <a:lnTo>
                    <a:pt x="4023360" y="4040251"/>
                  </a:lnTo>
                  <a:lnTo>
                    <a:pt x="4023360" y="16891"/>
                  </a:lnTo>
                  <a:lnTo>
                    <a:pt x="4040251" y="16891"/>
                  </a:lnTo>
                  <a:lnTo>
                    <a:pt x="4040251" y="33909"/>
                  </a:lnTo>
                  <a:lnTo>
                    <a:pt x="16891" y="33909"/>
                  </a:lnTo>
                  <a:close/>
                </a:path>
              </a:pathLst>
            </a:custGeom>
            <a:solidFill>
              <a:srgbClr val="0D1B2A"/>
            </a:solidFill>
          </p:spPr>
          <p:txBody>
            <a:bodyPr/>
            <a:p/>
          </p:txBody>
        </p:sp>
      </p:grpSp>
      <p:grpSp>
        <p:nvGrpSpPr>
          <p:cNvPr name="Group 31" id="31"/>
          <p:cNvGrpSpPr/>
          <p:nvPr/>
        </p:nvGrpSpPr>
        <p:grpSpPr>
          <a:xfrm rot="0">
            <a:off x="4251960" y="6035040"/>
            <a:ext cx="3017520" cy="822960"/>
            <a:chOff x="0" y="0"/>
            <a:chExt cx="4023360" cy="1097280"/>
          </a:xfrm>
        </p:grpSpPr>
        <p:sp>
          <p:nvSpPr>
            <p:cNvPr name="Freeform 32" id="32"/>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txBody>
            <a:bodyPr/>
            <a:p/>
          </p:txBody>
        </p:sp>
        <p:sp>
          <p:nvSpPr>
            <p:cNvPr name="TextBox 33" id="33"/>
            <p:cNvSpPr txBox="true"/>
            <p:nvPr/>
          </p:nvSpPr>
          <p:spPr>
            <a:xfrm>
              <a:off x="0" y="-47625"/>
              <a:ext cx="4023360" cy="114490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Backend</a:t>
              </a:r>
            </a:p>
          </p:txBody>
        </p:sp>
      </p:grpSp>
      <p:grpSp>
        <p:nvGrpSpPr>
          <p:cNvPr name="Group 34" id="34"/>
          <p:cNvGrpSpPr/>
          <p:nvPr/>
        </p:nvGrpSpPr>
        <p:grpSpPr>
          <a:xfrm rot="0">
            <a:off x="4251960" y="7040880"/>
            <a:ext cx="3017520" cy="731520"/>
            <a:chOff x="0" y="0"/>
            <a:chExt cx="4023360" cy="975360"/>
          </a:xfrm>
        </p:grpSpPr>
        <p:sp>
          <p:nvSpPr>
            <p:cNvPr name="Freeform 35" id="35"/>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36" id="36"/>
            <p:cNvSpPr txBox="true"/>
            <p:nvPr/>
          </p:nvSpPr>
          <p:spPr>
            <a:xfrm>
              <a:off x="0" y="-66675"/>
              <a:ext cx="4023360" cy="1042035"/>
            </a:xfrm>
            <a:prstGeom prst="rect">
              <a:avLst/>
            </a:prstGeom>
          </p:spPr>
          <p:txBody>
            <a:bodyPr anchor="ctr" rtlCol="false" tIns="0" lIns="0" bIns="0" rIns="0"/>
            <a:lstStyle/>
            <a:p>
              <a:pPr algn="ctr">
                <a:lnSpc>
                  <a:spcPts val="3840"/>
                </a:lnSpc>
              </a:pPr>
              <a:r>
                <a:rPr lang="en-US" sz="3200" b="true">
                  <a:solidFill>
                    <a:srgbClr val="CFFAFE"/>
                  </a:solidFill>
                  <a:latin typeface="Consolas Bold"/>
                  <a:ea typeface="Consolas Bold"/>
                  <a:cs typeface="Consolas Bold"/>
                  <a:sym typeface="Consolas Bold"/>
                </a:rPr>
                <a:t>:8000</a:t>
              </a:r>
            </a:p>
          </p:txBody>
        </p:sp>
      </p:grpSp>
      <p:grpSp>
        <p:nvGrpSpPr>
          <p:cNvPr name="Group 37" id="37"/>
          <p:cNvGrpSpPr/>
          <p:nvPr/>
        </p:nvGrpSpPr>
        <p:grpSpPr>
          <a:xfrm rot="0">
            <a:off x="4251960" y="7772400"/>
            <a:ext cx="3017520" cy="548640"/>
            <a:chOff x="0" y="0"/>
            <a:chExt cx="4023360" cy="731520"/>
          </a:xfrm>
        </p:grpSpPr>
        <p:sp>
          <p:nvSpPr>
            <p:cNvPr name="Freeform 38" id="38"/>
            <p:cNvSpPr/>
            <p:nvPr/>
          </p:nvSpPr>
          <p:spPr>
            <a:xfrm flipH="false" flipV="false" rot="0">
              <a:off x="0" y="0"/>
              <a:ext cx="4023360" cy="731520"/>
            </a:xfrm>
            <a:custGeom>
              <a:avLst/>
              <a:gdLst/>
              <a:ahLst/>
              <a:cxnLst/>
              <a:rect r="r" b="b" t="t" l="l"/>
              <a:pathLst>
                <a:path h="731520" w="4023360">
                  <a:moveTo>
                    <a:pt x="0" y="0"/>
                  </a:moveTo>
                  <a:lnTo>
                    <a:pt x="4023360" y="0"/>
                  </a:lnTo>
                  <a:lnTo>
                    <a:pt x="4023360" y="731520"/>
                  </a:lnTo>
                  <a:lnTo>
                    <a:pt x="0" y="731520"/>
                  </a:lnTo>
                  <a:close/>
                </a:path>
              </a:pathLst>
            </a:custGeom>
            <a:blipFill>
              <a:blip r:embed="rId3">
                <a:alphaModFix amt="0"/>
              </a:blip>
              <a:stretch>
                <a:fillRect l="0" t="-57167" r="0" b="-57167"/>
              </a:stretch>
            </a:blipFill>
          </p:spPr>
          <p:txBody>
            <a:bodyPr/>
            <a:p/>
          </p:txBody>
        </p:sp>
        <p:sp>
          <p:nvSpPr>
            <p:cNvPr name="TextBox 39" id="39"/>
            <p:cNvSpPr txBox="true"/>
            <p:nvPr/>
          </p:nvSpPr>
          <p:spPr>
            <a:xfrm>
              <a:off x="0" y="-38100"/>
              <a:ext cx="4023360" cy="769620"/>
            </a:xfrm>
            <a:prstGeom prst="rect">
              <a:avLst/>
            </a:prstGeom>
          </p:spPr>
          <p:txBody>
            <a:bodyPr anchor="ctr" rtlCol="false" tIns="0" lIns="0" bIns="0" rIns="0"/>
            <a:lstStyle/>
            <a:p>
              <a:pPr algn="ctr">
                <a:lnSpc>
                  <a:spcPts val="2160"/>
                </a:lnSpc>
              </a:pPr>
              <a:r>
                <a:rPr lang="en-US" sz="1800">
                  <a:solidFill>
                    <a:srgbClr val="CFFAFE"/>
                  </a:solidFill>
                  <a:latin typeface="Calibri (MS)"/>
                  <a:ea typeface="Calibri (MS)"/>
                  <a:cs typeface="Calibri (MS)"/>
                  <a:sym typeface="Calibri (MS)"/>
                </a:rPr>
                <a:t>localhost</a:t>
              </a:r>
            </a:p>
          </p:txBody>
        </p:sp>
      </p:grpSp>
      <p:grpSp>
        <p:nvGrpSpPr>
          <p:cNvPr name="Group 40" id="40"/>
          <p:cNvGrpSpPr/>
          <p:nvPr/>
        </p:nvGrpSpPr>
        <p:grpSpPr>
          <a:xfrm rot="0">
            <a:off x="7622543" y="5565143"/>
            <a:ext cx="3042923" cy="3042923"/>
            <a:chOff x="0" y="0"/>
            <a:chExt cx="4057231" cy="4057231"/>
          </a:xfrm>
        </p:grpSpPr>
        <p:sp>
          <p:nvSpPr>
            <p:cNvPr name="Freeform 41" id="41"/>
            <p:cNvSpPr/>
            <p:nvPr/>
          </p:nvSpPr>
          <p:spPr>
            <a:xfrm flipH="false" flipV="false" rot="0">
              <a:off x="16891" y="16891"/>
              <a:ext cx="4023360" cy="4023360"/>
            </a:xfrm>
            <a:custGeom>
              <a:avLst/>
              <a:gdLst/>
              <a:ahLst/>
              <a:cxnLst/>
              <a:rect r="r" b="b" t="t" l="l"/>
              <a:pathLst>
                <a:path h="4023360" w="4023360">
                  <a:moveTo>
                    <a:pt x="0" y="0"/>
                  </a:moveTo>
                  <a:lnTo>
                    <a:pt x="4023360" y="0"/>
                  </a:lnTo>
                  <a:lnTo>
                    <a:pt x="4023360" y="4023360"/>
                  </a:lnTo>
                  <a:lnTo>
                    <a:pt x="0" y="4023360"/>
                  </a:lnTo>
                  <a:close/>
                </a:path>
              </a:pathLst>
            </a:custGeom>
            <a:solidFill>
              <a:srgbClr val="1D4ED8"/>
            </a:solidFill>
          </p:spPr>
          <p:txBody>
            <a:bodyPr/>
            <a:p/>
          </p:txBody>
        </p:sp>
        <p:sp>
          <p:nvSpPr>
            <p:cNvPr name="Freeform 42" id="42"/>
            <p:cNvSpPr/>
            <p:nvPr/>
          </p:nvSpPr>
          <p:spPr>
            <a:xfrm flipH="false" flipV="false" rot="0">
              <a:off x="0" y="0"/>
              <a:ext cx="4057142" cy="4057142"/>
            </a:xfrm>
            <a:custGeom>
              <a:avLst/>
              <a:gdLst/>
              <a:ahLst/>
              <a:cxnLst/>
              <a:rect r="r" b="b" t="t" l="l"/>
              <a:pathLst>
                <a:path h="4057142" w="4057142">
                  <a:moveTo>
                    <a:pt x="16891" y="0"/>
                  </a:moveTo>
                  <a:lnTo>
                    <a:pt x="4040251" y="0"/>
                  </a:lnTo>
                  <a:cubicBezTo>
                    <a:pt x="4049649" y="0"/>
                    <a:pt x="4057142" y="7620"/>
                    <a:pt x="4057142" y="16891"/>
                  </a:cubicBezTo>
                  <a:lnTo>
                    <a:pt x="4057142" y="4040251"/>
                  </a:lnTo>
                  <a:cubicBezTo>
                    <a:pt x="4057142" y="4049649"/>
                    <a:pt x="4049522" y="4057142"/>
                    <a:pt x="404025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4040251" y="4023360"/>
                  </a:lnTo>
                  <a:lnTo>
                    <a:pt x="4040251" y="4040251"/>
                  </a:lnTo>
                  <a:lnTo>
                    <a:pt x="4023360" y="4040251"/>
                  </a:lnTo>
                  <a:lnTo>
                    <a:pt x="4023360" y="16891"/>
                  </a:lnTo>
                  <a:lnTo>
                    <a:pt x="4040251" y="16891"/>
                  </a:lnTo>
                  <a:lnTo>
                    <a:pt x="4040251" y="33909"/>
                  </a:lnTo>
                  <a:lnTo>
                    <a:pt x="16891" y="33909"/>
                  </a:lnTo>
                  <a:close/>
                </a:path>
              </a:pathLst>
            </a:custGeom>
            <a:solidFill>
              <a:srgbClr val="1D4ED8"/>
            </a:solidFill>
          </p:spPr>
          <p:txBody>
            <a:bodyPr/>
            <a:p/>
          </p:txBody>
        </p:sp>
      </p:grpSp>
      <p:grpSp>
        <p:nvGrpSpPr>
          <p:cNvPr name="Group 43" id="43"/>
          <p:cNvGrpSpPr/>
          <p:nvPr/>
        </p:nvGrpSpPr>
        <p:grpSpPr>
          <a:xfrm rot="0">
            <a:off x="7635240" y="6035040"/>
            <a:ext cx="3017520" cy="822960"/>
            <a:chOff x="0" y="0"/>
            <a:chExt cx="4023360" cy="1097280"/>
          </a:xfrm>
        </p:grpSpPr>
        <p:sp>
          <p:nvSpPr>
            <p:cNvPr name="Freeform 44" id="44"/>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txBody>
            <a:bodyPr/>
            <a:p/>
          </p:txBody>
        </p:sp>
        <p:sp>
          <p:nvSpPr>
            <p:cNvPr name="TextBox 45" id="45"/>
            <p:cNvSpPr txBox="true"/>
            <p:nvPr/>
          </p:nvSpPr>
          <p:spPr>
            <a:xfrm>
              <a:off x="0" y="-47625"/>
              <a:ext cx="4023360" cy="114490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PostgreSQL</a:t>
              </a:r>
            </a:p>
          </p:txBody>
        </p:sp>
      </p:grpSp>
      <p:grpSp>
        <p:nvGrpSpPr>
          <p:cNvPr name="Group 46" id="46"/>
          <p:cNvGrpSpPr/>
          <p:nvPr/>
        </p:nvGrpSpPr>
        <p:grpSpPr>
          <a:xfrm rot="0">
            <a:off x="7635240" y="7040880"/>
            <a:ext cx="3017520" cy="731520"/>
            <a:chOff x="0" y="0"/>
            <a:chExt cx="4023360" cy="975360"/>
          </a:xfrm>
        </p:grpSpPr>
        <p:sp>
          <p:nvSpPr>
            <p:cNvPr name="Freeform 47" id="47"/>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48" id="48"/>
            <p:cNvSpPr txBox="true"/>
            <p:nvPr/>
          </p:nvSpPr>
          <p:spPr>
            <a:xfrm>
              <a:off x="0" y="-66675"/>
              <a:ext cx="4023360" cy="1042035"/>
            </a:xfrm>
            <a:prstGeom prst="rect">
              <a:avLst/>
            </a:prstGeom>
          </p:spPr>
          <p:txBody>
            <a:bodyPr anchor="ctr" rtlCol="false" tIns="0" lIns="0" bIns="0" rIns="0"/>
            <a:lstStyle/>
            <a:p>
              <a:pPr algn="ctr">
                <a:lnSpc>
                  <a:spcPts val="3840"/>
                </a:lnSpc>
              </a:pPr>
              <a:r>
                <a:rPr lang="en-US" sz="3200" b="true">
                  <a:solidFill>
                    <a:srgbClr val="CFFAFE"/>
                  </a:solidFill>
                  <a:latin typeface="Consolas Bold"/>
                  <a:ea typeface="Consolas Bold"/>
                  <a:cs typeface="Consolas Bold"/>
                  <a:sym typeface="Consolas Bold"/>
                </a:rPr>
                <a:t>:5432</a:t>
              </a:r>
            </a:p>
          </p:txBody>
        </p:sp>
      </p:grpSp>
      <p:grpSp>
        <p:nvGrpSpPr>
          <p:cNvPr name="Group 49" id="49"/>
          <p:cNvGrpSpPr/>
          <p:nvPr/>
        </p:nvGrpSpPr>
        <p:grpSpPr>
          <a:xfrm rot="0">
            <a:off x="7635240" y="7772400"/>
            <a:ext cx="3017520" cy="548640"/>
            <a:chOff x="0" y="0"/>
            <a:chExt cx="4023360" cy="731520"/>
          </a:xfrm>
        </p:grpSpPr>
        <p:sp>
          <p:nvSpPr>
            <p:cNvPr name="Freeform 50" id="50"/>
            <p:cNvSpPr/>
            <p:nvPr/>
          </p:nvSpPr>
          <p:spPr>
            <a:xfrm flipH="false" flipV="false" rot="0">
              <a:off x="0" y="0"/>
              <a:ext cx="4023360" cy="731520"/>
            </a:xfrm>
            <a:custGeom>
              <a:avLst/>
              <a:gdLst/>
              <a:ahLst/>
              <a:cxnLst/>
              <a:rect r="r" b="b" t="t" l="l"/>
              <a:pathLst>
                <a:path h="731520" w="4023360">
                  <a:moveTo>
                    <a:pt x="0" y="0"/>
                  </a:moveTo>
                  <a:lnTo>
                    <a:pt x="4023360" y="0"/>
                  </a:lnTo>
                  <a:lnTo>
                    <a:pt x="4023360" y="731520"/>
                  </a:lnTo>
                  <a:lnTo>
                    <a:pt x="0" y="731520"/>
                  </a:lnTo>
                  <a:close/>
                </a:path>
              </a:pathLst>
            </a:custGeom>
            <a:blipFill>
              <a:blip r:embed="rId3">
                <a:alphaModFix amt="0"/>
              </a:blip>
              <a:stretch>
                <a:fillRect l="0" t="-57167" r="0" b="-57167"/>
              </a:stretch>
            </a:blipFill>
          </p:spPr>
          <p:txBody>
            <a:bodyPr/>
            <a:p/>
          </p:txBody>
        </p:sp>
        <p:sp>
          <p:nvSpPr>
            <p:cNvPr name="TextBox 51" id="51"/>
            <p:cNvSpPr txBox="true"/>
            <p:nvPr/>
          </p:nvSpPr>
          <p:spPr>
            <a:xfrm>
              <a:off x="0" y="-38100"/>
              <a:ext cx="4023360" cy="769620"/>
            </a:xfrm>
            <a:prstGeom prst="rect">
              <a:avLst/>
            </a:prstGeom>
          </p:spPr>
          <p:txBody>
            <a:bodyPr anchor="ctr" rtlCol="false" tIns="0" lIns="0" bIns="0" rIns="0"/>
            <a:lstStyle/>
            <a:p>
              <a:pPr algn="ctr">
                <a:lnSpc>
                  <a:spcPts val="2160"/>
                </a:lnSpc>
              </a:pPr>
              <a:r>
                <a:rPr lang="en-US" sz="1800">
                  <a:solidFill>
                    <a:srgbClr val="CFFAFE"/>
                  </a:solidFill>
                  <a:latin typeface="Calibri (MS)"/>
                  <a:ea typeface="Calibri (MS)"/>
                  <a:cs typeface="Calibri (MS)"/>
                  <a:sym typeface="Calibri (MS)"/>
                </a:rPr>
                <a:t>localhost</a:t>
              </a:r>
            </a:p>
          </p:txBody>
        </p:sp>
      </p:grpSp>
      <p:grpSp>
        <p:nvGrpSpPr>
          <p:cNvPr name="Group 52" id="52"/>
          <p:cNvGrpSpPr/>
          <p:nvPr/>
        </p:nvGrpSpPr>
        <p:grpSpPr>
          <a:xfrm rot="0">
            <a:off x="11005823" y="5565143"/>
            <a:ext cx="3042923" cy="3042923"/>
            <a:chOff x="0" y="0"/>
            <a:chExt cx="4057231" cy="4057231"/>
          </a:xfrm>
        </p:grpSpPr>
        <p:sp>
          <p:nvSpPr>
            <p:cNvPr name="Freeform 53" id="53"/>
            <p:cNvSpPr/>
            <p:nvPr/>
          </p:nvSpPr>
          <p:spPr>
            <a:xfrm flipH="false" flipV="false" rot="0">
              <a:off x="16891" y="16891"/>
              <a:ext cx="4023360" cy="4023360"/>
            </a:xfrm>
            <a:custGeom>
              <a:avLst/>
              <a:gdLst/>
              <a:ahLst/>
              <a:cxnLst/>
              <a:rect r="r" b="b" t="t" l="l"/>
              <a:pathLst>
                <a:path h="4023360" w="4023360">
                  <a:moveTo>
                    <a:pt x="0" y="0"/>
                  </a:moveTo>
                  <a:lnTo>
                    <a:pt x="4023360" y="0"/>
                  </a:lnTo>
                  <a:lnTo>
                    <a:pt x="4023360" y="4023360"/>
                  </a:lnTo>
                  <a:lnTo>
                    <a:pt x="0" y="4023360"/>
                  </a:lnTo>
                  <a:close/>
                </a:path>
              </a:pathLst>
            </a:custGeom>
            <a:solidFill>
              <a:srgbClr val="DC2626"/>
            </a:solidFill>
          </p:spPr>
          <p:txBody>
            <a:bodyPr/>
            <a:p/>
          </p:txBody>
        </p:sp>
        <p:sp>
          <p:nvSpPr>
            <p:cNvPr name="Freeform 54" id="54"/>
            <p:cNvSpPr/>
            <p:nvPr/>
          </p:nvSpPr>
          <p:spPr>
            <a:xfrm flipH="false" flipV="false" rot="0">
              <a:off x="0" y="0"/>
              <a:ext cx="4057142" cy="4057142"/>
            </a:xfrm>
            <a:custGeom>
              <a:avLst/>
              <a:gdLst/>
              <a:ahLst/>
              <a:cxnLst/>
              <a:rect r="r" b="b" t="t" l="l"/>
              <a:pathLst>
                <a:path h="4057142" w="4057142">
                  <a:moveTo>
                    <a:pt x="16891" y="0"/>
                  </a:moveTo>
                  <a:lnTo>
                    <a:pt x="4040251" y="0"/>
                  </a:lnTo>
                  <a:cubicBezTo>
                    <a:pt x="4049649" y="0"/>
                    <a:pt x="4057142" y="7620"/>
                    <a:pt x="4057142" y="16891"/>
                  </a:cubicBezTo>
                  <a:lnTo>
                    <a:pt x="4057142" y="4040251"/>
                  </a:lnTo>
                  <a:cubicBezTo>
                    <a:pt x="4057142" y="4049649"/>
                    <a:pt x="4049522" y="4057142"/>
                    <a:pt x="404025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4040251" y="4023360"/>
                  </a:lnTo>
                  <a:lnTo>
                    <a:pt x="4040251" y="4040251"/>
                  </a:lnTo>
                  <a:lnTo>
                    <a:pt x="4023360" y="4040251"/>
                  </a:lnTo>
                  <a:lnTo>
                    <a:pt x="4023360" y="16891"/>
                  </a:lnTo>
                  <a:lnTo>
                    <a:pt x="4040251" y="16891"/>
                  </a:lnTo>
                  <a:lnTo>
                    <a:pt x="4040251" y="33909"/>
                  </a:lnTo>
                  <a:lnTo>
                    <a:pt x="16891" y="33909"/>
                  </a:lnTo>
                  <a:close/>
                </a:path>
              </a:pathLst>
            </a:custGeom>
            <a:solidFill>
              <a:srgbClr val="DC2626"/>
            </a:solidFill>
          </p:spPr>
          <p:txBody>
            <a:bodyPr/>
            <a:p/>
          </p:txBody>
        </p:sp>
      </p:grpSp>
      <p:grpSp>
        <p:nvGrpSpPr>
          <p:cNvPr name="Group 55" id="55"/>
          <p:cNvGrpSpPr/>
          <p:nvPr/>
        </p:nvGrpSpPr>
        <p:grpSpPr>
          <a:xfrm rot="0">
            <a:off x="11018520" y="6035040"/>
            <a:ext cx="3017520" cy="822960"/>
            <a:chOff x="0" y="0"/>
            <a:chExt cx="4023360" cy="1097280"/>
          </a:xfrm>
        </p:grpSpPr>
        <p:sp>
          <p:nvSpPr>
            <p:cNvPr name="Freeform 56" id="56"/>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txBody>
            <a:bodyPr/>
            <a:p/>
          </p:txBody>
        </p:sp>
        <p:sp>
          <p:nvSpPr>
            <p:cNvPr name="TextBox 57" id="57"/>
            <p:cNvSpPr txBox="true"/>
            <p:nvPr/>
          </p:nvSpPr>
          <p:spPr>
            <a:xfrm>
              <a:off x="0" y="-47625"/>
              <a:ext cx="4023360" cy="114490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Redis</a:t>
              </a:r>
            </a:p>
          </p:txBody>
        </p:sp>
      </p:grpSp>
      <p:grpSp>
        <p:nvGrpSpPr>
          <p:cNvPr name="Group 58" id="58"/>
          <p:cNvGrpSpPr/>
          <p:nvPr/>
        </p:nvGrpSpPr>
        <p:grpSpPr>
          <a:xfrm rot="0">
            <a:off x="11018520" y="7040880"/>
            <a:ext cx="3017520" cy="731520"/>
            <a:chOff x="0" y="0"/>
            <a:chExt cx="4023360" cy="975360"/>
          </a:xfrm>
        </p:grpSpPr>
        <p:sp>
          <p:nvSpPr>
            <p:cNvPr name="Freeform 59" id="59"/>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60" id="60"/>
            <p:cNvSpPr txBox="true"/>
            <p:nvPr/>
          </p:nvSpPr>
          <p:spPr>
            <a:xfrm>
              <a:off x="0" y="-66675"/>
              <a:ext cx="4023360" cy="1042035"/>
            </a:xfrm>
            <a:prstGeom prst="rect">
              <a:avLst/>
            </a:prstGeom>
          </p:spPr>
          <p:txBody>
            <a:bodyPr anchor="ctr" rtlCol="false" tIns="0" lIns="0" bIns="0" rIns="0"/>
            <a:lstStyle/>
            <a:p>
              <a:pPr algn="ctr">
                <a:lnSpc>
                  <a:spcPts val="3840"/>
                </a:lnSpc>
              </a:pPr>
              <a:r>
                <a:rPr lang="en-US" sz="3200" b="true">
                  <a:solidFill>
                    <a:srgbClr val="CFFAFE"/>
                  </a:solidFill>
                  <a:latin typeface="Consolas Bold"/>
                  <a:ea typeface="Consolas Bold"/>
                  <a:cs typeface="Consolas Bold"/>
                  <a:sym typeface="Consolas Bold"/>
                </a:rPr>
                <a:t>:6379</a:t>
              </a:r>
            </a:p>
          </p:txBody>
        </p:sp>
      </p:grpSp>
      <p:grpSp>
        <p:nvGrpSpPr>
          <p:cNvPr name="Group 61" id="61"/>
          <p:cNvGrpSpPr/>
          <p:nvPr/>
        </p:nvGrpSpPr>
        <p:grpSpPr>
          <a:xfrm rot="0">
            <a:off x="11018520" y="7772400"/>
            <a:ext cx="3017520" cy="548640"/>
            <a:chOff x="0" y="0"/>
            <a:chExt cx="4023360" cy="731520"/>
          </a:xfrm>
        </p:grpSpPr>
        <p:sp>
          <p:nvSpPr>
            <p:cNvPr name="Freeform 62" id="62"/>
            <p:cNvSpPr/>
            <p:nvPr/>
          </p:nvSpPr>
          <p:spPr>
            <a:xfrm flipH="false" flipV="false" rot="0">
              <a:off x="0" y="0"/>
              <a:ext cx="4023360" cy="731520"/>
            </a:xfrm>
            <a:custGeom>
              <a:avLst/>
              <a:gdLst/>
              <a:ahLst/>
              <a:cxnLst/>
              <a:rect r="r" b="b" t="t" l="l"/>
              <a:pathLst>
                <a:path h="731520" w="4023360">
                  <a:moveTo>
                    <a:pt x="0" y="0"/>
                  </a:moveTo>
                  <a:lnTo>
                    <a:pt x="4023360" y="0"/>
                  </a:lnTo>
                  <a:lnTo>
                    <a:pt x="4023360" y="731520"/>
                  </a:lnTo>
                  <a:lnTo>
                    <a:pt x="0" y="731520"/>
                  </a:lnTo>
                  <a:close/>
                </a:path>
              </a:pathLst>
            </a:custGeom>
            <a:blipFill>
              <a:blip r:embed="rId3">
                <a:alphaModFix amt="0"/>
              </a:blip>
              <a:stretch>
                <a:fillRect l="0" t="-57167" r="0" b="-57167"/>
              </a:stretch>
            </a:blipFill>
          </p:spPr>
          <p:txBody>
            <a:bodyPr/>
            <a:p/>
          </p:txBody>
        </p:sp>
        <p:sp>
          <p:nvSpPr>
            <p:cNvPr name="TextBox 63" id="63"/>
            <p:cNvSpPr txBox="true"/>
            <p:nvPr/>
          </p:nvSpPr>
          <p:spPr>
            <a:xfrm>
              <a:off x="0" y="-38100"/>
              <a:ext cx="4023360" cy="769620"/>
            </a:xfrm>
            <a:prstGeom prst="rect">
              <a:avLst/>
            </a:prstGeom>
          </p:spPr>
          <p:txBody>
            <a:bodyPr anchor="ctr" rtlCol="false" tIns="0" lIns="0" bIns="0" rIns="0"/>
            <a:lstStyle/>
            <a:p>
              <a:pPr algn="ctr">
                <a:lnSpc>
                  <a:spcPts val="2160"/>
                </a:lnSpc>
              </a:pPr>
              <a:r>
                <a:rPr lang="en-US" sz="1800">
                  <a:solidFill>
                    <a:srgbClr val="CFFAFE"/>
                  </a:solidFill>
                  <a:latin typeface="Calibri (MS)"/>
                  <a:ea typeface="Calibri (MS)"/>
                  <a:cs typeface="Calibri (MS)"/>
                  <a:sym typeface="Calibri (MS)"/>
                </a:rPr>
                <a:t>localhost</a:t>
              </a:r>
            </a:p>
          </p:txBody>
        </p:sp>
      </p:grpSp>
      <p:grpSp>
        <p:nvGrpSpPr>
          <p:cNvPr name="Group 64" id="64"/>
          <p:cNvGrpSpPr/>
          <p:nvPr/>
        </p:nvGrpSpPr>
        <p:grpSpPr>
          <a:xfrm rot="0">
            <a:off x="14389103" y="5565143"/>
            <a:ext cx="3042923" cy="3042923"/>
            <a:chOff x="0" y="0"/>
            <a:chExt cx="4057231" cy="4057231"/>
          </a:xfrm>
        </p:grpSpPr>
        <p:sp>
          <p:nvSpPr>
            <p:cNvPr name="Freeform 65" id="65"/>
            <p:cNvSpPr/>
            <p:nvPr/>
          </p:nvSpPr>
          <p:spPr>
            <a:xfrm flipH="false" flipV="false" rot="0">
              <a:off x="16891" y="16891"/>
              <a:ext cx="4023360" cy="4023360"/>
            </a:xfrm>
            <a:custGeom>
              <a:avLst/>
              <a:gdLst/>
              <a:ahLst/>
              <a:cxnLst/>
              <a:rect r="r" b="b" t="t" l="l"/>
              <a:pathLst>
                <a:path h="4023360" w="4023360">
                  <a:moveTo>
                    <a:pt x="0" y="0"/>
                  </a:moveTo>
                  <a:lnTo>
                    <a:pt x="4023360" y="0"/>
                  </a:lnTo>
                  <a:lnTo>
                    <a:pt x="4023360" y="4023360"/>
                  </a:lnTo>
                  <a:lnTo>
                    <a:pt x="0" y="4023360"/>
                  </a:lnTo>
                  <a:close/>
                </a:path>
              </a:pathLst>
            </a:custGeom>
            <a:solidFill>
              <a:srgbClr val="0F766E"/>
            </a:solidFill>
          </p:spPr>
          <p:txBody>
            <a:bodyPr/>
            <a:p/>
          </p:txBody>
        </p:sp>
        <p:sp>
          <p:nvSpPr>
            <p:cNvPr name="Freeform 66" id="66"/>
            <p:cNvSpPr/>
            <p:nvPr/>
          </p:nvSpPr>
          <p:spPr>
            <a:xfrm flipH="false" flipV="false" rot="0">
              <a:off x="0" y="0"/>
              <a:ext cx="4057142" cy="4057142"/>
            </a:xfrm>
            <a:custGeom>
              <a:avLst/>
              <a:gdLst/>
              <a:ahLst/>
              <a:cxnLst/>
              <a:rect r="r" b="b" t="t" l="l"/>
              <a:pathLst>
                <a:path h="4057142" w="4057142">
                  <a:moveTo>
                    <a:pt x="16891" y="0"/>
                  </a:moveTo>
                  <a:lnTo>
                    <a:pt x="4040251" y="0"/>
                  </a:lnTo>
                  <a:cubicBezTo>
                    <a:pt x="4049649" y="0"/>
                    <a:pt x="4057142" y="7620"/>
                    <a:pt x="4057142" y="16891"/>
                  </a:cubicBezTo>
                  <a:lnTo>
                    <a:pt x="4057142" y="4040251"/>
                  </a:lnTo>
                  <a:cubicBezTo>
                    <a:pt x="4057142" y="4049649"/>
                    <a:pt x="4049522" y="4057142"/>
                    <a:pt x="4040251" y="4057142"/>
                  </a:cubicBezTo>
                  <a:lnTo>
                    <a:pt x="16891" y="4057142"/>
                  </a:lnTo>
                  <a:cubicBezTo>
                    <a:pt x="7493" y="4057142"/>
                    <a:pt x="0" y="4049522"/>
                    <a:pt x="0" y="4040251"/>
                  </a:cubicBezTo>
                  <a:lnTo>
                    <a:pt x="0" y="16891"/>
                  </a:lnTo>
                  <a:cubicBezTo>
                    <a:pt x="0" y="7620"/>
                    <a:pt x="7620" y="0"/>
                    <a:pt x="16891" y="0"/>
                  </a:cubicBezTo>
                  <a:moveTo>
                    <a:pt x="16891" y="33909"/>
                  </a:moveTo>
                  <a:lnTo>
                    <a:pt x="16891" y="16891"/>
                  </a:lnTo>
                  <a:lnTo>
                    <a:pt x="33909" y="16891"/>
                  </a:lnTo>
                  <a:lnTo>
                    <a:pt x="33909" y="4040251"/>
                  </a:lnTo>
                  <a:lnTo>
                    <a:pt x="16891" y="4040251"/>
                  </a:lnTo>
                  <a:lnTo>
                    <a:pt x="16891" y="4023360"/>
                  </a:lnTo>
                  <a:lnTo>
                    <a:pt x="4040251" y="4023360"/>
                  </a:lnTo>
                  <a:lnTo>
                    <a:pt x="4040251" y="4040251"/>
                  </a:lnTo>
                  <a:lnTo>
                    <a:pt x="4023360" y="4040251"/>
                  </a:lnTo>
                  <a:lnTo>
                    <a:pt x="4023360" y="16891"/>
                  </a:lnTo>
                  <a:lnTo>
                    <a:pt x="4040251" y="16891"/>
                  </a:lnTo>
                  <a:lnTo>
                    <a:pt x="4040251" y="33909"/>
                  </a:lnTo>
                  <a:lnTo>
                    <a:pt x="16891" y="33909"/>
                  </a:lnTo>
                  <a:close/>
                </a:path>
              </a:pathLst>
            </a:custGeom>
            <a:solidFill>
              <a:srgbClr val="0F766E"/>
            </a:solidFill>
          </p:spPr>
          <p:txBody>
            <a:bodyPr/>
            <a:p/>
          </p:txBody>
        </p:sp>
      </p:grpSp>
      <p:grpSp>
        <p:nvGrpSpPr>
          <p:cNvPr name="Group 67" id="67"/>
          <p:cNvGrpSpPr/>
          <p:nvPr/>
        </p:nvGrpSpPr>
        <p:grpSpPr>
          <a:xfrm rot="0">
            <a:off x="14401800" y="6035040"/>
            <a:ext cx="3017520" cy="822960"/>
            <a:chOff x="0" y="0"/>
            <a:chExt cx="4023360" cy="1097280"/>
          </a:xfrm>
        </p:grpSpPr>
        <p:sp>
          <p:nvSpPr>
            <p:cNvPr name="Freeform 68" id="68"/>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txBody>
            <a:bodyPr/>
            <a:p/>
          </p:txBody>
        </p:sp>
        <p:sp>
          <p:nvSpPr>
            <p:cNvPr name="TextBox 69" id="69"/>
            <p:cNvSpPr txBox="true"/>
            <p:nvPr/>
          </p:nvSpPr>
          <p:spPr>
            <a:xfrm>
              <a:off x="0" y="-47625"/>
              <a:ext cx="4023360" cy="114490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Qdrant</a:t>
              </a:r>
            </a:p>
          </p:txBody>
        </p:sp>
      </p:grpSp>
      <p:grpSp>
        <p:nvGrpSpPr>
          <p:cNvPr name="Group 70" id="70"/>
          <p:cNvGrpSpPr/>
          <p:nvPr/>
        </p:nvGrpSpPr>
        <p:grpSpPr>
          <a:xfrm rot="0">
            <a:off x="14401800" y="7040880"/>
            <a:ext cx="3017520" cy="731520"/>
            <a:chOff x="0" y="0"/>
            <a:chExt cx="4023360" cy="975360"/>
          </a:xfrm>
        </p:grpSpPr>
        <p:sp>
          <p:nvSpPr>
            <p:cNvPr name="Freeform 71" id="71"/>
            <p:cNvSpPr/>
            <p:nvPr/>
          </p:nvSpPr>
          <p:spPr>
            <a:xfrm flipH="false" flipV="false" rot="0">
              <a:off x="0" y="0"/>
              <a:ext cx="4023360" cy="975360"/>
            </a:xfrm>
            <a:custGeom>
              <a:avLst/>
              <a:gdLst/>
              <a:ahLst/>
              <a:cxnLst/>
              <a:rect r="r" b="b" t="t" l="l"/>
              <a:pathLst>
                <a:path h="975360" w="4023360">
                  <a:moveTo>
                    <a:pt x="0" y="0"/>
                  </a:moveTo>
                  <a:lnTo>
                    <a:pt x="4023360" y="0"/>
                  </a:lnTo>
                  <a:lnTo>
                    <a:pt x="4023360" y="975360"/>
                  </a:lnTo>
                  <a:lnTo>
                    <a:pt x="0" y="975360"/>
                  </a:lnTo>
                  <a:close/>
                </a:path>
              </a:pathLst>
            </a:custGeom>
            <a:blipFill>
              <a:blip r:embed="rId3">
                <a:alphaModFix amt="0"/>
              </a:blip>
              <a:stretch>
                <a:fillRect l="0" t="-30375" r="0" b="-30375"/>
              </a:stretch>
            </a:blipFill>
          </p:spPr>
          <p:txBody>
            <a:bodyPr/>
            <a:p/>
          </p:txBody>
        </p:sp>
        <p:sp>
          <p:nvSpPr>
            <p:cNvPr name="TextBox 72" id="72"/>
            <p:cNvSpPr txBox="true"/>
            <p:nvPr/>
          </p:nvSpPr>
          <p:spPr>
            <a:xfrm>
              <a:off x="0" y="-66675"/>
              <a:ext cx="4023360" cy="1042035"/>
            </a:xfrm>
            <a:prstGeom prst="rect">
              <a:avLst/>
            </a:prstGeom>
          </p:spPr>
          <p:txBody>
            <a:bodyPr anchor="ctr" rtlCol="false" tIns="0" lIns="0" bIns="0" rIns="0"/>
            <a:lstStyle/>
            <a:p>
              <a:pPr algn="ctr">
                <a:lnSpc>
                  <a:spcPts val="3840"/>
                </a:lnSpc>
              </a:pPr>
              <a:r>
                <a:rPr lang="en-US" sz="3200" b="true">
                  <a:solidFill>
                    <a:srgbClr val="CFFAFE"/>
                  </a:solidFill>
                  <a:latin typeface="Consolas Bold"/>
                  <a:ea typeface="Consolas Bold"/>
                  <a:cs typeface="Consolas Bold"/>
                  <a:sym typeface="Consolas Bold"/>
                </a:rPr>
                <a:t>:6333</a:t>
              </a:r>
            </a:p>
          </p:txBody>
        </p:sp>
      </p:grpSp>
      <p:grpSp>
        <p:nvGrpSpPr>
          <p:cNvPr name="Group 73" id="73"/>
          <p:cNvGrpSpPr/>
          <p:nvPr/>
        </p:nvGrpSpPr>
        <p:grpSpPr>
          <a:xfrm rot="0">
            <a:off x="14401800" y="7772400"/>
            <a:ext cx="3017520" cy="548640"/>
            <a:chOff x="0" y="0"/>
            <a:chExt cx="4023360" cy="731520"/>
          </a:xfrm>
        </p:grpSpPr>
        <p:sp>
          <p:nvSpPr>
            <p:cNvPr name="Freeform 74" id="74"/>
            <p:cNvSpPr/>
            <p:nvPr/>
          </p:nvSpPr>
          <p:spPr>
            <a:xfrm flipH="false" flipV="false" rot="0">
              <a:off x="0" y="0"/>
              <a:ext cx="4023360" cy="731520"/>
            </a:xfrm>
            <a:custGeom>
              <a:avLst/>
              <a:gdLst/>
              <a:ahLst/>
              <a:cxnLst/>
              <a:rect r="r" b="b" t="t" l="l"/>
              <a:pathLst>
                <a:path h="731520" w="4023360">
                  <a:moveTo>
                    <a:pt x="0" y="0"/>
                  </a:moveTo>
                  <a:lnTo>
                    <a:pt x="4023360" y="0"/>
                  </a:lnTo>
                  <a:lnTo>
                    <a:pt x="4023360" y="731520"/>
                  </a:lnTo>
                  <a:lnTo>
                    <a:pt x="0" y="731520"/>
                  </a:lnTo>
                  <a:close/>
                </a:path>
              </a:pathLst>
            </a:custGeom>
            <a:blipFill>
              <a:blip r:embed="rId3">
                <a:alphaModFix amt="0"/>
              </a:blip>
              <a:stretch>
                <a:fillRect l="0" t="-57167" r="0" b="-57167"/>
              </a:stretch>
            </a:blipFill>
          </p:spPr>
          <p:txBody>
            <a:bodyPr/>
            <a:p/>
          </p:txBody>
        </p:sp>
        <p:sp>
          <p:nvSpPr>
            <p:cNvPr name="TextBox 75" id="75"/>
            <p:cNvSpPr txBox="true"/>
            <p:nvPr/>
          </p:nvSpPr>
          <p:spPr>
            <a:xfrm>
              <a:off x="0" y="-38100"/>
              <a:ext cx="4023360" cy="769620"/>
            </a:xfrm>
            <a:prstGeom prst="rect">
              <a:avLst/>
            </a:prstGeom>
          </p:spPr>
          <p:txBody>
            <a:bodyPr anchor="ctr" rtlCol="false" tIns="0" lIns="0" bIns="0" rIns="0"/>
            <a:lstStyle/>
            <a:p>
              <a:pPr algn="ctr">
                <a:lnSpc>
                  <a:spcPts val="2160"/>
                </a:lnSpc>
              </a:pPr>
              <a:r>
                <a:rPr lang="en-US" sz="1800">
                  <a:solidFill>
                    <a:srgbClr val="CFFAFE"/>
                  </a:solidFill>
                  <a:latin typeface="Calibri (MS)"/>
                  <a:ea typeface="Calibri (MS)"/>
                  <a:cs typeface="Calibri (MS)"/>
                  <a:sym typeface="Calibri (MS)"/>
                </a:rPr>
                <a:t>localhost</a:t>
              </a:r>
            </a:p>
          </p:txBody>
        </p:sp>
      </p:grpSp>
      <p:grpSp>
        <p:nvGrpSpPr>
          <p:cNvPr name="Group 76" id="76"/>
          <p:cNvGrpSpPr/>
          <p:nvPr/>
        </p:nvGrpSpPr>
        <p:grpSpPr>
          <a:xfrm rot="0">
            <a:off x="914400" y="9144000"/>
            <a:ext cx="16459200" cy="640080"/>
            <a:chOff x="0" y="0"/>
            <a:chExt cx="21945600" cy="853440"/>
          </a:xfrm>
        </p:grpSpPr>
        <p:sp>
          <p:nvSpPr>
            <p:cNvPr name="Freeform 77" id="77"/>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txBody>
            <a:bodyPr/>
            <a:p/>
          </p:txBody>
        </p:sp>
        <p:sp>
          <p:nvSpPr>
            <p:cNvPr name="TextBox 78" id="78"/>
            <p:cNvSpPr txBox="true"/>
            <p:nvPr/>
          </p:nvSpPr>
          <p:spPr>
            <a:xfrm>
              <a:off x="0" y="-47625"/>
              <a:ext cx="21945600" cy="901065"/>
            </a:xfrm>
            <a:prstGeom prst="rect">
              <a:avLst/>
            </a:prstGeom>
          </p:spPr>
          <p:txBody>
            <a:bodyPr anchor="ctr" rtlCol="false" tIns="0" lIns="0" bIns="0" rIns="0"/>
            <a:lstStyle/>
            <a:p>
              <a:pPr algn="ctr">
                <a:lnSpc>
                  <a:spcPts val="2640"/>
                </a:lnSpc>
              </a:pPr>
              <a:r>
                <a:rPr lang="en-US" sz="2200" i="true">
                  <a:solidFill>
                    <a:srgbClr val="1E3A5F"/>
                  </a:solidFill>
                  <a:latin typeface="Calibri (MS) Italics"/>
                  <a:ea typeface="Calibri (MS) Italics"/>
                  <a:cs typeface="Calibri (MS) Italics"/>
                  <a:sym typeface="Calibri (MS) Italics"/>
                </a:rPr>
                <a:t>Volumes nommés pour la persistance  ·  Reproductibilité totale entre environnements</a:t>
              </a:r>
            </a:p>
          </p:txBody>
        </p:sp>
      </p:grpSp>
      <p:sp>
        <p:nvSpPr>
          <p:cNvPr name="TextBox 79" id="7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Bilan d'évaluation</a:t>
              </a:r>
            </a:p>
          </p:txBody>
        </p:sp>
      </p:grpSp>
      <p:grpSp>
        <p:nvGrpSpPr>
          <p:cNvPr name="Group 7" id="7"/>
          <p:cNvGrpSpPr/>
          <p:nvPr/>
        </p:nvGrpSpPr>
        <p:grpSpPr>
          <a:xfrm rot="0">
            <a:off x="901703" y="2364743"/>
            <a:ext cx="8163563" cy="1525019"/>
            <a:chOff x="0" y="0"/>
            <a:chExt cx="10884751" cy="2033359"/>
          </a:xfrm>
        </p:grpSpPr>
        <p:sp>
          <p:nvSpPr>
            <p:cNvPr name="Freeform 8" id="8"/>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9" id="9"/>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10" id="10"/>
          <p:cNvGrpSpPr/>
          <p:nvPr/>
        </p:nvGrpSpPr>
        <p:grpSpPr>
          <a:xfrm rot="0">
            <a:off x="1280160" y="2743200"/>
            <a:ext cx="768096" cy="768096"/>
            <a:chOff x="0" y="0"/>
            <a:chExt cx="1024128" cy="1024128"/>
          </a:xfrm>
        </p:grpSpPr>
        <p:sp>
          <p:nvSpPr>
            <p:cNvPr name="Freeform 11" id="11"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2286000" y="2377440"/>
            <a:ext cx="5212080" cy="1499616"/>
            <a:chOff x="0" y="0"/>
            <a:chExt cx="6949440" cy="1999488"/>
          </a:xfrm>
        </p:grpSpPr>
        <p:sp>
          <p:nvSpPr>
            <p:cNvPr name="Freeform 13" id="13"/>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14" id="14"/>
            <p:cNvSpPr txBox="true"/>
            <p:nvPr/>
          </p:nvSpPr>
          <p:spPr>
            <a:xfrm>
              <a:off x="0" y="-57150"/>
              <a:ext cx="69494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Accès centralisé</a:t>
              </a:r>
            </a:p>
          </p:txBody>
        </p:sp>
      </p:grpSp>
      <p:grpSp>
        <p:nvGrpSpPr>
          <p:cNvPr name="Group 15" id="15"/>
          <p:cNvGrpSpPr/>
          <p:nvPr/>
        </p:nvGrpSpPr>
        <p:grpSpPr>
          <a:xfrm rot="0">
            <a:off x="7406640" y="2377440"/>
            <a:ext cx="1554480" cy="1499616"/>
            <a:chOff x="0" y="0"/>
            <a:chExt cx="2072640" cy="1999488"/>
          </a:xfrm>
        </p:grpSpPr>
        <p:sp>
          <p:nvSpPr>
            <p:cNvPr name="Freeform 16" id="16"/>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17" id="17"/>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grpSp>
        <p:nvGrpSpPr>
          <p:cNvPr name="Group 18" id="18"/>
          <p:cNvGrpSpPr/>
          <p:nvPr/>
        </p:nvGrpSpPr>
        <p:grpSpPr>
          <a:xfrm rot="0">
            <a:off x="9222743" y="2364743"/>
            <a:ext cx="8163563" cy="1525019"/>
            <a:chOff x="0" y="0"/>
            <a:chExt cx="10884751" cy="2033359"/>
          </a:xfrm>
        </p:grpSpPr>
        <p:sp>
          <p:nvSpPr>
            <p:cNvPr name="Freeform 19" id="19"/>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20" id="20"/>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21" id="21"/>
          <p:cNvGrpSpPr/>
          <p:nvPr/>
        </p:nvGrpSpPr>
        <p:grpSpPr>
          <a:xfrm rot="0">
            <a:off x="9601200" y="2743200"/>
            <a:ext cx="768096" cy="768096"/>
            <a:chOff x="0" y="0"/>
            <a:chExt cx="1024128" cy="1024128"/>
          </a:xfrm>
        </p:grpSpPr>
        <p:sp>
          <p:nvSpPr>
            <p:cNvPr name="Freeform 22" id="22"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23" id="23"/>
          <p:cNvGrpSpPr/>
          <p:nvPr/>
        </p:nvGrpSpPr>
        <p:grpSpPr>
          <a:xfrm rot="0">
            <a:off x="10607040" y="2377440"/>
            <a:ext cx="5212080" cy="1499616"/>
            <a:chOff x="0" y="0"/>
            <a:chExt cx="6949440" cy="1999488"/>
          </a:xfrm>
        </p:grpSpPr>
        <p:sp>
          <p:nvSpPr>
            <p:cNvPr name="Freeform 24" id="24"/>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25" id="25"/>
            <p:cNvSpPr txBox="true"/>
            <p:nvPr/>
          </p:nvSpPr>
          <p:spPr>
            <a:xfrm>
              <a:off x="0" y="-57150"/>
              <a:ext cx="6949440" cy="2056638"/>
            </a:xfrm>
            <a:prstGeom prst="rect">
              <a:avLst/>
            </a:prstGeom>
          </p:spPr>
          <p:txBody>
            <a:bodyPr anchor="ctr" rtlCol="false" tIns="0" lIns="0" bIns="0" rIns="0"/>
            <a:lstStyle/>
            <a:p>
              <a:r>
                <a:t>Réponses ancrées (RAG)</a:t>
              </a:r>
            </a:p>
          </p:txBody>
        </p:sp>
      </p:grpSp>
      <p:grpSp>
        <p:nvGrpSpPr>
          <p:cNvPr name="Group 26" id="26"/>
          <p:cNvGrpSpPr/>
          <p:nvPr/>
        </p:nvGrpSpPr>
        <p:grpSpPr>
          <a:xfrm rot="0">
            <a:off x="15727680" y="2377440"/>
            <a:ext cx="1554480" cy="1499616"/>
            <a:chOff x="0" y="0"/>
            <a:chExt cx="2072640" cy="1999488"/>
          </a:xfrm>
        </p:grpSpPr>
        <p:sp>
          <p:nvSpPr>
            <p:cNvPr name="Freeform 27" id="27"/>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28" id="28"/>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grpSp>
        <p:nvGrpSpPr>
          <p:cNvPr name="Group 29" id="29"/>
          <p:cNvGrpSpPr/>
          <p:nvPr/>
        </p:nvGrpSpPr>
        <p:grpSpPr>
          <a:xfrm rot="0">
            <a:off x="901703" y="4102103"/>
            <a:ext cx="8163563" cy="1525019"/>
            <a:chOff x="0" y="0"/>
            <a:chExt cx="10884751" cy="2033359"/>
          </a:xfrm>
        </p:grpSpPr>
        <p:sp>
          <p:nvSpPr>
            <p:cNvPr name="Freeform 30" id="30"/>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31" id="31"/>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32" id="32"/>
          <p:cNvGrpSpPr/>
          <p:nvPr/>
        </p:nvGrpSpPr>
        <p:grpSpPr>
          <a:xfrm rot="0">
            <a:off x="1280160" y="4480560"/>
            <a:ext cx="768096" cy="768096"/>
            <a:chOff x="0" y="0"/>
            <a:chExt cx="1024128" cy="1024128"/>
          </a:xfrm>
        </p:grpSpPr>
        <p:sp>
          <p:nvSpPr>
            <p:cNvPr name="Freeform 33" id="33"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34" id="34"/>
          <p:cNvGrpSpPr/>
          <p:nvPr/>
        </p:nvGrpSpPr>
        <p:grpSpPr>
          <a:xfrm rot="0">
            <a:off x="2286000" y="4114800"/>
            <a:ext cx="5212080" cy="1499616"/>
            <a:chOff x="0" y="0"/>
            <a:chExt cx="6949440" cy="1999488"/>
          </a:xfrm>
        </p:grpSpPr>
        <p:sp>
          <p:nvSpPr>
            <p:cNvPr name="Freeform 35" id="35"/>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36" id="36"/>
            <p:cNvSpPr txBox="true"/>
            <p:nvPr/>
          </p:nvSpPr>
          <p:spPr>
            <a:xfrm>
              <a:off x="0" y="-57150"/>
              <a:ext cx="69494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Sécurité applicative</a:t>
              </a:r>
            </a:p>
          </p:txBody>
        </p:sp>
      </p:grpSp>
      <p:grpSp>
        <p:nvGrpSpPr>
          <p:cNvPr name="Group 37" id="37"/>
          <p:cNvGrpSpPr/>
          <p:nvPr/>
        </p:nvGrpSpPr>
        <p:grpSpPr>
          <a:xfrm rot="0">
            <a:off x="7406640" y="4114800"/>
            <a:ext cx="1554480" cy="1499616"/>
            <a:chOff x="0" y="0"/>
            <a:chExt cx="2072640" cy="1999488"/>
          </a:xfrm>
        </p:grpSpPr>
        <p:sp>
          <p:nvSpPr>
            <p:cNvPr name="Freeform 38" id="38"/>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39" id="39"/>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grpSp>
        <p:nvGrpSpPr>
          <p:cNvPr name="Group 40" id="40"/>
          <p:cNvGrpSpPr/>
          <p:nvPr/>
        </p:nvGrpSpPr>
        <p:grpSpPr>
          <a:xfrm rot="0">
            <a:off x="9222743" y="4102103"/>
            <a:ext cx="8163563" cy="1525019"/>
            <a:chOff x="0" y="0"/>
            <a:chExt cx="10884751" cy="2033359"/>
          </a:xfrm>
        </p:grpSpPr>
        <p:sp>
          <p:nvSpPr>
            <p:cNvPr name="Freeform 41" id="41"/>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42" id="42"/>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43" id="43"/>
          <p:cNvGrpSpPr/>
          <p:nvPr/>
        </p:nvGrpSpPr>
        <p:grpSpPr>
          <a:xfrm rot="0">
            <a:off x="9601200" y="4480560"/>
            <a:ext cx="768096" cy="768096"/>
            <a:chOff x="0" y="0"/>
            <a:chExt cx="1024128" cy="1024128"/>
          </a:xfrm>
        </p:grpSpPr>
        <p:sp>
          <p:nvSpPr>
            <p:cNvPr name="Freeform 44" id="44"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45" id="45"/>
          <p:cNvGrpSpPr/>
          <p:nvPr/>
        </p:nvGrpSpPr>
        <p:grpSpPr>
          <a:xfrm rot="0">
            <a:off x="10607040" y="4114800"/>
            <a:ext cx="5212080" cy="1499616"/>
            <a:chOff x="0" y="0"/>
            <a:chExt cx="6949440" cy="1999488"/>
          </a:xfrm>
        </p:grpSpPr>
        <p:sp>
          <p:nvSpPr>
            <p:cNvPr name="Freeform 46" id="46"/>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47" id="47"/>
            <p:cNvSpPr txBox="true"/>
            <p:nvPr/>
          </p:nvSpPr>
          <p:spPr>
            <a:xfrm>
              <a:off x="0" y="-57150"/>
              <a:ext cx="6949440" cy="2056638"/>
            </a:xfrm>
            <a:prstGeom prst="rect">
              <a:avLst/>
            </a:prstGeom>
          </p:spPr>
          <p:txBody>
            <a:bodyPr anchor="ctr" rtlCol="false" tIns="0" lIns="0" bIns="0" rIns="0"/>
            <a:lstStyle/>
            <a:p>
              <a:r>
                <a:t>Protection des données</a:t>
              </a:r>
            </a:p>
          </p:txBody>
        </p:sp>
      </p:grpSp>
      <p:grpSp>
        <p:nvGrpSpPr>
          <p:cNvPr name="Group 48" id="48"/>
          <p:cNvGrpSpPr/>
          <p:nvPr/>
        </p:nvGrpSpPr>
        <p:grpSpPr>
          <a:xfrm rot="0">
            <a:off x="15727680" y="4114800"/>
            <a:ext cx="1554480" cy="1499616"/>
            <a:chOff x="0" y="0"/>
            <a:chExt cx="2072640" cy="1999488"/>
          </a:xfrm>
        </p:grpSpPr>
        <p:sp>
          <p:nvSpPr>
            <p:cNvPr name="Freeform 49" id="49"/>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50" id="50"/>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grpSp>
        <p:nvGrpSpPr>
          <p:cNvPr name="Group 51" id="51"/>
          <p:cNvGrpSpPr/>
          <p:nvPr/>
        </p:nvGrpSpPr>
        <p:grpSpPr>
          <a:xfrm rot="0">
            <a:off x="901703" y="5839463"/>
            <a:ext cx="8163563" cy="1525019"/>
            <a:chOff x="0" y="0"/>
            <a:chExt cx="10884751" cy="2033359"/>
          </a:xfrm>
        </p:grpSpPr>
        <p:sp>
          <p:nvSpPr>
            <p:cNvPr name="Freeform 52" id="52"/>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53" id="53"/>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54" id="54"/>
          <p:cNvGrpSpPr/>
          <p:nvPr/>
        </p:nvGrpSpPr>
        <p:grpSpPr>
          <a:xfrm rot="0">
            <a:off x="1280160" y="6217920"/>
            <a:ext cx="768096" cy="768096"/>
            <a:chOff x="0" y="0"/>
            <a:chExt cx="1024128" cy="1024128"/>
          </a:xfrm>
        </p:grpSpPr>
        <p:sp>
          <p:nvSpPr>
            <p:cNvPr name="Freeform 55" id="55"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56" id="56"/>
          <p:cNvGrpSpPr/>
          <p:nvPr/>
        </p:nvGrpSpPr>
        <p:grpSpPr>
          <a:xfrm rot="0">
            <a:off x="2286000" y="5852160"/>
            <a:ext cx="5212080" cy="1499616"/>
            <a:chOff x="0" y="0"/>
            <a:chExt cx="6949440" cy="1999488"/>
          </a:xfrm>
        </p:grpSpPr>
        <p:sp>
          <p:nvSpPr>
            <p:cNvPr name="Freeform 57" id="57"/>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58" id="58"/>
            <p:cNvSpPr txBox="true"/>
            <p:nvPr/>
          </p:nvSpPr>
          <p:spPr>
            <a:xfrm>
              <a:off x="0" y="-57150"/>
              <a:ext cx="69494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Support multilingue</a:t>
              </a:r>
            </a:p>
          </p:txBody>
        </p:sp>
      </p:grpSp>
      <p:grpSp>
        <p:nvGrpSpPr>
          <p:cNvPr name="Group 59" id="59"/>
          <p:cNvGrpSpPr/>
          <p:nvPr/>
        </p:nvGrpSpPr>
        <p:grpSpPr>
          <a:xfrm rot="0">
            <a:off x="7406640" y="5852160"/>
            <a:ext cx="1554480" cy="1499616"/>
            <a:chOff x="0" y="0"/>
            <a:chExt cx="2072640" cy="1999488"/>
          </a:xfrm>
        </p:grpSpPr>
        <p:sp>
          <p:nvSpPr>
            <p:cNvPr name="Freeform 60" id="60"/>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61" id="61"/>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grpSp>
        <p:nvGrpSpPr>
          <p:cNvPr name="Group 62" id="62"/>
          <p:cNvGrpSpPr/>
          <p:nvPr/>
        </p:nvGrpSpPr>
        <p:grpSpPr>
          <a:xfrm rot="0">
            <a:off x="9222743" y="5839463"/>
            <a:ext cx="8163563" cy="1525019"/>
            <a:chOff x="0" y="0"/>
            <a:chExt cx="10884751" cy="2033359"/>
          </a:xfrm>
        </p:grpSpPr>
        <p:sp>
          <p:nvSpPr>
            <p:cNvPr name="Freeform 63" id="63"/>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64" id="64"/>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65" id="65"/>
          <p:cNvGrpSpPr/>
          <p:nvPr/>
        </p:nvGrpSpPr>
        <p:grpSpPr>
          <a:xfrm rot="0">
            <a:off x="9601200" y="6217920"/>
            <a:ext cx="768096" cy="768096"/>
            <a:chOff x="0" y="0"/>
            <a:chExt cx="1024128" cy="1024128"/>
          </a:xfrm>
        </p:grpSpPr>
        <p:sp>
          <p:nvSpPr>
            <p:cNvPr name="Freeform 66" id="66"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67" id="67"/>
          <p:cNvGrpSpPr/>
          <p:nvPr/>
        </p:nvGrpSpPr>
        <p:grpSpPr>
          <a:xfrm rot="0">
            <a:off x="10607040" y="5852160"/>
            <a:ext cx="5212080" cy="1499616"/>
            <a:chOff x="0" y="0"/>
            <a:chExt cx="6949440" cy="1999488"/>
          </a:xfrm>
        </p:grpSpPr>
        <p:sp>
          <p:nvSpPr>
            <p:cNvPr name="Freeform 68" id="68"/>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69" id="69"/>
            <p:cNvSpPr txBox="true"/>
            <p:nvPr/>
          </p:nvSpPr>
          <p:spPr>
            <a:xfrm>
              <a:off x="0" y="-57150"/>
              <a:ext cx="69494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Administration complète</a:t>
              </a:r>
            </a:p>
          </p:txBody>
        </p:sp>
      </p:grpSp>
      <p:grpSp>
        <p:nvGrpSpPr>
          <p:cNvPr name="Group 70" id="70"/>
          <p:cNvGrpSpPr/>
          <p:nvPr/>
        </p:nvGrpSpPr>
        <p:grpSpPr>
          <a:xfrm rot="0">
            <a:off x="15727680" y="5852160"/>
            <a:ext cx="1554480" cy="1499616"/>
            <a:chOff x="0" y="0"/>
            <a:chExt cx="2072640" cy="1999488"/>
          </a:xfrm>
        </p:grpSpPr>
        <p:sp>
          <p:nvSpPr>
            <p:cNvPr name="Freeform 71" id="71"/>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72" id="72"/>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grpSp>
        <p:nvGrpSpPr>
          <p:cNvPr name="Group 73" id="73"/>
          <p:cNvGrpSpPr/>
          <p:nvPr/>
        </p:nvGrpSpPr>
        <p:grpSpPr>
          <a:xfrm rot="0">
            <a:off x="901703" y="7576823"/>
            <a:ext cx="8163563" cy="1525019"/>
            <a:chOff x="0" y="0"/>
            <a:chExt cx="10884751" cy="2033359"/>
          </a:xfrm>
        </p:grpSpPr>
        <p:sp>
          <p:nvSpPr>
            <p:cNvPr name="Freeform 74" id="74"/>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75" id="75"/>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76" id="76"/>
          <p:cNvGrpSpPr/>
          <p:nvPr/>
        </p:nvGrpSpPr>
        <p:grpSpPr>
          <a:xfrm rot="0">
            <a:off x="1280160" y="7955280"/>
            <a:ext cx="768096" cy="768096"/>
            <a:chOff x="0" y="0"/>
            <a:chExt cx="1024128" cy="1024128"/>
          </a:xfrm>
        </p:grpSpPr>
        <p:sp>
          <p:nvSpPr>
            <p:cNvPr name="Freeform 77" id="77"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78" id="78"/>
          <p:cNvGrpSpPr/>
          <p:nvPr/>
        </p:nvGrpSpPr>
        <p:grpSpPr>
          <a:xfrm rot="0">
            <a:off x="2286000" y="7589520"/>
            <a:ext cx="5212080" cy="1499616"/>
            <a:chOff x="0" y="0"/>
            <a:chExt cx="6949440" cy="1999488"/>
          </a:xfrm>
        </p:grpSpPr>
        <p:sp>
          <p:nvSpPr>
            <p:cNvPr name="Freeform 79" id="79"/>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80" id="80"/>
            <p:cNvSpPr txBox="true"/>
            <p:nvPr/>
          </p:nvSpPr>
          <p:spPr>
            <a:xfrm>
              <a:off x="0" y="-57150"/>
              <a:ext cx="69494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Reproductibilité Docker</a:t>
              </a:r>
            </a:p>
          </p:txBody>
        </p:sp>
      </p:grpSp>
      <p:grpSp>
        <p:nvGrpSpPr>
          <p:cNvPr name="Group 81" id="81"/>
          <p:cNvGrpSpPr/>
          <p:nvPr/>
        </p:nvGrpSpPr>
        <p:grpSpPr>
          <a:xfrm rot="0">
            <a:off x="7406640" y="7589520"/>
            <a:ext cx="1554480" cy="1499616"/>
            <a:chOff x="0" y="0"/>
            <a:chExt cx="2072640" cy="1999488"/>
          </a:xfrm>
        </p:grpSpPr>
        <p:sp>
          <p:nvSpPr>
            <p:cNvPr name="Freeform 82" id="82"/>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83" id="83"/>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grpSp>
        <p:nvGrpSpPr>
          <p:cNvPr name="Group 84" id="84"/>
          <p:cNvGrpSpPr/>
          <p:nvPr/>
        </p:nvGrpSpPr>
        <p:grpSpPr>
          <a:xfrm rot="0">
            <a:off x="9222743" y="7576823"/>
            <a:ext cx="8163563" cy="1525019"/>
            <a:chOff x="0" y="0"/>
            <a:chExt cx="10884751" cy="2033359"/>
          </a:xfrm>
        </p:grpSpPr>
        <p:sp>
          <p:nvSpPr>
            <p:cNvPr name="Freeform 85" id="85"/>
            <p:cNvSpPr/>
            <p:nvPr/>
          </p:nvSpPr>
          <p:spPr>
            <a:xfrm flipH="false" flipV="false" rot="0">
              <a:off x="16891" y="16891"/>
              <a:ext cx="10850881" cy="1999488"/>
            </a:xfrm>
            <a:custGeom>
              <a:avLst/>
              <a:gdLst/>
              <a:ahLst/>
              <a:cxnLst/>
              <a:rect r="r" b="b" t="t" l="l"/>
              <a:pathLst>
                <a:path h="1999488" w="10850881">
                  <a:moveTo>
                    <a:pt x="0" y="0"/>
                  </a:moveTo>
                  <a:lnTo>
                    <a:pt x="10850881" y="0"/>
                  </a:lnTo>
                  <a:lnTo>
                    <a:pt x="10850881" y="1999488"/>
                  </a:lnTo>
                  <a:lnTo>
                    <a:pt x="0" y="1999488"/>
                  </a:lnTo>
                  <a:close/>
                </a:path>
              </a:pathLst>
            </a:custGeom>
            <a:solidFill>
              <a:srgbClr val="FFFFFF"/>
            </a:solidFill>
          </p:spPr>
          <p:txBody>
            <a:bodyPr/>
            <a:p/>
          </p:txBody>
        </p:sp>
        <p:sp>
          <p:nvSpPr>
            <p:cNvPr name="Freeform 86" id="86"/>
            <p:cNvSpPr/>
            <p:nvPr/>
          </p:nvSpPr>
          <p:spPr>
            <a:xfrm flipH="false" flipV="false" rot="0">
              <a:off x="0" y="0"/>
              <a:ext cx="10884662" cy="2033270"/>
            </a:xfrm>
            <a:custGeom>
              <a:avLst/>
              <a:gdLst/>
              <a:ahLst/>
              <a:cxnLst/>
              <a:rect r="r" b="b" t="t" l="l"/>
              <a:pathLst>
                <a:path h="2033270" w="10884662">
                  <a:moveTo>
                    <a:pt x="16891" y="0"/>
                  </a:moveTo>
                  <a:lnTo>
                    <a:pt x="10867772" y="0"/>
                  </a:lnTo>
                  <a:cubicBezTo>
                    <a:pt x="10877169" y="0"/>
                    <a:pt x="10884662" y="7620"/>
                    <a:pt x="10884662" y="16891"/>
                  </a:cubicBezTo>
                  <a:lnTo>
                    <a:pt x="10884662" y="2016379"/>
                  </a:lnTo>
                  <a:cubicBezTo>
                    <a:pt x="10884662" y="2025777"/>
                    <a:pt x="10877042" y="2033270"/>
                    <a:pt x="108677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0867772" y="1999488"/>
                  </a:lnTo>
                  <a:lnTo>
                    <a:pt x="10867772" y="2016379"/>
                  </a:lnTo>
                  <a:lnTo>
                    <a:pt x="10850880" y="2016379"/>
                  </a:lnTo>
                  <a:lnTo>
                    <a:pt x="10850880" y="16891"/>
                  </a:lnTo>
                  <a:lnTo>
                    <a:pt x="10867772" y="16891"/>
                  </a:lnTo>
                  <a:lnTo>
                    <a:pt x="10867772" y="33909"/>
                  </a:lnTo>
                  <a:lnTo>
                    <a:pt x="16891" y="33909"/>
                  </a:lnTo>
                  <a:close/>
                </a:path>
              </a:pathLst>
            </a:custGeom>
            <a:solidFill>
              <a:srgbClr val="E2E8F0"/>
            </a:solidFill>
          </p:spPr>
          <p:txBody>
            <a:bodyPr/>
            <a:p/>
          </p:txBody>
        </p:sp>
      </p:grpSp>
      <p:grpSp>
        <p:nvGrpSpPr>
          <p:cNvPr name="Group 87" id="87"/>
          <p:cNvGrpSpPr/>
          <p:nvPr/>
        </p:nvGrpSpPr>
        <p:grpSpPr>
          <a:xfrm rot="0">
            <a:off x="9601200" y="7955280"/>
            <a:ext cx="768096" cy="768096"/>
            <a:chOff x="0" y="0"/>
            <a:chExt cx="1024128" cy="1024128"/>
          </a:xfrm>
        </p:grpSpPr>
        <p:sp>
          <p:nvSpPr>
            <p:cNvPr name="Freeform 88" id="88" descr="preencoded.png"/>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lnTo>
                    <a:pt x="0" y="0"/>
                  </a:lnTo>
                  <a:close/>
                </a:path>
              </a:pathLst>
            </a:custGeom>
            <a:blipFill>
              <a:blip r:embed="rId4"/>
              <a:stretch>
                <a:fillRect l="0" t="0" r="0" b="0"/>
              </a:stretch>
            </a:blipFill>
          </p:spPr>
          <p:txBody>
            <a:bodyPr/>
            <a:p/>
          </p:txBody>
        </p:sp>
      </p:grpSp>
      <p:grpSp>
        <p:nvGrpSpPr>
          <p:cNvPr name="Group 89" id="89"/>
          <p:cNvGrpSpPr/>
          <p:nvPr/>
        </p:nvGrpSpPr>
        <p:grpSpPr>
          <a:xfrm rot="0">
            <a:off x="10607040" y="7589520"/>
            <a:ext cx="5212080" cy="1499616"/>
            <a:chOff x="0" y="0"/>
            <a:chExt cx="6949440" cy="1999488"/>
          </a:xfrm>
        </p:grpSpPr>
        <p:sp>
          <p:nvSpPr>
            <p:cNvPr name="Freeform 90" id="90"/>
            <p:cNvSpPr/>
            <p:nvPr/>
          </p:nvSpPr>
          <p:spPr>
            <a:xfrm flipH="false" flipV="false" rot="0">
              <a:off x="0" y="0"/>
              <a:ext cx="6949440" cy="1999488"/>
            </a:xfrm>
            <a:custGeom>
              <a:avLst/>
              <a:gdLst/>
              <a:ahLst/>
              <a:cxnLst/>
              <a:rect r="r" b="b" t="t" l="l"/>
              <a:pathLst>
                <a:path h="1999488" w="6949440">
                  <a:moveTo>
                    <a:pt x="0" y="0"/>
                  </a:moveTo>
                  <a:lnTo>
                    <a:pt x="6949440" y="0"/>
                  </a:lnTo>
                  <a:lnTo>
                    <a:pt x="6949440" y="1999488"/>
                  </a:lnTo>
                  <a:lnTo>
                    <a:pt x="0" y="1999488"/>
                  </a:lnTo>
                  <a:close/>
                </a:path>
              </a:pathLst>
            </a:custGeom>
            <a:blipFill>
              <a:blip r:embed="rId3">
                <a:alphaModFix amt="0"/>
              </a:blip>
              <a:stretch>
                <a:fillRect l="0" t="-17722" r="0" b="-17722"/>
              </a:stretch>
            </a:blipFill>
          </p:spPr>
          <p:txBody>
            <a:bodyPr/>
            <a:p/>
          </p:txBody>
        </p:sp>
        <p:sp>
          <p:nvSpPr>
            <p:cNvPr name="TextBox 91" id="91"/>
            <p:cNvSpPr txBox="true"/>
            <p:nvPr/>
          </p:nvSpPr>
          <p:spPr>
            <a:xfrm>
              <a:off x="0" y="-57150"/>
              <a:ext cx="6949440" cy="2056638"/>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Non-régression CI/CD</a:t>
              </a:r>
            </a:p>
          </p:txBody>
        </p:sp>
      </p:grpSp>
      <p:grpSp>
        <p:nvGrpSpPr>
          <p:cNvPr name="Group 92" id="92"/>
          <p:cNvGrpSpPr/>
          <p:nvPr/>
        </p:nvGrpSpPr>
        <p:grpSpPr>
          <a:xfrm rot="0">
            <a:off x="15727680" y="7589520"/>
            <a:ext cx="1554480" cy="1499616"/>
            <a:chOff x="0" y="0"/>
            <a:chExt cx="2072640" cy="1999488"/>
          </a:xfrm>
        </p:grpSpPr>
        <p:sp>
          <p:nvSpPr>
            <p:cNvPr name="Freeform 93" id="93"/>
            <p:cNvSpPr/>
            <p:nvPr/>
          </p:nvSpPr>
          <p:spPr>
            <a:xfrm flipH="false" flipV="false" rot="0">
              <a:off x="0" y="0"/>
              <a:ext cx="2072640" cy="1999488"/>
            </a:xfrm>
            <a:custGeom>
              <a:avLst/>
              <a:gdLst/>
              <a:ahLst/>
              <a:cxnLst/>
              <a:rect r="r" b="b" t="t" l="l"/>
              <a:pathLst>
                <a:path h="1999488" w="2072640">
                  <a:moveTo>
                    <a:pt x="0" y="0"/>
                  </a:moveTo>
                  <a:lnTo>
                    <a:pt x="2072640" y="0"/>
                  </a:lnTo>
                  <a:lnTo>
                    <a:pt x="2072640" y="1999488"/>
                  </a:lnTo>
                  <a:lnTo>
                    <a:pt x="0" y="1999488"/>
                  </a:lnTo>
                  <a:close/>
                </a:path>
              </a:pathLst>
            </a:custGeom>
            <a:blipFill>
              <a:blip r:embed="rId3">
                <a:alphaModFix amt="0"/>
              </a:blip>
              <a:stretch>
                <a:fillRect l="-73775" t="0" r="-73775" b="0"/>
              </a:stretch>
            </a:blipFill>
          </p:spPr>
          <p:txBody>
            <a:bodyPr/>
            <a:p/>
          </p:txBody>
        </p:sp>
        <p:sp>
          <p:nvSpPr>
            <p:cNvPr name="TextBox 94" id="94"/>
            <p:cNvSpPr txBox="true"/>
            <p:nvPr/>
          </p:nvSpPr>
          <p:spPr>
            <a:xfrm>
              <a:off x="0" y="-38100"/>
              <a:ext cx="2072640" cy="2037588"/>
            </a:xfrm>
            <a:prstGeom prst="rect">
              <a:avLst/>
            </a:prstGeom>
          </p:spPr>
          <p:txBody>
            <a:bodyPr anchor="ctr" rtlCol="false" tIns="0" lIns="0" bIns="0" rIns="0"/>
            <a:lstStyle/>
            <a:p>
              <a:pPr algn="r">
                <a:lnSpc>
                  <a:spcPts val="2879"/>
                </a:lnSpc>
              </a:pPr>
              <a:r>
                <a:rPr lang="en-US" sz="2400" b="true">
                  <a:solidFill>
                    <a:srgbClr val="059669"/>
                  </a:solidFill>
                  <a:latin typeface="Calibri (MS) Bold"/>
                  <a:ea typeface="Calibri (MS) Bold"/>
                  <a:cs typeface="Calibri (MS) Bold"/>
                  <a:sym typeface="Calibri (MS) Bold"/>
                </a:rPr>
                <a:t>Atteint</a:t>
              </a:r>
            </a:p>
          </p:txBody>
        </p:sp>
      </p:grpSp>
      <p:sp>
        <p:nvSpPr>
          <p:cNvPr name="TextBox 95" id="9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2926080"/>
            <a:ext cx="16093440" cy="914400"/>
            <a:chOff x="0" y="0"/>
            <a:chExt cx="21457920" cy="1219200"/>
          </a:xfrm>
        </p:grpSpPr>
        <p:sp>
          <p:nvSpPr>
            <p:cNvPr name="Freeform 5" id="5"/>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txBody>
            <a:bodyPr/>
            <a:p/>
          </p:txBody>
        </p:sp>
        <p:sp>
          <p:nvSpPr>
            <p:cNvPr name="TextBox 6" id="6"/>
            <p:cNvSpPr txBox="true"/>
            <p:nvPr/>
          </p:nvSpPr>
          <p:spPr>
            <a:xfrm>
              <a:off x="0" y="-47625"/>
              <a:ext cx="21457920" cy="1266825"/>
            </a:xfrm>
            <a:prstGeom prst="rect">
              <a:avLst/>
            </a:prstGeom>
          </p:spPr>
          <p:txBody>
            <a:bodyPr anchor="ctr" rtlCol="false" tIns="0" lIns="0" bIns="0" rIns="0"/>
            <a:lstStyle/>
            <a:p>
              <a:pPr algn="l">
                <a:lnSpc>
                  <a:spcPts val="3359"/>
                </a:lnSpc>
              </a:pPr>
              <a:r>
                <a:rPr lang="en-US" sz="2799" b="true">
                  <a:solidFill>
                    <a:srgbClr val="06B6D4"/>
                  </a:solidFill>
                  <a:latin typeface="Calibri (MS) Bold"/>
                  <a:ea typeface="Calibri (MS) Bold"/>
                  <a:cs typeface="Calibri (MS) Bold"/>
                  <a:sym typeface="Calibri (MS) Bold"/>
                </a:rPr>
                <a:t>07</a:t>
              </a:r>
            </a:p>
          </p:txBody>
        </p:sp>
      </p:grpSp>
      <p:grpSp>
        <p:nvGrpSpPr>
          <p:cNvPr name="Group 7" id="7"/>
          <p:cNvGrpSpPr/>
          <p:nvPr/>
        </p:nvGrpSpPr>
        <p:grpSpPr>
          <a:xfrm rot="0">
            <a:off x="1097280" y="3749040"/>
            <a:ext cx="16093440" cy="2011680"/>
            <a:chOff x="0" y="0"/>
            <a:chExt cx="21457920" cy="2682240"/>
          </a:xfrm>
        </p:grpSpPr>
        <p:sp>
          <p:nvSpPr>
            <p:cNvPr name="Freeform 8" id="8"/>
            <p:cNvSpPr/>
            <p:nvPr/>
          </p:nvSpPr>
          <p:spPr>
            <a:xfrm flipH="false" flipV="false" rot="0">
              <a:off x="0" y="0"/>
              <a:ext cx="21457920" cy="2682240"/>
            </a:xfrm>
            <a:custGeom>
              <a:avLst/>
              <a:gdLst/>
              <a:ahLst/>
              <a:cxnLst/>
              <a:rect r="r" b="b" t="t" l="l"/>
              <a:pathLst>
                <a:path h="2682240" w="21457920">
                  <a:moveTo>
                    <a:pt x="0" y="0"/>
                  </a:moveTo>
                  <a:lnTo>
                    <a:pt x="21457920" y="0"/>
                  </a:lnTo>
                  <a:lnTo>
                    <a:pt x="21457920" y="2682240"/>
                  </a:lnTo>
                  <a:lnTo>
                    <a:pt x="0" y="2682240"/>
                  </a:lnTo>
                  <a:close/>
                </a:path>
              </a:pathLst>
            </a:custGeom>
            <a:blipFill>
              <a:blip r:embed="rId3">
                <a:alphaModFix amt="0"/>
              </a:blip>
              <a:stretch>
                <a:fillRect l="0" t="-105880" r="0" b="-105880"/>
              </a:stretch>
            </a:blipFill>
          </p:spPr>
          <p:txBody>
            <a:bodyPr/>
            <a:p/>
          </p:txBody>
        </p:sp>
        <p:sp>
          <p:nvSpPr>
            <p:cNvPr name="TextBox 9" id="9"/>
            <p:cNvSpPr txBox="true"/>
            <p:nvPr/>
          </p:nvSpPr>
          <p:spPr>
            <a:xfrm>
              <a:off x="0" y="-161925"/>
              <a:ext cx="21457920" cy="284416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Bilan &amp; perspectives</a:t>
              </a:r>
            </a:p>
          </p:txBody>
        </p:sp>
      </p:gr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Limites identifiées</a:t>
              </a:r>
            </a:p>
          </p:txBody>
        </p:sp>
      </p:grpSp>
      <p:grpSp>
        <p:nvGrpSpPr>
          <p:cNvPr name="Group 7" id="7"/>
          <p:cNvGrpSpPr/>
          <p:nvPr/>
        </p:nvGrpSpPr>
        <p:grpSpPr>
          <a:xfrm rot="0">
            <a:off x="914400" y="2103120"/>
            <a:ext cx="16459200" cy="822960"/>
            <a:chOff x="0" y="0"/>
            <a:chExt cx="21945600" cy="1097280"/>
          </a:xfrm>
        </p:grpSpPr>
        <p:sp>
          <p:nvSpPr>
            <p:cNvPr name="Freeform 8" id="8"/>
            <p:cNvSpPr/>
            <p:nvPr/>
          </p:nvSpPr>
          <p:spPr>
            <a:xfrm flipH="false" flipV="false" rot="0">
              <a:off x="0" y="0"/>
              <a:ext cx="21945600" cy="1097280"/>
            </a:xfrm>
            <a:custGeom>
              <a:avLst/>
              <a:gdLst/>
              <a:ahLst/>
              <a:cxnLst/>
              <a:rect r="r" b="b" t="t" l="l"/>
              <a:pathLst>
                <a:path h="1097280" w="21945600">
                  <a:moveTo>
                    <a:pt x="0" y="0"/>
                  </a:moveTo>
                  <a:lnTo>
                    <a:pt x="21945600" y="0"/>
                  </a:lnTo>
                  <a:lnTo>
                    <a:pt x="21945600" y="1097280"/>
                  </a:lnTo>
                  <a:lnTo>
                    <a:pt x="0" y="1097280"/>
                  </a:lnTo>
                  <a:close/>
                </a:path>
              </a:pathLst>
            </a:custGeom>
            <a:blipFill>
              <a:blip r:embed="rId3">
                <a:alphaModFix amt="0"/>
              </a:blip>
              <a:stretch>
                <a:fillRect l="0" t="-339700" r="0" b="-339700"/>
              </a:stretch>
            </a:blipFill>
          </p:spPr>
          <p:txBody>
            <a:bodyPr/>
            <a:p/>
          </p:txBody>
        </p:sp>
        <p:sp>
          <p:nvSpPr>
            <p:cNvPr name="TextBox 9" id="9"/>
            <p:cNvSpPr txBox="true"/>
            <p:nvPr/>
          </p:nvSpPr>
          <p:spPr>
            <a:xfrm>
              <a:off x="0" y="-57150"/>
              <a:ext cx="21945600" cy="1154430"/>
            </a:xfrm>
            <a:prstGeom prst="rect">
              <a:avLst/>
            </a:prstGeom>
          </p:spPr>
          <p:txBody>
            <a:bodyPr anchor="ctr" rtlCol="false" tIns="0" lIns="0" bIns="0" rIns="0"/>
            <a:lstStyle/>
            <a:p>
              <a:pPr algn="ctr">
                <a:lnSpc>
                  <a:spcPts val="3120"/>
                </a:lnSpc>
              </a:pPr>
              <a:r>
                <a:rPr lang="en-US" sz="2600" i="true">
                  <a:solidFill>
                    <a:srgbClr val="64748B"/>
                  </a:solidFill>
                  <a:latin typeface="Calibri (MS) Italics"/>
                  <a:ea typeface="Calibri (MS) Italics"/>
                  <a:cs typeface="Calibri (MS) Italics"/>
                  <a:sym typeface="Calibri (MS) Italics"/>
                </a:rPr>
                <a:t>Le projet est un PFA académique ; ces points devront être adressés pour une mise en production</a:t>
              </a:r>
            </a:p>
          </p:txBody>
        </p:sp>
      </p:grpSp>
      <p:grpSp>
        <p:nvGrpSpPr>
          <p:cNvPr name="Group 10" id="10"/>
          <p:cNvGrpSpPr/>
          <p:nvPr/>
        </p:nvGrpSpPr>
        <p:grpSpPr>
          <a:xfrm rot="0">
            <a:off x="1816103" y="3370583"/>
            <a:ext cx="14655803" cy="848363"/>
            <a:chOff x="0" y="0"/>
            <a:chExt cx="19541071" cy="1131151"/>
          </a:xfrm>
        </p:grpSpPr>
        <p:sp>
          <p:nvSpPr>
            <p:cNvPr name="Freeform 11" id="11"/>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FFBEB"/>
            </a:solidFill>
          </p:spPr>
          <p:txBody>
            <a:bodyPr/>
            <a:p/>
          </p:txBody>
        </p:sp>
        <p:sp>
          <p:nvSpPr>
            <p:cNvPr name="Freeform 12" id="12"/>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FCD34D"/>
            </a:solidFill>
          </p:spPr>
          <p:txBody>
            <a:bodyPr/>
            <a:p/>
          </p:txBody>
        </p:sp>
      </p:grpSp>
      <p:grpSp>
        <p:nvGrpSpPr>
          <p:cNvPr name="Group 13" id="13"/>
          <p:cNvGrpSpPr/>
          <p:nvPr/>
        </p:nvGrpSpPr>
        <p:grpSpPr>
          <a:xfrm rot="0">
            <a:off x="2103120" y="3383280"/>
            <a:ext cx="731520" cy="822960"/>
            <a:chOff x="0" y="0"/>
            <a:chExt cx="975360" cy="1097280"/>
          </a:xfrm>
        </p:grpSpPr>
        <p:sp>
          <p:nvSpPr>
            <p:cNvPr name="Freeform 14" id="14"/>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15" id="15"/>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a:solidFill>
                    <a:srgbClr val="D97706"/>
                  </a:solidFill>
                  <a:latin typeface="Calibri (MS)"/>
                  <a:ea typeface="Calibri (MS)"/>
                  <a:cs typeface="Calibri (MS)"/>
                  <a:sym typeface="Calibri (MS)"/>
                </a:rPr>
                <a:t>⚠</a:t>
              </a:r>
            </a:p>
          </p:txBody>
        </p:sp>
      </p:grpSp>
      <p:grpSp>
        <p:nvGrpSpPr>
          <p:cNvPr name="Group 16" id="16"/>
          <p:cNvGrpSpPr/>
          <p:nvPr/>
        </p:nvGrpSpPr>
        <p:grpSpPr>
          <a:xfrm rot="0">
            <a:off x="2834640" y="3383280"/>
            <a:ext cx="13350240" cy="822960"/>
            <a:chOff x="0" y="0"/>
            <a:chExt cx="17800320" cy="1097280"/>
          </a:xfrm>
        </p:grpSpPr>
        <p:sp>
          <p:nvSpPr>
            <p:cNvPr name="Freeform 17" id="17"/>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18" id="18"/>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Qualité des réponses dépendante du corpus FAQ importé</a:t>
              </a:r>
            </a:p>
          </p:txBody>
        </p:sp>
      </p:grpSp>
      <p:grpSp>
        <p:nvGrpSpPr>
          <p:cNvPr name="Group 19" id="19"/>
          <p:cNvGrpSpPr/>
          <p:nvPr/>
        </p:nvGrpSpPr>
        <p:grpSpPr>
          <a:xfrm rot="0">
            <a:off x="1816103" y="4376423"/>
            <a:ext cx="14655803" cy="848363"/>
            <a:chOff x="0" y="0"/>
            <a:chExt cx="19541071" cy="1131151"/>
          </a:xfrm>
        </p:grpSpPr>
        <p:sp>
          <p:nvSpPr>
            <p:cNvPr name="Freeform 20" id="20"/>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FFBEB"/>
            </a:solidFill>
          </p:spPr>
          <p:txBody>
            <a:bodyPr/>
            <a:p/>
          </p:txBody>
        </p:sp>
        <p:sp>
          <p:nvSpPr>
            <p:cNvPr name="Freeform 21" id="21"/>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FCD34D"/>
            </a:solidFill>
          </p:spPr>
          <p:txBody>
            <a:bodyPr/>
            <a:p/>
          </p:txBody>
        </p:sp>
      </p:grpSp>
      <p:grpSp>
        <p:nvGrpSpPr>
          <p:cNvPr name="Group 22" id="22"/>
          <p:cNvGrpSpPr/>
          <p:nvPr/>
        </p:nvGrpSpPr>
        <p:grpSpPr>
          <a:xfrm rot="0">
            <a:off x="2103120" y="4389120"/>
            <a:ext cx="731520" cy="822960"/>
            <a:chOff x="0" y="0"/>
            <a:chExt cx="975360" cy="1097280"/>
          </a:xfrm>
        </p:grpSpPr>
        <p:sp>
          <p:nvSpPr>
            <p:cNvPr name="Freeform 23" id="23"/>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24" id="24"/>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a:solidFill>
                    <a:srgbClr val="D97706"/>
                  </a:solidFill>
                  <a:latin typeface="Calibri (MS)"/>
                  <a:ea typeface="Calibri (MS)"/>
                  <a:cs typeface="Calibri (MS)"/>
                  <a:sym typeface="Calibri (MS)"/>
                </a:rPr>
                <a:t>⚠</a:t>
              </a:r>
            </a:p>
          </p:txBody>
        </p:sp>
      </p:grpSp>
      <p:grpSp>
        <p:nvGrpSpPr>
          <p:cNvPr name="Group 25" id="25"/>
          <p:cNvGrpSpPr/>
          <p:nvPr/>
        </p:nvGrpSpPr>
        <p:grpSpPr>
          <a:xfrm rot="0">
            <a:off x="2834640" y="4389120"/>
            <a:ext cx="13350240" cy="822960"/>
            <a:chOff x="0" y="0"/>
            <a:chExt cx="17800320" cy="1097280"/>
          </a:xfrm>
        </p:grpSpPr>
        <p:sp>
          <p:nvSpPr>
            <p:cNvPr name="Freeform 26" id="26"/>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27" id="27"/>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Dépendance à une clé API Groq Cloud externe</a:t>
              </a:r>
            </a:p>
          </p:txBody>
        </p:sp>
      </p:grpSp>
      <p:grpSp>
        <p:nvGrpSpPr>
          <p:cNvPr name="Group 28" id="28"/>
          <p:cNvGrpSpPr/>
          <p:nvPr/>
        </p:nvGrpSpPr>
        <p:grpSpPr>
          <a:xfrm rot="0">
            <a:off x="1816103" y="5382263"/>
            <a:ext cx="14655803" cy="848363"/>
            <a:chOff x="0" y="0"/>
            <a:chExt cx="19541071" cy="1131151"/>
          </a:xfrm>
        </p:grpSpPr>
        <p:sp>
          <p:nvSpPr>
            <p:cNvPr name="Freeform 29" id="29"/>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FFBEB"/>
            </a:solidFill>
          </p:spPr>
          <p:txBody>
            <a:bodyPr/>
            <a:p/>
          </p:txBody>
        </p:sp>
        <p:sp>
          <p:nvSpPr>
            <p:cNvPr name="Freeform 30" id="30"/>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FCD34D"/>
            </a:solidFill>
          </p:spPr>
          <p:txBody>
            <a:bodyPr/>
            <a:p/>
          </p:txBody>
        </p:sp>
      </p:grpSp>
      <p:grpSp>
        <p:nvGrpSpPr>
          <p:cNvPr name="Group 31" id="31"/>
          <p:cNvGrpSpPr/>
          <p:nvPr/>
        </p:nvGrpSpPr>
        <p:grpSpPr>
          <a:xfrm rot="0">
            <a:off x="2103120" y="5394960"/>
            <a:ext cx="731520" cy="822960"/>
            <a:chOff x="0" y="0"/>
            <a:chExt cx="975360" cy="1097280"/>
          </a:xfrm>
        </p:grpSpPr>
        <p:sp>
          <p:nvSpPr>
            <p:cNvPr name="Freeform 32" id="32"/>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33" id="33"/>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a:solidFill>
                    <a:srgbClr val="D97706"/>
                  </a:solidFill>
                  <a:latin typeface="Calibri (MS)"/>
                  <a:ea typeface="Calibri (MS)"/>
                  <a:cs typeface="Calibri (MS)"/>
                  <a:sym typeface="Calibri (MS)"/>
                </a:rPr>
                <a:t>⚠</a:t>
              </a:r>
            </a:p>
          </p:txBody>
        </p:sp>
      </p:grpSp>
      <p:grpSp>
        <p:nvGrpSpPr>
          <p:cNvPr name="Group 34" id="34"/>
          <p:cNvGrpSpPr/>
          <p:nvPr/>
        </p:nvGrpSpPr>
        <p:grpSpPr>
          <a:xfrm rot="0">
            <a:off x="2834640" y="5394960"/>
            <a:ext cx="13350240" cy="822960"/>
            <a:chOff x="0" y="0"/>
            <a:chExt cx="17800320" cy="1097280"/>
          </a:xfrm>
        </p:grpSpPr>
        <p:sp>
          <p:nvSpPr>
            <p:cNvPr name="Freeform 35" id="35"/>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36" id="36"/>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Pas de vérification email à l'inscription</a:t>
              </a:r>
            </a:p>
          </p:txBody>
        </p:sp>
      </p:grpSp>
      <p:grpSp>
        <p:nvGrpSpPr>
          <p:cNvPr name="Group 37" id="37"/>
          <p:cNvGrpSpPr/>
          <p:nvPr/>
        </p:nvGrpSpPr>
        <p:grpSpPr>
          <a:xfrm rot="0">
            <a:off x="1816103" y="6388103"/>
            <a:ext cx="14655803" cy="848363"/>
            <a:chOff x="0" y="0"/>
            <a:chExt cx="19541071" cy="1131151"/>
          </a:xfrm>
        </p:grpSpPr>
        <p:sp>
          <p:nvSpPr>
            <p:cNvPr name="Freeform 38" id="38"/>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FFBEB"/>
            </a:solidFill>
          </p:spPr>
          <p:txBody>
            <a:bodyPr/>
            <a:p/>
          </p:txBody>
        </p:sp>
        <p:sp>
          <p:nvSpPr>
            <p:cNvPr name="Freeform 39" id="39"/>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FCD34D"/>
            </a:solidFill>
          </p:spPr>
          <p:txBody>
            <a:bodyPr/>
            <a:p/>
          </p:txBody>
        </p:sp>
      </p:grpSp>
      <p:grpSp>
        <p:nvGrpSpPr>
          <p:cNvPr name="Group 40" id="40"/>
          <p:cNvGrpSpPr/>
          <p:nvPr/>
        </p:nvGrpSpPr>
        <p:grpSpPr>
          <a:xfrm rot="0">
            <a:off x="2103120" y="6400800"/>
            <a:ext cx="731520" cy="822960"/>
            <a:chOff x="0" y="0"/>
            <a:chExt cx="975360" cy="1097280"/>
          </a:xfrm>
        </p:grpSpPr>
        <p:sp>
          <p:nvSpPr>
            <p:cNvPr name="Freeform 41" id="41"/>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42" id="42"/>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a:solidFill>
                    <a:srgbClr val="D97706"/>
                  </a:solidFill>
                  <a:latin typeface="Calibri (MS)"/>
                  <a:ea typeface="Calibri (MS)"/>
                  <a:cs typeface="Calibri (MS)"/>
                  <a:sym typeface="Calibri (MS)"/>
                </a:rPr>
                <a:t>⚠</a:t>
              </a:r>
            </a:p>
          </p:txBody>
        </p:sp>
      </p:grpSp>
      <p:grpSp>
        <p:nvGrpSpPr>
          <p:cNvPr name="Group 43" id="43"/>
          <p:cNvGrpSpPr/>
          <p:nvPr/>
        </p:nvGrpSpPr>
        <p:grpSpPr>
          <a:xfrm rot="0">
            <a:off x="2834640" y="6400800"/>
            <a:ext cx="13350240" cy="822960"/>
            <a:chOff x="0" y="0"/>
            <a:chExt cx="17800320" cy="1097280"/>
          </a:xfrm>
        </p:grpSpPr>
        <p:sp>
          <p:nvSpPr>
            <p:cNvPr name="Freeform 44" id="44"/>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45" id="45"/>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HTTPS non activé en environnement local</a:t>
              </a:r>
            </a:p>
          </p:txBody>
        </p:sp>
      </p:grpSp>
      <p:grpSp>
        <p:nvGrpSpPr>
          <p:cNvPr name="Group 46" id="46"/>
          <p:cNvGrpSpPr/>
          <p:nvPr/>
        </p:nvGrpSpPr>
        <p:grpSpPr>
          <a:xfrm rot="0">
            <a:off x="1816103" y="7393943"/>
            <a:ext cx="14655803" cy="848363"/>
            <a:chOff x="0" y="0"/>
            <a:chExt cx="19541071" cy="1131151"/>
          </a:xfrm>
        </p:grpSpPr>
        <p:sp>
          <p:nvSpPr>
            <p:cNvPr name="Freeform 47" id="47"/>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FFBEB"/>
            </a:solidFill>
          </p:spPr>
          <p:txBody>
            <a:bodyPr/>
            <a:p/>
          </p:txBody>
        </p:sp>
        <p:sp>
          <p:nvSpPr>
            <p:cNvPr name="Freeform 48" id="48"/>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FCD34D"/>
            </a:solidFill>
          </p:spPr>
          <p:txBody>
            <a:bodyPr/>
            <a:p/>
          </p:txBody>
        </p:sp>
      </p:grpSp>
      <p:grpSp>
        <p:nvGrpSpPr>
          <p:cNvPr name="Group 49" id="49"/>
          <p:cNvGrpSpPr/>
          <p:nvPr/>
        </p:nvGrpSpPr>
        <p:grpSpPr>
          <a:xfrm rot="0">
            <a:off x="2103120" y="7406640"/>
            <a:ext cx="731520" cy="822960"/>
            <a:chOff x="0" y="0"/>
            <a:chExt cx="975360" cy="1097280"/>
          </a:xfrm>
        </p:grpSpPr>
        <p:sp>
          <p:nvSpPr>
            <p:cNvPr name="Freeform 50" id="50"/>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51" id="51"/>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a:solidFill>
                    <a:srgbClr val="D97706"/>
                  </a:solidFill>
                  <a:latin typeface="Calibri (MS)"/>
                  <a:ea typeface="Calibri (MS)"/>
                  <a:cs typeface="Calibri (MS)"/>
                  <a:sym typeface="Calibri (MS)"/>
                </a:rPr>
                <a:t>⚠</a:t>
              </a:r>
            </a:p>
          </p:txBody>
        </p:sp>
      </p:grpSp>
      <p:grpSp>
        <p:nvGrpSpPr>
          <p:cNvPr name="Group 52" id="52"/>
          <p:cNvGrpSpPr/>
          <p:nvPr/>
        </p:nvGrpSpPr>
        <p:grpSpPr>
          <a:xfrm rot="0">
            <a:off x="2834640" y="7406640"/>
            <a:ext cx="13350240" cy="822960"/>
            <a:chOff x="0" y="0"/>
            <a:chExt cx="17800320" cy="1097280"/>
          </a:xfrm>
        </p:grpSpPr>
        <p:sp>
          <p:nvSpPr>
            <p:cNvPr name="Freeform 53" id="53"/>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54" id="54"/>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Pas d'authentification 2FA pour l'administrateur</a:t>
              </a:r>
            </a:p>
          </p:txBody>
        </p:sp>
      </p:grpSp>
      <p:grpSp>
        <p:nvGrpSpPr>
          <p:cNvPr name="Group 55" id="55"/>
          <p:cNvGrpSpPr/>
          <p:nvPr/>
        </p:nvGrpSpPr>
        <p:grpSpPr>
          <a:xfrm rot="0">
            <a:off x="1816103" y="8399783"/>
            <a:ext cx="14655803" cy="848363"/>
            <a:chOff x="0" y="0"/>
            <a:chExt cx="19541071" cy="1131151"/>
          </a:xfrm>
        </p:grpSpPr>
        <p:sp>
          <p:nvSpPr>
            <p:cNvPr name="Freeform 56" id="56"/>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FFBEB"/>
            </a:solidFill>
          </p:spPr>
          <p:txBody>
            <a:bodyPr/>
            <a:p/>
          </p:txBody>
        </p:sp>
        <p:sp>
          <p:nvSpPr>
            <p:cNvPr name="Freeform 57" id="57"/>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FCD34D"/>
            </a:solidFill>
          </p:spPr>
          <p:txBody>
            <a:bodyPr/>
            <a:p/>
          </p:txBody>
        </p:sp>
      </p:grpSp>
      <p:grpSp>
        <p:nvGrpSpPr>
          <p:cNvPr name="Group 58" id="58"/>
          <p:cNvGrpSpPr/>
          <p:nvPr/>
        </p:nvGrpSpPr>
        <p:grpSpPr>
          <a:xfrm rot="0">
            <a:off x="2103120" y="8412480"/>
            <a:ext cx="731520" cy="822960"/>
            <a:chOff x="0" y="0"/>
            <a:chExt cx="975360" cy="1097280"/>
          </a:xfrm>
        </p:grpSpPr>
        <p:sp>
          <p:nvSpPr>
            <p:cNvPr name="Freeform 59" id="59"/>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60" id="60"/>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a:solidFill>
                    <a:srgbClr val="D97706"/>
                  </a:solidFill>
                  <a:latin typeface="Calibri (MS)"/>
                  <a:ea typeface="Calibri (MS)"/>
                  <a:cs typeface="Calibri (MS)"/>
                  <a:sym typeface="Calibri (MS)"/>
                </a:rPr>
                <a:t>⚠</a:t>
              </a:r>
            </a:p>
          </p:txBody>
        </p:sp>
      </p:grpSp>
      <p:grpSp>
        <p:nvGrpSpPr>
          <p:cNvPr name="Group 61" id="61"/>
          <p:cNvGrpSpPr/>
          <p:nvPr/>
        </p:nvGrpSpPr>
        <p:grpSpPr>
          <a:xfrm rot="0">
            <a:off x="2834640" y="8412480"/>
            <a:ext cx="13350240" cy="822960"/>
            <a:chOff x="0" y="0"/>
            <a:chExt cx="17800320" cy="1097280"/>
          </a:xfrm>
        </p:grpSpPr>
        <p:sp>
          <p:nvSpPr>
            <p:cNvPr name="Freeform 62" id="62"/>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63" id="63"/>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Supervision applicative (alertes) absente</a:t>
              </a:r>
            </a:p>
          </p:txBody>
        </p:sp>
      </p:grpSp>
      <p:sp>
        <p:nvSpPr>
          <p:cNvPr name="TextBox 64" id="6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Travaux futurs</a:t>
              </a:r>
            </a:p>
          </p:txBody>
        </p:sp>
      </p:grpSp>
      <p:grpSp>
        <p:nvGrpSpPr>
          <p:cNvPr name="Group 7" id="7"/>
          <p:cNvGrpSpPr/>
          <p:nvPr/>
        </p:nvGrpSpPr>
        <p:grpSpPr>
          <a:xfrm rot="0">
            <a:off x="1816103" y="2364743"/>
            <a:ext cx="14655803" cy="848363"/>
            <a:chOff x="0" y="0"/>
            <a:chExt cx="19541071" cy="1131151"/>
          </a:xfrm>
        </p:grpSpPr>
        <p:sp>
          <p:nvSpPr>
            <p:cNvPr name="Freeform 8" id="8"/>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0F9FF"/>
            </a:solidFill>
          </p:spPr>
          <p:txBody>
            <a:bodyPr/>
            <a:p/>
          </p:txBody>
        </p:sp>
        <p:sp>
          <p:nvSpPr>
            <p:cNvPr name="Freeform 9" id="9"/>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BAE6FD"/>
            </a:solidFill>
          </p:spPr>
          <p:txBody>
            <a:bodyPr/>
            <a:p/>
          </p:txBody>
        </p:sp>
      </p:grpSp>
      <p:grpSp>
        <p:nvGrpSpPr>
          <p:cNvPr name="Group 10" id="10"/>
          <p:cNvGrpSpPr/>
          <p:nvPr/>
        </p:nvGrpSpPr>
        <p:grpSpPr>
          <a:xfrm rot="0">
            <a:off x="2103120" y="2377440"/>
            <a:ext cx="731520" cy="822960"/>
            <a:chOff x="0" y="0"/>
            <a:chExt cx="975360" cy="1097280"/>
          </a:xfrm>
        </p:grpSpPr>
        <p:sp>
          <p:nvSpPr>
            <p:cNvPr name="Freeform 11" id="11"/>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12" id="12"/>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b="true">
                  <a:solidFill>
                    <a:srgbClr val="2563EB"/>
                  </a:solidFill>
                  <a:latin typeface="Calibri (MS) Bold"/>
                  <a:ea typeface="Calibri (MS) Bold"/>
                  <a:cs typeface="Calibri (MS) Bold"/>
                  <a:sym typeface="Calibri (MS) Bold"/>
                </a:rPr>
                <a:t>→</a:t>
              </a:r>
            </a:p>
          </p:txBody>
        </p:sp>
      </p:grpSp>
      <p:grpSp>
        <p:nvGrpSpPr>
          <p:cNvPr name="Group 13" id="13"/>
          <p:cNvGrpSpPr/>
          <p:nvPr/>
        </p:nvGrpSpPr>
        <p:grpSpPr>
          <a:xfrm rot="0">
            <a:off x="2834640" y="2377440"/>
            <a:ext cx="13350240" cy="822960"/>
            <a:chOff x="0" y="0"/>
            <a:chExt cx="17800320" cy="1097280"/>
          </a:xfrm>
        </p:grpSpPr>
        <p:sp>
          <p:nvSpPr>
            <p:cNvPr name="Freeform 14" id="14"/>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15" id="15"/>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Déploiement institutionnel avec HTTPS + HSTS</a:t>
              </a:r>
            </a:p>
          </p:txBody>
        </p:sp>
      </p:grpSp>
      <p:grpSp>
        <p:nvGrpSpPr>
          <p:cNvPr name="Group 16" id="16"/>
          <p:cNvGrpSpPr/>
          <p:nvPr/>
        </p:nvGrpSpPr>
        <p:grpSpPr>
          <a:xfrm rot="0">
            <a:off x="1816103" y="3370583"/>
            <a:ext cx="14655803" cy="848363"/>
            <a:chOff x="0" y="0"/>
            <a:chExt cx="19541071" cy="1131151"/>
          </a:xfrm>
        </p:grpSpPr>
        <p:sp>
          <p:nvSpPr>
            <p:cNvPr name="Freeform 17" id="17"/>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0F9FF"/>
            </a:solidFill>
          </p:spPr>
          <p:txBody>
            <a:bodyPr/>
            <a:p/>
          </p:txBody>
        </p:sp>
        <p:sp>
          <p:nvSpPr>
            <p:cNvPr name="Freeform 18" id="18"/>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BAE6FD"/>
            </a:solidFill>
          </p:spPr>
          <p:txBody>
            <a:bodyPr/>
            <a:p/>
          </p:txBody>
        </p:sp>
      </p:grpSp>
      <p:grpSp>
        <p:nvGrpSpPr>
          <p:cNvPr name="Group 19" id="19"/>
          <p:cNvGrpSpPr/>
          <p:nvPr/>
        </p:nvGrpSpPr>
        <p:grpSpPr>
          <a:xfrm rot="0">
            <a:off x="2103120" y="3383280"/>
            <a:ext cx="731520" cy="822960"/>
            <a:chOff x="0" y="0"/>
            <a:chExt cx="975360" cy="1097280"/>
          </a:xfrm>
        </p:grpSpPr>
        <p:sp>
          <p:nvSpPr>
            <p:cNvPr name="Freeform 20" id="20"/>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21" id="21"/>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b="true">
                  <a:solidFill>
                    <a:srgbClr val="2563EB"/>
                  </a:solidFill>
                  <a:latin typeface="Calibri (MS) Bold"/>
                  <a:ea typeface="Calibri (MS) Bold"/>
                  <a:cs typeface="Calibri (MS) Bold"/>
                  <a:sym typeface="Calibri (MS) Bold"/>
                </a:rPr>
                <a:t>→</a:t>
              </a:r>
            </a:p>
          </p:txBody>
        </p:sp>
      </p:grpSp>
      <p:grpSp>
        <p:nvGrpSpPr>
          <p:cNvPr name="Group 22" id="22"/>
          <p:cNvGrpSpPr/>
          <p:nvPr/>
        </p:nvGrpSpPr>
        <p:grpSpPr>
          <a:xfrm rot="0">
            <a:off x="2834640" y="3383280"/>
            <a:ext cx="13350240" cy="822960"/>
            <a:chOff x="0" y="0"/>
            <a:chExt cx="17800320" cy="1097280"/>
          </a:xfrm>
        </p:grpSpPr>
        <p:sp>
          <p:nvSpPr>
            <p:cNvPr name="Freeform 23" id="23"/>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24" id="24"/>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Vérification par email lors de l'inscription</a:t>
              </a:r>
            </a:p>
          </p:txBody>
        </p:sp>
      </p:grpSp>
      <p:grpSp>
        <p:nvGrpSpPr>
          <p:cNvPr name="Group 25" id="25"/>
          <p:cNvGrpSpPr/>
          <p:nvPr/>
        </p:nvGrpSpPr>
        <p:grpSpPr>
          <a:xfrm rot="0">
            <a:off x="1816103" y="4376423"/>
            <a:ext cx="14655803" cy="848363"/>
            <a:chOff x="0" y="0"/>
            <a:chExt cx="19541071" cy="1131151"/>
          </a:xfrm>
        </p:grpSpPr>
        <p:sp>
          <p:nvSpPr>
            <p:cNvPr name="Freeform 26" id="26"/>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0F9FF"/>
            </a:solidFill>
          </p:spPr>
          <p:txBody>
            <a:bodyPr/>
            <a:p/>
          </p:txBody>
        </p:sp>
        <p:sp>
          <p:nvSpPr>
            <p:cNvPr name="Freeform 27" id="27"/>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BAE6FD"/>
            </a:solidFill>
          </p:spPr>
          <p:txBody>
            <a:bodyPr/>
            <a:p/>
          </p:txBody>
        </p:sp>
      </p:grpSp>
      <p:grpSp>
        <p:nvGrpSpPr>
          <p:cNvPr name="Group 28" id="28"/>
          <p:cNvGrpSpPr/>
          <p:nvPr/>
        </p:nvGrpSpPr>
        <p:grpSpPr>
          <a:xfrm rot="0">
            <a:off x="2103120" y="4389120"/>
            <a:ext cx="731520" cy="822960"/>
            <a:chOff x="0" y="0"/>
            <a:chExt cx="975360" cy="1097280"/>
          </a:xfrm>
        </p:grpSpPr>
        <p:sp>
          <p:nvSpPr>
            <p:cNvPr name="Freeform 29" id="29"/>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30" id="30"/>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b="true">
                  <a:solidFill>
                    <a:srgbClr val="2563EB"/>
                  </a:solidFill>
                  <a:latin typeface="Calibri (MS) Bold"/>
                  <a:ea typeface="Calibri (MS) Bold"/>
                  <a:cs typeface="Calibri (MS) Bold"/>
                  <a:sym typeface="Calibri (MS) Bold"/>
                </a:rPr>
                <a:t>→</a:t>
              </a:r>
            </a:p>
          </p:txBody>
        </p:sp>
      </p:grpSp>
      <p:grpSp>
        <p:nvGrpSpPr>
          <p:cNvPr name="Group 31" id="31"/>
          <p:cNvGrpSpPr/>
          <p:nvPr/>
        </p:nvGrpSpPr>
        <p:grpSpPr>
          <a:xfrm rot="0">
            <a:off x="2834640" y="4389120"/>
            <a:ext cx="13350240" cy="822960"/>
            <a:chOff x="0" y="0"/>
            <a:chExt cx="17800320" cy="1097280"/>
          </a:xfrm>
        </p:grpSpPr>
        <p:sp>
          <p:nvSpPr>
            <p:cNvPr name="Freeform 32" id="32"/>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33" id="33"/>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Authentification 2FA pour l'administrateur</a:t>
              </a:r>
            </a:p>
          </p:txBody>
        </p:sp>
      </p:grpSp>
      <p:grpSp>
        <p:nvGrpSpPr>
          <p:cNvPr name="Group 34" id="34"/>
          <p:cNvGrpSpPr/>
          <p:nvPr/>
        </p:nvGrpSpPr>
        <p:grpSpPr>
          <a:xfrm rot="0">
            <a:off x="1816103" y="5382263"/>
            <a:ext cx="14655803" cy="848363"/>
            <a:chOff x="0" y="0"/>
            <a:chExt cx="19541071" cy="1131151"/>
          </a:xfrm>
        </p:grpSpPr>
        <p:sp>
          <p:nvSpPr>
            <p:cNvPr name="Freeform 35" id="35"/>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0F9FF"/>
            </a:solidFill>
          </p:spPr>
          <p:txBody>
            <a:bodyPr/>
            <a:p/>
          </p:txBody>
        </p:sp>
        <p:sp>
          <p:nvSpPr>
            <p:cNvPr name="Freeform 36" id="36"/>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BAE6FD"/>
            </a:solidFill>
          </p:spPr>
          <p:txBody>
            <a:bodyPr/>
            <a:p/>
          </p:txBody>
        </p:sp>
      </p:grpSp>
      <p:grpSp>
        <p:nvGrpSpPr>
          <p:cNvPr name="Group 37" id="37"/>
          <p:cNvGrpSpPr/>
          <p:nvPr/>
        </p:nvGrpSpPr>
        <p:grpSpPr>
          <a:xfrm rot="0">
            <a:off x="2103120" y="5394960"/>
            <a:ext cx="731520" cy="822960"/>
            <a:chOff x="0" y="0"/>
            <a:chExt cx="975360" cy="1097280"/>
          </a:xfrm>
        </p:grpSpPr>
        <p:sp>
          <p:nvSpPr>
            <p:cNvPr name="Freeform 38" id="38"/>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39" id="39"/>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b="true">
                  <a:solidFill>
                    <a:srgbClr val="2563EB"/>
                  </a:solidFill>
                  <a:latin typeface="Calibri (MS) Bold"/>
                  <a:ea typeface="Calibri (MS) Bold"/>
                  <a:cs typeface="Calibri (MS) Bold"/>
                  <a:sym typeface="Calibri (MS) Bold"/>
                </a:rPr>
                <a:t>→</a:t>
              </a:r>
            </a:p>
          </p:txBody>
        </p:sp>
      </p:grpSp>
      <p:grpSp>
        <p:nvGrpSpPr>
          <p:cNvPr name="Group 40" id="40"/>
          <p:cNvGrpSpPr/>
          <p:nvPr/>
        </p:nvGrpSpPr>
        <p:grpSpPr>
          <a:xfrm rot="0">
            <a:off x="2834640" y="5394960"/>
            <a:ext cx="13350240" cy="822960"/>
            <a:chOff x="0" y="0"/>
            <a:chExt cx="17800320" cy="1097280"/>
          </a:xfrm>
        </p:grpSpPr>
        <p:sp>
          <p:nvSpPr>
            <p:cNvPr name="Freeform 41" id="41"/>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42" id="42"/>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Export .ics des emplois du temps (Google Calendar, Outlook)</a:t>
              </a:r>
            </a:p>
          </p:txBody>
        </p:sp>
      </p:grpSp>
      <p:grpSp>
        <p:nvGrpSpPr>
          <p:cNvPr name="Group 43" id="43"/>
          <p:cNvGrpSpPr/>
          <p:nvPr/>
        </p:nvGrpSpPr>
        <p:grpSpPr>
          <a:xfrm rot="0">
            <a:off x="1816103" y="6388103"/>
            <a:ext cx="14655803" cy="848363"/>
            <a:chOff x="0" y="0"/>
            <a:chExt cx="19541071" cy="1131151"/>
          </a:xfrm>
        </p:grpSpPr>
        <p:sp>
          <p:nvSpPr>
            <p:cNvPr name="Freeform 44" id="44"/>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0F9FF"/>
            </a:solidFill>
          </p:spPr>
          <p:txBody>
            <a:bodyPr/>
            <a:p/>
          </p:txBody>
        </p:sp>
        <p:sp>
          <p:nvSpPr>
            <p:cNvPr name="Freeform 45" id="45"/>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BAE6FD"/>
            </a:solidFill>
          </p:spPr>
          <p:txBody>
            <a:bodyPr/>
            <a:p/>
          </p:txBody>
        </p:sp>
      </p:grpSp>
      <p:grpSp>
        <p:nvGrpSpPr>
          <p:cNvPr name="Group 46" id="46"/>
          <p:cNvGrpSpPr/>
          <p:nvPr/>
        </p:nvGrpSpPr>
        <p:grpSpPr>
          <a:xfrm rot="0">
            <a:off x="2103120" y="6400800"/>
            <a:ext cx="731520" cy="822960"/>
            <a:chOff x="0" y="0"/>
            <a:chExt cx="975360" cy="1097280"/>
          </a:xfrm>
        </p:grpSpPr>
        <p:sp>
          <p:nvSpPr>
            <p:cNvPr name="Freeform 47" id="47"/>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48" id="48"/>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b="true">
                  <a:solidFill>
                    <a:srgbClr val="2563EB"/>
                  </a:solidFill>
                  <a:latin typeface="Calibri (MS) Bold"/>
                  <a:ea typeface="Calibri (MS) Bold"/>
                  <a:cs typeface="Calibri (MS) Bold"/>
                  <a:sym typeface="Calibri (MS) Bold"/>
                </a:rPr>
                <a:t>→</a:t>
              </a:r>
            </a:p>
          </p:txBody>
        </p:sp>
      </p:grpSp>
      <p:grpSp>
        <p:nvGrpSpPr>
          <p:cNvPr name="Group 49" id="49"/>
          <p:cNvGrpSpPr/>
          <p:nvPr/>
        </p:nvGrpSpPr>
        <p:grpSpPr>
          <a:xfrm rot="0">
            <a:off x="2834640" y="6400800"/>
            <a:ext cx="13350240" cy="822960"/>
            <a:chOff x="0" y="0"/>
            <a:chExt cx="17800320" cy="1097280"/>
          </a:xfrm>
        </p:grpSpPr>
        <p:sp>
          <p:nvSpPr>
            <p:cNvPr name="Freeform 50" id="50"/>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51" id="51"/>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Evaluation RAGAS + Recall@K/MRR sur 30 a 50 questions</a:t>
              </a:r>
            </a:p>
          </p:txBody>
        </p:sp>
      </p:grpSp>
      <p:grpSp>
        <p:nvGrpSpPr>
          <p:cNvPr name="Group 52" id="52"/>
          <p:cNvGrpSpPr/>
          <p:nvPr/>
        </p:nvGrpSpPr>
        <p:grpSpPr>
          <a:xfrm rot="0">
            <a:off x="1816103" y="7393943"/>
            <a:ext cx="14655803" cy="848363"/>
            <a:chOff x="0" y="0"/>
            <a:chExt cx="19541071" cy="1131151"/>
          </a:xfrm>
        </p:grpSpPr>
        <p:sp>
          <p:nvSpPr>
            <p:cNvPr name="Freeform 53" id="53"/>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0F9FF"/>
            </a:solidFill>
          </p:spPr>
          <p:txBody>
            <a:bodyPr/>
            <a:p/>
          </p:txBody>
        </p:sp>
        <p:sp>
          <p:nvSpPr>
            <p:cNvPr name="Freeform 54" id="54"/>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BAE6FD"/>
            </a:solidFill>
          </p:spPr>
          <p:txBody>
            <a:bodyPr/>
            <a:p/>
          </p:txBody>
        </p:sp>
      </p:grpSp>
      <p:grpSp>
        <p:nvGrpSpPr>
          <p:cNvPr name="Group 55" id="55"/>
          <p:cNvGrpSpPr/>
          <p:nvPr/>
        </p:nvGrpSpPr>
        <p:grpSpPr>
          <a:xfrm rot="0">
            <a:off x="2103120" y="7406640"/>
            <a:ext cx="731520" cy="822960"/>
            <a:chOff x="0" y="0"/>
            <a:chExt cx="975360" cy="1097280"/>
          </a:xfrm>
        </p:grpSpPr>
        <p:sp>
          <p:nvSpPr>
            <p:cNvPr name="Freeform 56" id="56"/>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57" id="57"/>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b="true">
                  <a:solidFill>
                    <a:srgbClr val="2563EB"/>
                  </a:solidFill>
                  <a:latin typeface="Calibri (MS) Bold"/>
                  <a:ea typeface="Calibri (MS) Bold"/>
                  <a:cs typeface="Calibri (MS) Bold"/>
                  <a:sym typeface="Calibri (MS) Bold"/>
                </a:rPr>
                <a:t>→</a:t>
              </a:r>
            </a:p>
          </p:txBody>
        </p:sp>
      </p:grpSp>
      <p:grpSp>
        <p:nvGrpSpPr>
          <p:cNvPr name="Group 58" id="58"/>
          <p:cNvGrpSpPr/>
          <p:nvPr/>
        </p:nvGrpSpPr>
        <p:grpSpPr>
          <a:xfrm rot="0">
            <a:off x="2834640" y="7406640"/>
            <a:ext cx="13350240" cy="822960"/>
            <a:chOff x="0" y="0"/>
            <a:chExt cx="17800320" cy="1097280"/>
          </a:xfrm>
        </p:grpSpPr>
        <p:sp>
          <p:nvSpPr>
            <p:cNvPr name="Freeform 59" id="59"/>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60" id="60"/>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Audit de sécurité OWASP ciblé</a:t>
              </a:r>
            </a:p>
          </p:txBody>
        </p:sp>
      </p:grpSp>
      <p:grpSp>
        <p:nvGrpSpPr>
          <p:cNvPr name="Group 61" id="61"/>
          <p:cNvGrpSpPr/>
          <p:nvPr/>
        </p:nvGrpSpPr>
        <p:grpSpPr>
          <a:xfrm rot="0">
            <a:off x="1816103" y="8399783"/>
            <a:ext cx="14655803" cy="848363"/>
            <a:chOff x="0" y="0"/>
            <a:chExt cx="19541071" cy="1131151"/>
          </a:xfrm>
        </p:grpSpPr>
        <p:sp>
          <p:nvSpPr>
            <p:cNvPr name="Freeform 62" id="62"/>
            <p:cNvSpPr/>
            <p:nvPr/>
          </p:nvSpPr>
          <p:spPr>
            <a:xfrm flipH="false" flipV="false" rot="0">
              <a:off x="16891" y="16891"/>
              <a:ext cx="19507199" cy="1097280"/>
            </a:xfrm>
            <a:custGeom>
              <a:avLst/>
              <a:gdLst/>
              <a:ahLst/>
              <a:cxnLst/>
              <a:rect r="r" b="b" t="t" l="l"/>
              <a:pathLst>
                <a:path h="1097280" w="19507199">
                  <a:moveTo>
                    <a:pt x="0" y="0"/>
                  </a:moveTo>
                  <a:lnTo>
                    <a:pt x="19507199" y="0"/>
                  </a:lnTo>
                  <a:lnTo>
                    <a:pt x="19507199" y="1097280"/>
                  </a:lnTo>
                  <a:lnTo>
                    <a:pt x="0" y="1097280"/>
                  </a:lnTo>
                  <a:close/>
                </a:path>
              </a:pathLst>
            </a:custGeom>
            <a:solidFill>
              <a:srgbClr val="F0F9FF"/>
            </a:solidFill>
          </p:spPr>
          <p:txBody>
            <a:bodyPr/>
            <a:p/>
          </p:txBody>
        </p:sp>
        <p:sp>
          <p:nvSpPr>
            <p:cNvPr name="Freeform 63" id="63"/>
            <p:cNvSpPr/>
            <p:nvPr/>
          </p:nvSpPr>
          <p:spPr>
            <a:xfrm flipH="false" flipV="false" rot="0">
              <a:off x="0" y="0"/>
              <a:ext cx="19540982" cy="1131064"/>
            </a:xfrm>
            <a:custGeom>
              <a:avLst/>
              <a:gdLst/>
              <a:ahLst/>
              <a:cxnLst/>
              <a:rect r="r" b="b" t="t" l="l"/>
              <a:pathLst>
                <a:path h="1131064" w="19540982">
                  <a:moveTo>
                    <a:pt x="16891" y="0"/>
                  </a:moveTo>
                  <a:lnTo>
                    <a:pt x="19524090" y="0"/>
                  </a:lnTo>
                  <a:cubicBezTo>
                    <a:pt x="19533490" y="0"/>
                    <a:pt x="19540982" y="7620"/>
                    <a:pt x="19540982" y="16891"/>
                  </a:cubicBezTo>
                  <a:lnTo>
                    <a:pt x="19540982" y="1114171"/>
                  </a:lnTo>
                  <a:cubicBezTo>
                    <a:pt x="19540982" y="1123569"/>
                    <a:pt x="19533363" y="1131062"/>
                    <a:pt x="195240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9524090" y="1097280"/>
                  </a:lnTo>
                  <a:lnTo>
                    <a:pt x="19524090" y="1114171"/>
                  </a:lnTo>
                  <a:lnTo>
                    <a:pt x="19507200" y="1114171"/>
                  </a:lnTo>
                  <a:lnTo>
                    <a:pt x="19507200" y="16891"/>
                  </a:lnTo>
                  <a:lnTo>
                    <a:pt x="19524090" y="16891"/>
                  </a:lnTo>
                  <a:lnTo>
                    <a:pt x="19524090" y="33909"/>
                  </a:lnTo>
                  <a:lnTo>
                    <a:pt x="16891" y="33909"/>
                  </a:lnTo>
                  <a:close/>
                </a:path>
              </a:pathLst>
            </a:custGeom>
            <a:solidFill>
              <a:srgbClr val="BAE6FD"/>
            </a:solidFill>
          </p:spPr>
          <p:txBody>
            <a:bodyPr/>
            <a:p/>
          </p:txBody>
        </p:sp>
      </p:grpSp>
      <p:grpSp>
        <p:nvGrpSpPr>
          <p:cNvPr name="Group 64" id="64"/>
          <p:cNvGrpSpPr/>
          <p:nvPr/>
        </p:nvGrpSpPr>
        <p:grpSpPr>
          <a:xfrm rot="0">
            <a:off x="2103120" y="8412480"/>
            <a:ext cx="731520" cy="822960"/>
            <a:chOff x="0" y="0"/>
            <a:chExt cx="975360" cy="1097280"/>
          </a:xfrm>
        </p:grpSpPr>
        <p:sp>
          <p:nvSpPr>
            <p:cNvPr name="Freeform 65" id="65"/>
            <p:cNvSpPr/>
            <p:nvPr/>
          </p:nvSpPr>
          <p:spPr>
            <a:xfrm flipH="false" flipV="false" rot="0">
              <a:off x="0" y="0"/>
              <a:ext cx="975360" cy="1097280"/>
            </a:xfrm>
            <a:custGeom>
              <a:avLst/>
              <a:gdLst/>
              <a:ahLst/>
              <a:cxnLst/>
              <a:rect r="r" b="b" t="t" l="l"/>
              <a:pathLst>
                <a:path h="1097280" w="975360">
                  <a:moveTo>
                    <a:pt x="0" y="0"/>
                  </a:moveTo>
                  <a:lnTo>
                    <a:pt x="975360" y="0"/>
                  </a:lnTo>
                  <a:lnTo>
                    <a:pt x="975360" y="1097280"/>
                  </a:lnTo>
                  <a:lnTo>
                    <a:pt x="0" y="1097280"/>
                  </a:lnTo>
                  <a:close/>
                </a:path>
              </a:pathLst>
            </a:custGeom>
            <a:blipFill>
              <a:blip r:embed="rId3">
                <a:alphaModFix amt="0"/>
              </a:blip>
              <a:stretch>
                <a:fillRect l="-94341" t="0" r="-94341" b="0"/>
              </a:stretch>
            </a:blipFill>
          </p:spPr>
          <p:txBody>
            <a:bodyPr/>
            <a:p/>
          </p:txBody>
        </p:sp>
        <p:sp>
          <p:nvSpPr>
            <p:cNvPr name="TextBox 66" id="66"/>
            <p:cNvSpPr txBox="true"/>
            <p:nvPr/>
          </p:nvSpPr>
          <p:spPr>
            <a:xfrm>
              <a:off x="0" y="-57150"/>
              <a:ext cx="975360" cy="1154430"/>
            </a:xfrm>
            <a:prstGeom prst="rect">
              <a:avLst/>
            </a:prstGeom>
          </p:spPr>
          <p:txBody>
            <a:bodyPr anchor="ctr" rtlCol="false" tIns="0" lIns="0" bIns="0" rIns="0"/>
            <a:lstStyle/>
            <a:p>
              <a:pPr algn="ctr">
                <a:lnSpc>
                  <a:spcPts val="3840"/>
                </a:lnSpc>
              </a:pPr>
              <a:r>
                <a:rPr lang="en-US" sz="3200" b="true">
                  <a:solidFill>
                    <a:srgbClr val="2563EB"/>
                  </a:solidFill>
                  <a:latin typeface="Calibri (MS) Bold"/>
                  <a:ea typeface="Calibri (MS) Bold"/>
                  <a:cs typeface="Calibri (MS) Bold"/>
                  <a:sym typeface="Calibri (MS) Bold"/>
                </a:rPr>
                <a:t>→</a:t>
              </a:r>
            </a:p>
          </p:txBody>
        </p:sp>
      </p:grpSp>
      <p:grpSp>
        <p:nvGrpSpPr>
          <p:cNvPr name="Group 67" id="67"/>
          <p:cNvGrpSpPr/>
          <p:nvPr/>
        </p:nvGrpSpPr>
        <p:grpSpPr>
          <a:xfrm rot="0">
            <a:off x="2834640" y="8412480"/>
            <a:ext cx="13350240" cy="822960"/>
            <a:chOff x="0" y="0"/>
            <a:chExt cx="17800320" cy="1097280"/>
          </a:xfrm>
        </p:grpSpPr>
        <p:sp>
          <p:nvSpPr>
            <p:cNvPr name="Freeform 68" id="68"/>
            <p:cNvSpPr/>
            <p:nvPr/>
          </p:nvSpPr>
          <p:spPr>
            <a:xfrm flipH="false" flipV="false" rot="0">
              <a:off x="0" y="0"/>
              <a:ext cx="17800320" cy="1097280"/>
            </a:xfrm>
            <a:custGeom>
              <a:avLst/>
              <a:gdLst/>
              <a:ahLst/>
              <a:cxnLst/>
              <a:rect r="r" b="b" t="t" l="l"/>
              <a:pathLst>
                <a:path h="1097280" w="17800320">
                  <a:moveTo>
                    <a:pt x="0" y="0"/>
                  </a:moveTo>
                  <a:lnTo>
                    <a:pt x="17800320" y="0"/>
                  </a:lnTo>
                  <a:lnTo>
                    <a:pt x="17800320" y="1097280"/>
                  </a:lnTo>
                  <a:lnTo>
                    <a:pt x="0" y="1097280"/>
                  </a:lnTo>
                  <a:close/>
                </a:path>
              </a:pathLst>
            </a:custGeom>
            <a:blipFill>
              <a:blip r:embed="rId3">
                <a:alphaModFix amt="0"/>
              </a:blip>
              <a:stretch>
                <a:fillRect l="0" t="-266090" r="0" b="-266090"/>
              </a:stretch>
            </a:blipFill>
          </p:spPr>
          <p:txBody>
            <a:bodyPr/>
            <a:p/>
          </p:txBody>
        </p:sp>
        <p:sp>
          <p:nvSpPr>
            <p:cNvPr name="TextBox 69" id="69"/>
            <p:cNvSpPr txBox="true"/>
            <p:nvPr/>
          </p:nvSpPr>
          <p:spPr>
            <a:xfrm>
              <a:off x="0" y="-57150"/>
              <a:ext cx="17800320" cy="1154430"/>
            </a:xfrm>
            <a:prstGeom prst="rect">
              <a:avLst/>
            </a:prstGeom>
          </p:spPr>
          <p:txBody>
            <a:bodyPr anchor="ctr" rtlCol="false" tIns="0" lIns="0" bIns="0" rIns="0"/>
            <a:lstStyle/>
            <a:p>
              <a:pPr algn="l">
                <a:lnSpc>
                  <a:spcPts val="3120"/>
                </a:lnSpc>
              </a:pPr>
              <a:r>
                <a:rPr lang="en-US" sz="2600">
                  <a:solidFill>
                    <a:srgbClr val="1E293B"/>
                  </a:solidFill>
                  <a:latin typeface="Calibri (MS)"/>
                  <a:ea typeface="Calibri (MS)"/>
                  <a:cs typeface="Calibri (MS)"/>
                  <a:sym typeface="Calibri (MS)"/>
                </a:rPr>
                <a:t>Enrichissement continu du corpus FAQ</a:t>
              </a:r>
            </a:p>
          </p:txBody>
        </p:sp>
      </p:grpSp>
      <p:sp>
        <p:nvSpPr>
          <p:cNvPr name="TextBox 70" id="7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0" y="0"/>
            <a:ext cx="402336" cy="10287000"/>
            <a:chOff x="0" y="0"/>
            <a:chExt cx="536448" cy="13716000"/>
          </a:xfrm>
        </p:grpSpPr>
        <p:sp>
          <p:nvSpPr>
            <p:cNvPr name="Freeform 3" id="3"/>
            <p:cNvSpPr/>
            <p:nvPr/>
          </p:nvSpPr>
          <p:spPr>
            <a:xfrm flipH="false" flipV="false" rot="0">
              <a:off x="0" y="0"/>
              <a:ext cx="536448" cy="13716000"/>
            </a:xfrm>
            <a:custGeom>
              <a:avLst/>
              <a:gdLst/>
              <a:ahLst/>
              <a:cxnLst/>
              <a:rect r="r" b="b" t="t" l="l"/>
              <a:pathLst>
                <a:path h="13716000" w="536448">
                  <a:moveTo>
                    <a:pt x="0" y="0"/>
                  </a:moveTo>
                  <a:lnTo>
                    <a:pt x="536448" y="0"/>
                  </a:lnTo>
                  <a:lnTo>
                    <a:pt x="536448" y="13716000"/>
                  </a:lnTo>
                  <a:lnTo>
                    <a:pt x="0" y="13716000"/>
                  </a:lnTo>
                  <a:close/>
                </a:path>
              </a:pathLst>
            </a:custGeom>
            <a:solidFill>
              <a:srgbClr val="06B6D4"/>
            </a:solidFill>
          </p:spPr>
          <p:txBody>
            <a:bodyPr/>
            <a:p/>
          </p:txBody>
        </p:sp>
      </p:grpSp>
      <p:grpSp>
        <p:nvGrpSpPr>
          <p:cNvPr name="Group 4" id="4"/>
          <p:cNvGrpSpPr/>
          <p:nvPr/>
        </p:nvGrpSpPr>
        <p:grpSpPr>
          <a:xfrm rot="0">
            <a:off x="1097280" y="822960"/>
            <a:ext cx="16276320" cy="1280160"/>
            <a:chOff x="0" y="0"/>
            <a:chExt cx="21701760" cy="1706880"/>
          </a:xfrm>
        </p:grpSpPr>
        <p:sp>
          <p:nvSpPr>
            <p:cNvPr name="Freeform 5" id="5"/>
            <p:cNvSpPr/>
            <p:nvPr/>
          </p:nvSpPr>
          <p:spPr>
            <a:xfrm flipH="false" flipV="false" rot="0">
              <a:off x="0" y="0"/>
              <a:ext cx="21701761" cy="1706880"/>
            </a:xfrm>
            <a:custGeom>
              <a:avLst/>
              <a:gdLst/>
              <a:ahLst/>
              <a:cxnLst/>
              <a:rect r="r" b="b" t="t" l="l"/>
              <a:pathLst>
                <a:path h="1706880" w="21701761">
                  <a:moveTo>
                    <a:pt x="0" y="0"/>
                  </a:moveTo>
                  <a:lnTo>
                    <a:pt x="21701761" y="0"/>
                  </a:lnTo>
                  <a:lnTo>
                    <a:pt x="21701761" y="1706880"/>
                  </a:lnTo>
                  <a:lnTo>
                    <a:pt x="0" y="1706880"/>
                  </a:lnTo>
                  <a:close/>
                </a:path>
              </a:pathLst>
            </a:custGeom>
            <a:blipFill>
              <a:blip r:embed="rId3">
                <a:alphaModFix amt="0"/>
              </a:blip>
              <a:stretch>
                <a:fillRect l="0" t="-197738" r="0" b="-197738"/>
              </a:stretch>
            </a:blipFill>
          </p:spPr>
          <p:txBody>
            <a:bodyPr/>
            <a:p/>
          </p:txBody>
        </p:sp>
        <p:sp>
          <p:nvSpPr>
            <p:cNvPr name="TextBox 6" id="6"/>
            <p:cNvSpPr txBox="true"/>
            <p:nvPr/>
          </p:nvSpPr>
          <p:spPr>
            <a:xfrm>
              <a:off x="0" y="-142875"/>
              <a:ext cx="21701760" cy="1849755"/>
            </a:xfrm>
            <a:prstGeom prst="rect">
              <a:avLst/>
            </a:prstGeom>
          </p:spPr>
          <p:txBody>
            <a:bodyPr anchor="ctr" rtlCol="false" tIns="0" lIns="0" bIns="0" rIns="0"/>
            <a:lstStyle/>
            <a:p>
              <a:pPr algn="l">
                <a:lnSpc>
                  <a:spcPts val="8640"/>
                </a:lnSpc>
              </a:pPr>
              <a:r>
                <a:rPr lang="en-US" sz="7200" b="true">
                  <a:solidFill>
                    <a:srgbClr val="FFFFFF"/>
                  </a:solidFill>
                  <a:latin typeface="Calibri (MS) Bold"/>
                  <a:ea typeface="Calibri (MS) Bold"/>
                  <a:cs typeface="Calibri (MS) Bold"/>
                  <a:sym typeface="Calibri (MS) Bold"/>
                </a:rPr>
                <a:t>Conclusion</a:t>
              </a:r>
            </a:p>
          </p:txBody>
        </p:sp>
      </p:grpSp>
      <p:grpSp>
        <p:nvGrpSpPr>
          <p:cNvPr name="Group 7" id="7"/>
          <p:cNvGrpSpPr/>
          <p:nvPr/>
        </p:nvGrpSpPr>
        <p:grpSpPr>
          <a:xfrm rot="0">
            <a:off x="1097280" y="2194560"/>
            <a:ext cx="16276320" cy="731520"/>
            <a:chOff x="0" y="0"/>
            <a:chExt cx="21701760" cy="975360"/>
          </a:xfrm>
        </p:grpSpPr>
        <p:sp>
          <p:nvSpPr>
            <p:cNvPr name="Freeform 8" id="8"/>
            <p:cNvSpPr/>
            <p:nvPr/>
          </p:nvSpPr>
          <p:spPr>
            <a:xfrm flipH="false" flipV="false" rot="0">
              <a:off x="0" y="0"/>
              <a:ext cx="21701761" cy="975360"/>
            </a:xfrm>
            <a:custGeom>
              <a:avLst/>
              <a:gdLst/>
              <a:ahLst/>
              <a:cxnLst/>
              <a:rect r="r" b="b" t="t" l="l"/>
              <a:pathLst>
                <a:path h="975360" w="21701761">
                  <a:moveTo>
                    <a:pt x="0" y="0"/>
                  </a:moveTo>
                  <a:lnTo>
                    <a:pt x="21701761" y="0"/>
                  </a:lnTo>
                  <a:lnTo>
                    <a:pt x="21701761" y="975360"/>
                  </a:lnTo>
                  <a:lnTo>
                    <a:pt x="0" y="975360"/>
                  </a:lnTo>
                  <a:close/>
                </a:path>
              </a:pathLst>
            </a:custGeom>
            <a:blipFill>
              <a:blip r:embed="rId3">
                <a:alphaModFix amt="0"/>
              </a:blip>
              <a:stretch>
                <a:fillRect l="0" t="-383542" r="0" b="-383542"/>
              </a:stretch>
            </a:blipFill>
          </p:spPr>
          <p:txBody>
            <a:bodyPr/>
            <a:p/>
          </p:txBody>
        </p:sp>
        <p:sp>
          <p:nvSpPr>
            <p:cNvPr name="TextBox 9" id="9"/>
            <p:cNvSpPr txBox="true"/>
            <p:nvPr/>
          </p:nvSpPr>
          <p:spPr>
            <a:xfrm>
              <a:off x="0" y="-57150"/>
              <a:ext cx="21701760" cy="1032510"/>
            </a:xfrm>
            <a:prstGeom prst="rect">
              <a:avLst/>
            </a:prstGeom>
          </p:spPr>
          <p:txBody>
            <a:bodyPr anchor="ctr" rtlCol="false" tIns="0" lIns="0" bIns="0" rIns="0"/>
            <a:lstStyle/>
            <a:p>
              <a:pPr algn="l">
                <a:lnSpc>
                  <a:spcPts val="3840"/>
                </a:lnSpc>
              </a:pPr>
              <a:r>
                <a:rPr lang="en-US" sz="3200">
                  <a:solidFill>
                    <a:srgbClr val="06B6D4"/>
                  </a:solidFill>
                  <a:latin typeface="Calibri (MS)"/>
                  <a:ea typeface="Calibri (MS)"/>
                  <a:cs typeface="Calibri (MS)"/>
                  <a:sym typeface="Calibri (MS)"/>
                </a:rPr>
                <a:t>Chatbot USMS — PFA IACS 2025-2026</a:t>
              </a:r>
            </a:p>
          </p:txBody>
        </p:sp>
      </p:grpSp>
      <p:grpSp>
        <p:nvGrpSpPr>
          <p:cNvPr name="Group 10" id="10"/>
          <p:cNvGrpSpPr/>
          <p:nvPr/>
        </p:nvGrpSpPr>
        <p:grpSpPr>
          <a:xfrm rot="0">
            <a:off x="1463040" y="3749040"/>
            <a:ext cx="640080" cy="640080"/>
            <a:chOff x="0" y="0"/>
            <a:chExt cx="853440" cy="853440"/>
          </a:xfrm>
        </p:grpSpPr>
        <p:sp>
          <p:nvSpPr>
            <p:cNvPr name="Freeform 11" id="11"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4"/>
              <a:stretch>
                <a:fillRect l="0" t="0" r="0" b="0"/>
              </a:stretch>
            </a:blipFill>
          </p:spPr>
          <p:txBody>
            <a:bodyPr/>
            <a:p/>
          </p:txBody>
        </p:sp>
      </p:grpSp>
      <p:grpSp>
        <p:nvGrpSpPr>
          <p:cNvPr name="Group 12" id="12"/>
          <p:cNvGrpSpPr/>
          <p:nvPr/>
        </p:nvGrpSpPr>
        <p:grpSpPr>
          <a:xfrm rot="0">
            <a:off x="2377440" y="3657600"/>
            <a:ext cx="14996160" cy="822960"/>
            <a:chOff x="0" y="0"/>
            <a:chExt cx="19994880" cy="1097280"/>
          </a:xfrm>
        </p:grpSpPr>
        <p:sp>
          <p:nvSpPr>
            <p:cNvPr name="Freeform 13" id="13"/>
            <p:cNvSpPr/>
            <p:nvPr/>
          </p:nvSpPr>
          <p:spPr>
            <a:xfrm flipH="false" flipV="false" rot="0">
              <a:off x="0" y="0"/>
              <a:ext cx="19994880" cy="1097280"/>
            </a:xfrm>
            <a:custGeom>
              <a:avLst/>
              <a:gdLst/>
              <a:ahLst/>
              <a:cxnLst/>
              <a:rect r="r" b="b" t="t" l="l"/>
              <a:pathLst>
                <a:path h="1097280" w="19994880">
                  <a:moveTo>
                    <a:pt x="0" y="0"/>
                  </a:moveTo>
                  <a:lnTo>
                    <a:pt x="19994880" y="0"/>
                  </a:lnTo>
                  <a:lnTo>
                    <a:pt x="19994880" y="1097280"/>
                  </a:lnTo>
                  <a:lnTo>
                    <a:pt x="0" y="1097280"/>
                  </a:lnTo>
                  <a:close/>
                </a:path>
              </a:pathLst>
            </a:custGeom>
            <a:blipFill>
              <a:blip r:embed="rId3">
                <a:alphaModFix amt="0"/>
              </a:blip>
              <a:stretch>
                <a:fillRect l="0" t="-305060" r="0" b="-305060"/>
              </a:stretch>
            </a:blipFill>
          </p:spPr>
          <p:txBody>
            <a:bodyPr/>
            <a:p/>
          </p:txBody>
        </p:sp>
        <p:sp>
          <p:nvSpPr>
            <p:cNvPr name="TextBox 14" id="14"/>
            <p:cNvSpPr txBox="true"/>
            <p:nvPr/>
          </p:nvSpPr>
          <p:spPr>
            <a:xfrm>
              <a:off x="0" y="-66675"/>
              <a:ext cx="19994880" cy="1163955"/>
            </a:xfrm>
            <a:prstGeom prst="rect">
              <a:avLst/>
            </a:prstGeom>
          </p:spPr>
          <p:txBody>
            <a:bodyPr anchor="ctr" rtlCol="false" tIns="0" lIns="0" bIns="0" rIns="0"/>
            <a:lstStyle/>
            <a:p>
              <a:pPr algn="l">
                <a:lnSpc>
                  <a:spcPts val="3600"/>
                </a:lnSpc>
              </a:pPr>
              <a:r>
                <a:rPr lang="en-US" sz="3000">
                  <a:solidFill>
                    <a:srgbClr val="FFFFFF"/>
                  </a:solidFill>
                  <a:latin typeface="Calibri (MS)"/>
                  <a:ea typeface="Calibri (MS)"/>
                  <a:cs typeface="Calibri (MS)"/>
                  <a:sym typeface="Calibri (MS)"/>
                </a:rPr>
                <a:t>Application web multilingue (FR · EN · AR avec RTL)</a:t>
              </a:r>
            </a:p>
          </p:txBody>
        </p:sp>
      </p:grpSp>
      <p:grpSp>
        <p:nvGrpSpPr>
          <p:cNvPr name="Group 15" id="15"/>
          <p:cNvGrpSpPr/>
          <p:nvPr/>
        </p:nvGrpSpPr>
        <p:grpSpPr>
          <a:xfrm rot="0">
            <a:off x="1463040" y="4754880"/>
            <a:ext cx="640080" cy="640080"/>
            <a:chOff x="0" y="0"/>
            <a:chExt cx="853440" cy="853440"/>
          </a:xfrm>
        </p:grpSpPr>
        <p:sp>
          <p:nvSpPr>
            <p:cNvPr name="Freeform 16" id="16"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4"/>
              <a:stretch>
                <a:fillRect l="0" t="0" r="0" b="0"/>
              </a:stretch>
            </a:blipFill>
          </p:spPr>
          <p:txBody>
            <a:bodyPr/>
            <a:p/>
          </p:txBody>
        </p:sp>
      </p:grpSp>
      <p:grpSp>
        <p:nvGrpSpPr>
          <p:cNvPr name="Group 17" id="17"/>
          <p:cNvGrpSpPr/>
          <p:nvPr/>
        </p:nvGrpSpPr>
        <p:grpSpPr>
          <a:xfrm rot="0">
            <a:off x="2377440" y="4663440"/>
            <a:ext cx="14996160" cy="822960"/>
            <a:chOff x="0" y="0"/>
            <a:chExt cx="19994880" cy="1097280"/>
          </a:xfrm>
        </p:grpSpPr>
        <p:sp>
          <p:nvSpPr>
            <p:cNvPr name="Freeform 18" id="18"/>
            <p:cNvSpPr/>
            <p:nvPr/>
          </p:nvSpPr>
          <p:spPr>
            <a:xfrm flipH="false" flipV="false" rot="0">
              <a:off x="0" y="0"/>
              <a:ext cx="19994880" cy="1097280"/>
            </a:xfrm>
            <a:custGeom>
              <a:avLst/>
              <a:gdLst/>
              <a:ahLst/>
              <a:cxnLst/>
              <a:rect r="r" b="b" t="t" l="l"/>
              <a:pathLst>
                <a:path h="1097280" w="19994880">
                  <a:moveTo>
                    <a:pt x="0" y="0"/>
                  </a:moveTo>
                  <a:lnTo>
                    <a:pt x="19994880" y="0"/>
                  </a:lnTo>
                  <a:lnTo>
                    <a:pt x="19994880" y="1097280"/>
                  </a:lnTo>
                  <a:lnTo>
                    <a:pt x="0" y="1097280"/>
                  </a:lnTo>
                  <a:close/>
                </a:path>
              </a:pathLst>
            </a:custGeom>
            <a:blipFill>
              <a:blip r:embed="rId3">
                <a:alphaModFix amt="0"/>
              </a:blip>
              <a:stretch>
                <a:fillRect l="0" t="-305060" r="0" b="-305060"/>
              </a:stretch>
            </a:blipFill>
          </p:spPr>
          <p:txBody>
            <a:bodyPr/>
            <a:p/>
          </p:txBody>
        </p:sp>
        <p:sp>
          <p:nvSpPr>
            <p:cNvPr name="TextBox 19" id="19"/>
            <p:cNvSpPr txBox="true"/>
            <p:nvPr/>
          </p:nvSpPr>
          <p:spPr>
            <a:xfrm>
              <a:off x="0" y="-66675"/>
              <a:ext cx="19994880" cy="1163955"/>
            </a:xfrm>
            <a:prstGeom prst="rect">
              <a:avLst/>
            </a:prstGeom>
          </p:spPr>
          <p:txBody>
            <a:bodyPr anchor="ctr" rtlCol="false" tIns="0" lIns="0" bIns="0" rIns="0"/>
            <a:lstStyle/>
            <a:p>
              <a:pPr algn="l">
                <a:lnSpc>
                  <a:spcPts val="3600"/>
                </a:lnSpc>
              </a:pPr>
              <a:r>
                <a:rPr lang="en-US" sz="3000">
                  <a:solidFill>
                    <a:srgbClr val="FFFFFF"/>
                  </a:solidFill>
                  <a:latin typeface="Calibri (MS)"/>
                  <a:ea typeface="Calibri (MS)"/>
                  <a:cs typeface="Calibri (MS)"/>
                  <a:sym typeface="Calibri (MS)"/>
                </a:rPr>
                <a:t>RAG fonctionnel sur documents institutionnels réels</a:t>
              </a:r>
            </a:p>
          </p:txBody>
        </p:sp>
      </p:grpSp>
      <p:grpSp>
        <p:nvGrpSpPr>
          <p:cNvPr name="Group 20" id="20"/>
          <p:cNvGrpSpPr/>
          <p:nvPr/>
        </p:nvGrpSpPr>
        <p:grpSpPr>
          <a:xfrm rot="0">
            <a:off x="1463040" y="5760720"/>
            <a:ext cx="640080" cy="640080"/>
            <a:chOff x="0" y="0"/>
            <a:chExt cx="853440" cy="853440"/>
          </a:xfrm>
        </p:grpSpPr>
        <p:sp>
          <p:nvSpPr>
            <p:cNvPr name="Freeform 21" id="21"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4"/>
              <a:stretch>
                <a:fillRect l="0" t="0" r="0" b="0"/>
              </a:stretch>
            </a:blipFill>
          </p:spPr>
          <p:txBody>
            <a:bodyPr/>
            <a:p/>
          </p:txBody>
        </p:sp>
      </p:grpSp>
      <p:grpSp>
        <p:nvGrpSpPr>
          <p:cNvPr name="Group 22" id="22"/>
          <p:cNvGrpSpPr/>
          <p:nvPr/>
        </p:nvGrpSpPr>
        <p:grpSpPr>
          <a:xfrm rot="0">
            <a:off x="2377440" y="5669280"/>
            <a:ext cx="14996160" cy="822960"/>
            <a:chOff x="0" y="0"/>
            <a:chExt cx="19994880" cy="1097280"/>
          </a:xfrm>
        </p:grpSpPr>
        <p:sp>
          <p:nvSpPr>
            <p:cNvPr name="Freeform 23" id="23"/>
            <p:cNvSpPr/>
            <p:nvPr/>
          </p:nvSpPr>
          <p:spPr>
            <a:xfrm flipH="false" flipV="false" rot="0">
              <a:off x="0" y="0"/>
              <a:ext cx="19994880" cy="1097280"/>
            </a:xfrm>
            <a:custGeom>
              <a:avLst/>
              <a:gdLst/>
              <a:ahLst/>
              <a:cxnLst/>
              <a:rect r="r" b="b" t="t" l="l"/>
              <a:pathLst>
                <a:path h="1097280" w="19994880">
                  <a:moveTo>
                    <a:pt x="0" y="0"/>
                  </a:moveTo>
                  <a:lnTo>
                    <a:pt x="19994880" y="0"/>
                  </a:lnTo>
                  <a:lnTo>
                    <a:pt x="19994880" y="1097280"/>
                  </a:lnTo>
                  <a:lnTo>
                    <a:pt x="0" y="1097280"/>
                  </a:lnTo>
                  <a:close/>
                </a:path>
              </a:pathLst>
            </a:custGeom>
            <a:blipFill>
              <a:blip r:embed="rId3">
                <a:alphaModFix amt="0"/>
              </a:blip>
              <a:stretch>
                <a:fillRect l="0" t="-305060" r="0" b="-305060"/>
              </a:stretch>
            </a:blipFill>
          </p:spPr>
          <p:txBody>
            <a:bodyPr/>
            <a:p/>
          </p:txBody>
        </p:sp>
        <p:sp>
          <p:nvSpPr>
            <p:cNvPr name="TextBox 24" id="24"/>
            <p:cNvSpPr txBox="true"/>
            <p:nvPr/>
          </p:nvSpPr>
          <p:spPr>
            <a:xfrm>
              <a:off x="0" y="-66675"/>
              <a:ext cx="19994880" cy="1163955"/>
            </a:xfrm>
            <a:prstGeom prst="rect">
              <a:avLst/>
            </a:prstGeom>
          </p:spPr>
          <p:txBody>
            <a:bodyPr anchor="ctr" rtlCol="false" tIns="0" lIns="0" bIns="0" rIns="0"/>
            <a:lstStyle/>
            <a:p>
              <a:r>
                <a:t>Sécurité RBAC + protection des données dès la conception</a:t>
              </a:r>
            </a:p>
          </p:txBody>
        </p:sp>
      </p:grpSp>
      <p:grpSp>
        <p:nvGrpSpPr>
          <p:cNvPr name="Group 25" id="25"/>
          <p:cNvGrpSpPr/>
          <p:nvPr/>
        </p:nvGrpSpPr>
        <p:grpSpPr>
          <a:xfrm rot="0">
            <a:off x="1463040" y="6766560"/>
            <a:ext cx="640080" cy="640080"/>
            <a:chOff x="0" y="0"/>
            <a:chExt cx="853440" cy="853440"/>
          </a:xfrm>
        </p:grpSpPr>
        <p:sp>
          <p:nvSpPr>
            <p:cNvPr name="Freeform 26" id="26"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4"/>
              <a:stretch>
                <a:fillRect l="0" t="0" r="0" b="0"/>
              </a:stretch>
            </a:blipFill>
          </p:spPr>
          <p:txBody>
            <a:bodyPr/>
            <a:p/>
          </p:txBody>
        </p:sp>
      </p:grpSp>
      <p:grpSp>
        <p:nvGrpSpPr>
          <p:cNvPr name="Group 27" id="27"/>
          <p:cNvGrpSpPr/>
          <p:nvPr/>
        </p:nvGrpSpPr>
        <p:grpSpPr>
          <a:xfrm rot="0">
            <a:off x="2377440" y="6675120"/>
            <a:ext cx="14996160" cy="822960"/>
            <a:chOff x="0" y="0"/>
            <a:chExt cx="19994880" cy="1097280"/>
          </a:xfrm>
        </p:grpSpPr>
        <p:sp>
          <p:nvSpPr>
            <p:cNvPr name="Freeform 28" id="28"/>
            <p:cNvSpPr/>
            <p:nvPr/>
          </p:nvSpPr>
          <p:spPr>
            <a:xfrm flipH="false" flipV="false" rot="0">
              <a:off x="0" y="0"/>
              <a:ext cx="19994880" cy="1097280"/>
            </a:xfrm>
            <a:custGeom>
              <a:avLst/>
              <a:gdLst/>
              <a:ahLst/>
              <a:cxnLst/>
              <a:rect r="r" b="b" t="t" l="l"/>
              <a:pathLst>
                <a:path h="1097280" w="19994880">
                  <a:moveTo>
                    <a:pt x="0" y="0"/>
                  </a:moveTo>
                  <a:lnTo>
                    <a:pt x="19994880" y="0"/>
                  </a:lnTo>
                  <a:lnTo>
                    <a:pt x="19994880" y="1097280"/>
                  </a:lnTo>
                  <a:lnTo>
                    <a:pt x="0" y="1097280"/>
                  </a:lnTo>
                  <a:close/>
                </a:path>
              </a:pathLst>
            </a:custGeom>
            <a:blipFill>
              <a:blip r:embed="rId3">
                <a:alphaModFix amt="0"/>
              </a:blip>
              <a:stretch>
                <a:fillRect l="0" t="-305060" r="0" b="-305060"/>
              </a:stretch>
            </a:blipFill>
          </p:spPr>
          <p:txBody>
            <a:bodyPr/>
            <a:p/>
          </p:txBody>
        </p:sp>
        <p:sp>
          <p:nvSpPr>
            <p:cNvPr name="TextBox 29" id="29"/>
            <p:cNvSpPr txBox="true"/>
            <p:nvPr/>
          </p:nvSpPr>
          <p:spPr>
            <a:xfrm>
              <a:off x="0" y="-66675"/>
              <a:ext cx="19994880" cy="1163955"/>
            </a:xfrm>
            <a:prstGeom prst="rect">
              <a:avLst/>
            </a:prstGeom>
          </p:spPr>
          <p:txBody>
            <a:bodyPr anchor="ctr" rtlCol="false" tIns="0" lIns="0" bIns="0" rIns="0"/>
            <a:lstStyle/>
            <a:p>
              <a:pPr algn="l">
                <a:lnSpc>
                  <a:spcPts val="3600"/>
                </a:lnSpc>
              </a:pPr>
              <a:r>
                <a:rPr lang="en-US" sz="3000">
                  <a:solidFill>
                    <a:srgbClr val="FFFFFF"/>
                  </a:solidFill>
                  <a:latin typeface="Calibri (MS)"/>
                  <a:ea typeface="Calibri (MS)"/>
                  <a:cs typeface="Calibri (MS)"/>
                  <a:sym typeface="Calibri (MS)"/>
                </a:rPr>
                <a:t>Stack reproductible via Docker Compose</a:t>
              </a:r>
            </a:p>
          </p:txBody>
        </p:sp>
      </p:grpSp>
      <p:grpSp>
        <p:nvGrpSpPr>
          <p:cNvPr name="Group 30" id="30"/>
          <p:cNvGrpSpPr/>
          <p:nvPr/>
        </p:nvGrpSpPr>
        <p:grpSpPr>
          <a:xfrm rot="0">
            <a:off x="1463040" y="7772400"/>
            <a:ext cx="640080" cy="640080"/>
            <a:chOff x="0" y="0"/>
            <a:chExt cx="853440" cy="853440"/>
          </a:xfrm>
        </p:grpSpPr>
        <p:sp>
          <p:nvSpPr>
            <p:cNvPr name="Freeform 31" id="31" descr="preencoded.png"/>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lnTo>
                    <a:pt x="0" y="0"/>
                  </a:lnTo>
                  <a:close/>
                </a:path>
              </a:pathLst>
            </a:custGeom>
            <a:blipFill>
              <a:blip r:embed="rId4"/>
              <a:stretch>
                <a:fillRect l="0" t="0" r="0" b="0"/>
              </a:stretch>
            </a:blipFill>
          </p:spPr>
          <p:txBody>
            <a:bodyPr/>
            <a:p/>
          </p:txBody>
        </p:sp>
      </p:grpSp>
      <p:grpSp>
        <p:nvGrpSpPr>
          <p:cNvPr name="Group 32" id="32"/>
          <p:cNvGrpSpPr/>
          <p:nvPr/>
        </p:nvGrpSpPr>
        <p:grpSpPr>
          <a:xfrm rot="0">
            <a:off x="2377440" y="7680960"/>
            <a:ext cx="14996160" cy="822960"/>
            <a:chOff x="0" y="0"/>
            <a:chExt cx="19994880" cy="1097280"/>
          </a:xfrm>
        </p:grpSpPr>
        <p:sp>
          <p:nvSpPr>
            <p:cNvPr name="Freeform 33" id="33"/>
            <p:cNvSpPr/>
            <p:nvPr/>
          </p:nvSpPr>
          <p:spPr>
            <a:xfrm flipH="false" flipV="false" rot="0">
              <a:off x="0" y="0"/>
              <a:ext cx="19994880" cy="1097280"/>
            </a:xfrm>
            <a:custGeom>
              <a:avLst/>
              <a:gdLst/>
              <a:ahLst/>
              <a:cxnLst/>
              <a:rect r="r" b="b" t="t" l="l"/>
              <a:pathLst>
                <a:path h="1097280" w="19994880">
                  <a:moveTo>
                    <a:pt x="0" y="0"/>
                  </a:moveTo>
                  <a:lnTo>
                    <a:pt x="19994880" y="0"/>
                  </a:lnTo>
                  <a:lnTo>
                    <a:pt x="19994880" y="1097280"/>
                  </a:lnTo>
                  <a:lnTo>
                    <a:pt x="0" y="1097280"/>
                  </a:lnTo>
                  <a:close/>
                </a:path>
              </a:pathLst>
            </a:custGeom>
            <a:blipFill>
              <a:blip r:embed="rId3">
                <a:alphaModFix amt="0"/>
              </a:blip>
              <a:stretch>
                <a:fillRect l="0" t="-305060" r="0" b="-305060"/>
              </a:stretch>
            </a:blipFill>
          </p:spPr>
          <p:txBody>
            <a:bodyPr/>
            <a:p/>
          </p:txBody>
        </p:sp>
        <p:sp>
          <p:nvSpPr>
            <p:cNvPr name="TextBox 34" id="34"/>
            <p:cNvSpPr txBox="true"/>
            <p:nvPr/>
          </p:nvSpPr>
          <p:spPr>
            <a:xfrm>
              <a:off x="0" y="-66675"/>
              <a:ext cx="19994880" cy="1163955"/>
            </a:xfrm>
            <a:prstGeom prst="rect">
              <a:avLst/>
            </a:prstGeom>
          </p:spPr>
          <p:txBody>
            <a:bodyPr anchor="ctr" rtlCol="false" tIns="0" lIns="0" bIns="0" rIns="0"/>
            <a:lstStyle/>
            <a:p>
              <a:r>
                <a:t>Pipeline CI/CD avec 127 tests validés</a:t>
              </a:r>
            </a:p>
          </p:txBody>
        </p:sp>
      </p:grpSp>
      <p:grpSp>
        <p:nvGrpSpPr>
          <p:cNvPr name="Group 35" id="35"/>
          <p:cNvGrpSpPr/>
          <p:nvPr/>
        </p:nvGrpSpPr>
        <p:grpSpPr>
          <a:xfrm rot="0">
            <a:off x="1097280" y="9052560"/>
            <a:ext cx="16093440" cy="822960"/>
            <a:chOff x="0" y="0"/>
            <a:chExt cx="21457920" cy="1097280"/>
          </a:xfrm>
        </p:grpSpPr>
        <p:sp>
          <p:nvSpPr>
            <p:cNvPr name="Freeform 36" id="36"/>
            <p:cNvSpPr/>
            <p:nvPr/>
          </p:nvSpPr>
          <p:spPr>
            <a:xfrm flipH="false" flipV="false" rot="0">
              <a:off x="0" y="0"/>
              <a:ext cx="21457920" cy="1097280"/>
            </a:xfrm>
            <a:custGeom>
              <a:avLst/>
              <a:gdLst/>
              <a:ahLst/>
              <a:cxnLst/>
              <a:rect r="r" b="b" t="t" l="l"/>
              <a:pathLst>
                <a:path h="1097280" w="21457920">
                  <a:moveTo>
                    <a:pt x="0" y="0"/>
                  </a:moveTo>
                  <a:lnTo>
                    <a:pt x="21457920" y="0"/>
                  </a:lnTo>
                  <a:lnTo>
                    <a:pt x="21457920" y="1097280"/>
                  </a:lnTo>
                  <a:lnTo>
                    <a:pt x="0" y="1097280"/>
                  </a:lnTo>
                  <a:close/>
                </a:path>
              </a:pathLst>
            </a:custGeom>
            <a:solidFill>
              <a:srgbClr val="2563EB"/>
            </a:solidFill>
          </p:spPr>
          <p:txBody>
            <a:bodyPr/>
            <a:p/>
          </p:txBody>
        </p:sp>
      </p:grpSp>
      <p:grpSp>
        <p:nvGrpSpPr>
          <p:cNvPr name="Group 37" id="37"/>
          <p:cNvGrpSpPr/>
          <p:nvPr/>
        </p:nvGrpSpPr>
        <p:grpSpPr>
          <a:xfrm rot="0">
            <a:off x="1097280" y="9052560"/>
            <a:ext cx="16093440" cy="822960"/>
            <a:chOff x="0" y="0"/>
            <a:chExt cx="21457920" cy="1097280"/>
          </a:xfrm>
        </p:grpSpPr>
        <p:sp>
          <p:nvSpPr>
            <p:cNvPr name="Freeform 38" id="38"/>
            <p:cNvSpPr/>
            <p:nvPr/>
          </p:nvSpPr>
          <p:spPr>
            <a:xfrm flipH="false" flipV="false" rot="0">
              <a:off x="0" y="0"/>
              <a:ext cx="21457920" cy="1097280"/>
            </a:xfrm>
            <a:custGeom>
              <a:avLst/>
              <a:gdLst/>
              <a:ahLst/>
              <a:cxnLst/>
              <a:rect r="r" b="b" t="t" l="l"/>
              <a:pathLst>
                <a:path h="1097280" w="21457920">
                  <a:moveTo>
                    <a:pt x="0" y="0"/>
                  </a:moveTo>
                  <a:lnTo>
                    <a:pt x="21457920" y="0"/>
                  </a:lnTo>
                  <a:lnTo>
                    <a:pt x="21457920" y="1097280"/>
                  </a:lnTo>
                  <a:lnTo>
                    <a:pt x="0" y="1097280"/>
                  </a:lnTo>
                  <a:close/>
                </a:path>
              </a:pathLst>
            </a:custGeom>
            <a:blipFill>
              <a:blip r:embed="rId3">
                <a:alphaModFix amt="0"/>
              </a:blip>
              <a:stretch>
                <a:fillRect l="0" t="-331040" r="0" b="-331040"/>
              </a:stretch>
            </a:blipFill>
          </p:spPr>
          <p:txBody>
            <a:bodyPr/>
            <a:p/>
          </p:txBody>
        </p:sp>
        <p:sp>
          <p:nvSpPr>
            <p:cNvPr name="TextBox 39" id="39"/>
            <p:cNvSpPr txBox="true"/>
            <p:nvPr/>
          </p:nvSpPr>
          <p:spPr>
            <a:xfrm>
              <a:off x="0" y="-57150"/>
              <a:ext cx="21457920" cy="115443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Merci de votre attention  ·  Questions ?</a:t>
              </a:r>
            </a:p>
          </p:txBody>
        </p:sp>
      </p:grpSp>
      <p:sp>
        <p:nvSpPr>
          <p:cNvPr name="TextBox 40" id="4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92608"/>
            <a:chOff x="0" y="0"/>
            <a:chExt cx="24384000" cy="390144"/>
          </a:xfrm>
        </p:grpSpPr>
        <p:sp>
          <p:nvSpPr>
            <p:cNvPr name="Freeform 3" id="3"/>
            <p:cNvSpPr/>
            <p:nvPr/>
          </p:nvSpPr>
          <p:spPr>
            <a:xfrm flipH="false" flipV="false" rot="0">
              <a:off x="0" y="0"/>
              <a:ext cx="24384000" cy="390144"/>
            </a:xfrm>
            <a:custGeom>
              <a:avLst/>
              <a:gdLst/>
              <a:ahLst/>
              <a:cxnLst/>
              <a:rect r="r" b="b" t="t" l="l"/>
              <a:pathLst>
                <a:path h="390144" w="24384000">
                  <a:moveTo>
                    <a:pt x="0" y="0"/>
                  </a:moveTo>
                  <a:lnTo>
                    <a:pt x="24384000" y="0"/>
                  </a:lnTo>
                  <a:lnTo>
                    <a:pt x="24384000" y="390144"/>
                  </a:lnTo>
                  <a:lnTo>
                    <a:pt x="0" y="390144"/>
                  </a:lnTo>
                  <a:close/>
                </a:path>
              </a:pathLst>
            </a:custGeom>
            <a:solidFill>
              <a:srgbClr val="2563EB"/>
            </a:solidFill>
          </p:spPr>
          <p:txBody>
            <a:bodyPr/>
            <a:p/>
          </p:txBody>
        </p:sp>
      </p:grpSp>
      <p:grpSp>
        <p:nvGrpSpPr>
          <p:cNvPr name="Group 4" id="4"/>
          <p:cNvGrpSpPr/>
          <p:nvPr/>
        </p:nvGrpSpPr>
        <p:grpSpPr>
          <a:xfrm rot="0">
            <a:off x="914400" y="64008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txBody>
            <a:bodyPr/>
            <a:p/>
          </p:txBody>
        </p:sp>
        <p:sp>
          <p:nvSpPr>
            <p:cNvPr name="TextBox 6" id="6"/>
            <p:cNvSpPr txBox="true"/>
            <p:nvPr/>
          </p:nvSpPr>
          <p:spPr>
            <a:xfrm>
              <a:off x="0" y="-104775"/>
              <a:ext cx="21945600" cy="1567815"/>
            </a:xfrm>
            <a:prstGeom prst="rect">
              <a:avLst/>
            </a:prstGeom>
          </p:spPr>
          <p:txBody>
            <a:bodyPr anchor="ctr" rtlCol="false" tIns="0" lIns="0" bIns="0" rIns="0"/>
            <a:lstStyle/>
            <a:p>
              <a:pPr algn="l">
                <a:lnSpc>
                  <a:spcPts val="6240"/>
                </a:lnSpc>
              </a:pPr>
              <a:r>
                <a:rPr lang="en-US" sz="5200" b="true">
                  <a:solidFill>
                    <a:srgbClr val="1E3A5F"/>
                  </a:solidFill>
                  <a:latin typeface="Calibri (MS) Bold"/>
                  <a:ea typeface="Calibri (MS) Bold"/>
                  <a:cs typeface="Calibri (MS) Bold"/>
                  <a:sym typeface="Calibri (MS) Bold"/>
                </a:rPr>
                <a:t>Références</a:t>
              </a:r>
            </a:p>
          </p:txBody>
        </p:sp>
      </p:grpSp>
      <p:grpSp>
        <p:nvGrpSpPr>
          <p:cNvPr name="Group 7" id="7"/>
          <p:cNvGrpSpPr/>
          <p:nvPr/>
        </p:nvGrpSpPr>
        <p:grpSpPr>
          <a:xfrm rot="0">
            <a:off x="1097280" y="2432304"/>
            <a:ext cx="1005840" cy="548640"/>
            <a:chOff x="0" y="0"/>
            <a:chExt cx="1341120" cy="731520"/>
          </a:xfrm>
        </p:grpSpPr>
        <p:sp>
          <p:nvSpPr>
            <p:cNvPr name="Freeform 8" id="8"/>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9" id="9"/>
          <p:cNvGrpSpPr/>
          <p:nvPr/>
        </p:nvGrpSpPr>
        <p:grpSpPr>
          <a:xfrm rot="0">
            <a:off x="1097280" y="2432304"/>
            <a:ext cx="1005840" cy="548640"/>
            <a:chOff x="0" y="0"/>
            <a:chExt cx="1341120" cy="731520"/>
          </a:xfrm>
        </p:grpSpPr>
        <p:sp>
          <p:nvSpPr>
            <p:cNvPr name="Freeform 10" id="10"/>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11" id="11"/>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a:t>
              </a:r>
            </a:p>
          </p:txBody>
        </p:sp>
      </p:grpSp>
      <p:grpSp>
        <p:nvGrpSpPr>
          <p:cNvPr name="Group 12" id="12"/>
          <p:cNvGrpSpPr/>
          <p:nvPr/>
        </p:nvGrpSpPr>
        <p:grpSpPr>
          <a:xfrm rot="0">
            <a:off x="2377440" y="2286000"/>
            <a:ext cx="14996160" cy="768096"/>
            <a:chOff x="0" y="0"/>
            <a:chExt cx="19994880" cy="1024128"/>
          </a:xfrm>
        </p:grpSpPr>
        <p:sp>
          <p:nvSpPr>
            <p:cNvPr name="Freeform 13" id="13"/>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14" id="14"/>
            <p:cNvSpPr txBox="true"/>
            <p:nvPr/>
          </p:nvSpPr>
          <p:spPr>
            <a:xfrm>
              <a:off x="0" y="-47625"/>
              <a:ext cx="19994880" cy="1071753"/>
            </a:xfrm>
            <a:prstGeom prst="rect">
              <a:avLst/>
            </a:prstGeom>
          </p:spPr>
          <p:txBody>
            <a:bodyPr anchor="ctr" rtlCol="false" tIns="0" lIns="0" bIns="0" rIns="0"/>
            <a:lstStyle/>
            <a:p>
              <a:pPr algn="l">
                <a:lnSpc>
                  <a:spcPts val="2999"/>
                </a:lnSpc>
              </a:pPr>
              <a:r>
                <a:rPr lang="en-US" sz="2499">
                  <a:solidFill>
                    <a:srgbClr val="1E293B"/>
                  </a:solidFill>
                  <a:latin typeface="Calibri (MS)"/>
                  <a:ea typeface="Calibri (MS)"/>
                  <a:cs typeface="Calibri (MS)"/>
                  <a:sym typeface="Calibri (MS)"/>
                </a:rPr>
                <a:t>FastAPI Documentation — fastapi.tiangolo.com</a:t>
              </a:r>
            </a:p>
          </p:txBody>
        </p:sp>
      </p:grpSp>
      <p:grpSp>
        <p:nvGrpSpPr>
          <p:cNvPr name="Group 15" id="15"/>
          <p:cNvGrpSpPr/>
          <p:nvPr/>
        </p:nvGrpSpPr>
        <p:grpSpPr>
          <a:xfrm rot="0">
            <a:off x="1097280" y="3346704"/>
            <a:ext cx="1005840" cy="548640"/>
            <a:chOff x="0" y="0"/>
            <a:chExt cx="1341120" cy="731520"/>
          </a:xfrm>
        </p:grpSpPr>
        <p:sp>
          <p:nvSpPr>
            <p:cNvPr name="Freeform 16" id="16"/>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17" id="17"/>
          <p:cNvGrpSpPr/>
          <p:nvPr/>
        </p:nvGrpSpPr>
        <p:grpSpPr>
          <a:xfrm rot="0">
            <a:off x="1097280" y="3346704"/>
            <a:ext cx="1005840" cy="548640"/>
            <a:chOff x="0" y="0"/>
            <a:chExt cx="1341120" cy="731520"/>
          </a:xfrm>
        </p:grpSpPr>
        <p:sp>
          <p:nvSpPr>
            <p:cNvPr name="Freeform 18" id="18"/>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19" id="19"/>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[2]</a:t>
              </a:r>
            </a:p>
          </p:txBody>
        </p:sp>
      </p:grpSp>
      <p:grpSp>
        <p:nvGrpSpPr>
          <p:cNvPr name="Group 20" id="20"/>
          <p:cNvGrpSpPr/>
          <p:nvPr/>
        </p:nvGrpSpPr>
        <p:grpSpPr>
          <a:xfrm rot="0">
            <a:off x="2377440" y="3200400"/>
            <a:ext cx="14996160" cy="768096"/>
            <a:chOff x="0" y="0"/>
            <a:chExt cx="19994880" cy="1024128"/>
          </a:xfrm>
        </p:grpSpPr>
        <p:sp>
          <p:nvSpPr>
            <p:cNvPr name="Freeform 21" id="21"/>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22" id="22"/>
            <p:cNvSpPr txBox="true"/>
            <p:nvPr/>
          </p:nvSpPr>
          <p:spPr>
            <a:xfrm>
              <a:off x="0" y="-47625"/>
              <a:ext cx="19994880" cy="1071753"/>
            </a:xfrm>
            <a:prstGeom prst="rect">
              <a:avLst/>
            </a:prstGeom>
          </p:spPr>
          <p:txBody>
            <a:bodyPr anchor="ctr" rtlCol="false" tIns="0" lIns="0" bIns="0" rIns="0"/>
            <a:lstStyle/>
            <a:p>
              <a:pPr algn="l">
                <a:lnSpc>
                  <a:spcPts val="2999"/>
                </a:lnSpc>
              </a:pPr>
              <a:r>
                <a:rPr lang="en-US" sz="2499">
                  <a:solidFill>
                    <a:srgbClr val="1E293B"/>
                  </a:solidFill>
                  <a:latin typeface="Calibri (MS)"/>
                  <a:ea typeface="Calibri (MS)"/>
                  <a:cs typeface="Calibri (MS)"/>
                  <a:sym typeface="Calibri (MS)"/>
                </a:rPr>
                <a:t>Next.js Documentation — nextjs.org/docs</a:t>
              </a:r>
            </a:p>
          </p:txBody>
        </p:sp>
      </p:grpSp>
      <p:grpSp>
        <p:nvGrpSpPr>
          <p:cNvPr name="Group 23" id="23"/>
          <p:cNvGrpSpPr/>
          <p:nvPr/>
        </p:nvGrpSpPr>
        <p:grpSpPr>
          <a:xfrm rot="0">
            <a:off x="1097280" y="4261104"/>
            <a:ext cx="1005840" cy="548640"/>
            <a:chOff x="0" y="0"/>
            <a:chExt cx="1341120" cy="731520"/>
          </a:xfrm>
        </p:grpSpPr>
        <p:sp>
          <p:nvSpPr>
            <p:cNvPr name="Freeform 24" id="24"/>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25" id="25"/>
          <p:cNvGrpSpPr/>
          <p:nvPr/>
        </p:nvGrpSpPr>
        <p:grpSpPr>
          <a:xfrm rot="0">
            <a:off x="1097280" y="4261104"/>
            <a:ext cx="1005840" cy="548640"/>
            <a:chOff x="0" y="0"/>
            <a:chExt cx="1341120" cy="731520"/>
          </a:xfrm>
        </p:grpSpPr>
        <p:sp>
          <p:nvSpPr>
            <p:cNvPr name="Freeform 26" id="26"/>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27" id="27"/>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[3]</a:t>
              </a:r>
            </a:p>
          </p:txBody>
        </p:sp>
      </p:grpSp>
      <p:grpSp>
        <p:nvGrpSpPr>
          <p:cNvPr name="Group 28" id="28"/>
          <p:cNvGrpSpPr/>
          <p:nvPr/>
        </p:nvGrpSpPr>
        <p:grpSpPr>
          <a:xfrm rot="0">
            <a:off x="2377440" y="4114800"/>
            <a:ext cx="14996160" cy="768096"/>
            <a:chOff x="0" y="0"/>
            <a:chExt cx="19994880" cy="1024128"/>
          </a:xfrm>
        </p:grpSpPr>
        <p:sp>
          <p:nvSpPr>
            <p:cNvPr name="Freeform 29" id="29"/>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30" id="30"/>
            <p:cNvSpPr txBox="true"/>
            <p:nvPr/>
          </p:nvSpPr>
          <p:spPr>
            <a:xfrm>
              <a:off x="0" y="-47625"/>
              <a:ext cx="19994880" cy="1071753"/>
            </a:xfrm>
            <a:prstGeom prst="rect">
              <a:avLst/>
            </a:prstGeom>
          </p:spPr>
          <p:txBody>
            <a:bodyPr anchor="ctr" rtlCol="false" tIns="0" lIns="0" bIns="0" rIns="0"/>
            <a:lstStyle/>
            <a:p>
              <a:pPr algn="l">
                <a:lnSpc>
                  <a:spcPts val="2999"/>
                </a:lnSpc>
              </a:pPr>
              <a:r>
                <a:rPr lang="en-US" sz="2499">
                  <a:solidFill>
                    <a:srgbClr val="1E293B"/>
                  </a:solidFill>
                  <a:latin typeface="Calibri (MS)"/>
                  <a:ea typeface="Calibri (MS)"/>
                  <a:cs typeface="Calibri (MS)"/>
                  <a:sym typeface="Calibri (MS)"/>
                </a:rPr>
                <a:t>PostgreSQL Documentation — postgresql.org/docs</a:t>
              </a:r>
            </a:p>
          </p:txBody>
        </p:sp>
      </p:grpSp>
      <p:grpSp>
        <p:nvGrpSpPr>
          <p:cNvPr name="Group 31" id="31"/>
          <p:cNvGrpSpPr/>
          <p:nvPr/>
        </p:nvGrpSpPr>
        <p:grpSpPr>
          <a:xfrm rot="0">
            <a:off x="1097280" y="5175504"/>
            <a:ext cx="1005840" cy="548640"/>
            <a:chOff x="0" y="0"/>
            <a:chExt cx="1341120" cy="731520"/>
          </a:xfrm>
        </p:grpSpPr>
        <p:sp>
          <p:nvSpPr>
            <p:cNvPr name="Freeform 32" id="32"/>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33" id="33"/>
          <p:cNvGrpSpPr/>
          <p:nvPr/>
        </p:nvGrpSpPr>
        <p:grpSpPr>
          <a:xfrm rot="0">
            <a:off x="1097280" y="5175504"/>
            <a:ext cx="1005840" cy="548640"/>
            <a:chOff x="0" y="0"/>
            <a:chExt cx="1341120" cy="731520"/>
          </a:xfrm>
        </p:grpSpPr>
        <p:sp>
          <p:nvSpPr>
            <p:cNvPr name="Freeform 34" id="34"/>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35" id="35"/>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[4]</a:t>
              </a:r>
            </a:p>
          </p:txBody>
        </p:sp>
      </p:grpSp>
      <p:grpSp>
        <p:nvGrpSpPr>
          <p:cNvPr name="Group 36" id="36"/>
          <p:cNvGrpSpPr/>
          <p:nvPr/>
        </p:nvGrpSpPr>
        <p:grpSpPr>
          <a:xfrm rot="0">
            <a:off x="2377440" y="5029200"/>
            <a:ext cx="14996160" cy="768096"/>
            <a:chOff x="0" y="0"/>
            <a:chExt cx="19994880" cy="1024128"/>
          </a:xfrm>
        </p:grpSpPr>
        <p:sp>
          <p:nvSpPr>
            <p:cNvPr name="Freeform 37" id="37"/>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38" id="38"/>
            <p:cNvSpPr txBox="true"/>
            <p:nvPr/>
          </p:nvSpPr>
          <p:spPr>
            <a:xfrm>
              <a:off x="0" y="-47625"/>
              <a:ext cx="19994880" cy="1071753"/>
            </a:xfrm>
            <a:prstGeom prst="rect">
              <a:avLst/>
            </a:prstGeom>
          </p:spPr>
          <p:txBody>
            <a:bodyPr anchor="ctr" rtlCol="false" tIns="0" lIns="0" bIns="0" rIns="0"/>
            <a:lstStyle/>
            <a:p>
              <a:pPr algn="l">
                <a:lnSpc>
                  <a:spcPts val="2999"/>
                </a:lnSpc>
              </a:pPr>
              <a:r>
                <a:rPr lang="en-US" sz="2499">
                  <a:solidFill>
                    <a:srgbClr val="1E293B"/>
                  </a:solidFill>
                  <a:latin typeface="Calibri (MS)"/>
                  <a:ea typeface="Calibri (MS)"/>
                  <a:cs typeface="Calibri (MS)"/>
                  <a:sym typeface="Calibri (MS)"/>
                </a:rPr>
                <a:t>Qdrant Documentation — qdrant.tech/documentation</a:t>
              </a:r>
            </a:p>
          </p:txBody>
        </p:sp>
      </p:grpSp>
      <p:grpSp>
        <p:nvGrpSpPr>
          <p:cNvPr name="Group 39" id="39"/>
          <p:cNvGrpSpPr/>
          <p:nvPr/>
        </p:nvGrpSpPr>
        <p:grpSpPr>
          <a:xfrm rot="0">
            <a:off x="1097280" y="6089904"/>
            <a:ext cx="1005840" cy="548640"/>
            <a:chOff x="0" y="0"/>
            <a:chExt cx="1341120" cy="731520"/>
          </a:xfrm>
        </p:grpSpPr>
        <p:sp>
          <p:nvSpPr>
            <p:cNvPr name="Freeform 40" id="40"/>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41" id="41"/>
          <p:cNvGrpSpPr/>
          <p:nvPr/>
        </p:nvGrpSpPr>
        <p:grpSpPr>
          <a:xfrm rot="0">
            <a:off x="1097280" y="6089904"/>
            <a:ext cx="1005840" cy="548640"/>
            <a:chOff x="0" y="0"/>
            <a:chExt cx="1341120" cy="731520"/>
          </a:xfrm>
        </p:grpSpPr>
        <p:sp>
          <p:nvSpPr>
            <p:cNvPr name="Freeform 42" id="42"/>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43" id="43"/>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[5]</a:t>
              </a:r>
            </a:p>
          </p:txBody>
        </p:sp>
      </p:grpSp>
      <p:grpSp>
        <p:nvGrpSpPr>
          <p:cNvPr name="Group 44" id="44"/>
          <p:cNvGrpSpPr/>
          <p:nvPr/>
        </p:nvGrpSpPr>
        <p:grpSpPr>
          <a:xfrm rot="0">
            <a:off x="2377440" y="5943600"/>
            <a:ext cx="14996160" cy="768096"/>
            <a:chOff x="0" y="0"/>
            <a:chExt cx="19994880" cy="1024128"/>
          </a:xfrm>
        </p:grpSpPr>
        <p:sp>
          <p:nvSpPr>
            <p:cNvPr name="Freeform 45" id="45"/>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46" id="46"/>
            <p:cNvSpPr txBox="true"/>
            <p:nvPr/>
          </p:nvSpPr>
          <p:spPr>
            <a:xfrm>
              <a:off x="0" y="-47625"/>
              <a:ext cx="19994880" cy="1071753"/>
            </a:xfrm>
            <a:prstGeom prst="rect">
              <a:avLst/>
            </a:prstGeom>
          </p:spPr>
          <p:txBody>
            <a:bodyPr anchor="ctr" rtlCol="false" tIns="0" lIns="0" bIns="0" rIns="0"/>
            <a:lstStyle/>
            <a:p>
              <a:pPr algn="l">
                <a:lnSpc>
                  <a:spcPts val="2999"/>
                </a:lnSpc>
              </a:pPr>
              <a:r>
                <a:rPr lang="en-US" sz="2499">
                  <a:solidFill>
                    <a:srgbClr val="1E293B"/>
                  </a:solidFill>
                  <a:latin typeface="Calibri (MS)"/>
                  <a:ea typeface="Calibri (MS)"/>
                  <a:cs typeface="Calibri (MS)"/>
                  <a:sym typeface="Calibri (MS)"/>
                </a:rPr>
                <a:t>Groq Cloud Documentation — console.groq.com/docs</a:t>
              </a:r>
            </a:p>
          </p:txBody>
        </p:sp>
      </p:grpSp>
      <p:grpSp>
        <p:nvGrpSpPr>
          <p:cNvPr name="Group 47" id="47"/>
          <p:cNvGrpSpPr/>
          <p:nvPr/>
        </p:nvGrpSpPr>
        <p:grpSpPr>
          <a:xfrm rot="0">
            <a:off x="1097280" y="7004304"/>
            <a:ext cx="1005840" cy="548640"/>
            <a:chOff x="0" y="0"/>
            <a:chExt cx="1341120" cy="731520"/>
          </a:xfrm>
        </p:grpSpPr>
        <p:sp>
          <p:nvSpPr>
            <p:cNvPr name="Freeform 48" id="48"/>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49" id="49"/>
          <p:cNvGrpSpPr/>
          <p:nvPr/>
        </p:nvGrpSpPr>
        <p:grpSpPr>
          <a:xfrm rot="0">
            <a:off x="1097280" y="7004304"/>
            <a:ext cx="1005840" cy="548640"/>
            <a:chOff x="0" y="0"/>
            <a:chExt cx="1341120" cy="731520"/>
          </a:xfrm>
        </p:grpSpPr>
        <p:sp>
          <p:nvSpPr>
            <p:cNvPr name="Freeform 50" id="50"/>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51" id="51"/>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[6]</a:t>
              </a:r>
            </a:p>
          </p:txBody>
        </p:sp>
      </p:grpSp>
      <p:grpSp>
        <p:nvGrpSpPr>
          <p:cNvPr name="Group 52" id="52"/>
          <p:cNvGrpSpPr/>
          <p:nvPr/>
        </p:nvGrpSpPr>
        <p:grpSpPr>
          <a:xfrm rot="0">
            <a:off x="2377440" y="6858000"/>
            <a:ext cx="14996160" cy="768096"/>
            <a:chOff x="0" y="0"/>
            <a:chExt cx="19994880" cy="1024128"/>
          </a:xfrm>
        </p:grpSpPr>
        <p:sp>
          <p:nvSpPr>
            <p:cNvPr name="Freeform 53" id="53"/>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54" id="54"/>
            <p:cNvSpPr txBox="true"/>
            <p:nvPr/>
          </p:nvSpPr>
          <p:spPr>
            <a:xfrm>
              <a:off x="0" y="-47625"/>
              <a:ext cx="19994880" cy="1071753"/>
            </a:xfrm>
            <a:prstGeom prst="rect">
              <a:avLst/>
            </a:prstGeom>
          </p:spPr>
          <p:txBody>
            <a:bodyPr anchor="ctr" rtlCol="false" tIns="0" lIns="0" bIns="0" rIns="0"/>
            <a:lstStyle/>
            <a:p>
              <a:r>
                <a:t>RAGAS - arxiv.org/abs/2309.15217</a:t>
              </a:r>
            </a:p>
          </p:txBody>
        </p:sp>
      </p:grpSp>
      <p:grpSp>
        <p:nvGrpSpPr>
          <p:cNvPr name="Group 55" id="55"/>
          <p:cNvGrpSpPr/>
          <p:nvPr/>
        </p:nvGrpSpPr>
        <p:grpSpPr>
          <a:xfrm rot="0">
            <a:off x="1097280" y="7918704"/>
            <a:ext cx="1005840" cy="548640"/>
            <a:chOff x="0" y="0"/>
            <a:chExt cx="1341120" cy="731520"/>
          </a:xfrm>
        </p:grpSpPr>
        <p:sp>
          <p:nvSpPr>
            <p:cNvPr name="Freeform 56" id="56"/>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57" id="57"/>
          <p:cNvGrpSpPr/>
          <p:nvPr/>
        </p:nvGrpSpPr>
        <p:grpSpPr>
          <a:xfrm rot="0">
            <a:off x="1097280" y="7918704"/>
            <a:ext cx="1005840" cy="548640"/>
            <a:chOff x="0" y="0"/>
            <a:chExt cx="1341120" cy="731520"/>
          </a:xfrm>
        </p:grpSpPr>
        <p:sp>
          <p:nvSpPr>
            <p:cNvPr name="Freeform 58" id="58"/>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59" id="59"/>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[7]</a:t>
              </a:r>
            </a:p>
          </p:txBody>
        </p:sp>
      </p:grpSp>
      <p:grpSp>
        <p:nvGrpSpPr>
          <p:cNvPr name="Group 60" id="60"/>
          <p:cNvGrpSpPr/>
          <p:nvPr/>
        </p:nvGrpSpPr>
        <p:grpSpPr>
          <a:xfrm rot="0">
            <a:off x="2377440" y="7772400"/>
            <a:ext cx="14996160" cy="768096"/>
            <a:chOff x="0" y="0"/>
            <a:chExt cx="19994880" cy="1024128"/>
          </a:xfrm>
        </p:grpSpPr>
        <p:sp>
          <p:nvSpPr>
            <p:cNvPr name="Freeform 61" id="61"/>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62" id="62"/>
            <p:cNvSpPr txBox="true"/>
            <p:nvPr/>
          </p:nvSpPr>
          <p:spPr>
            <a:xfrm>
              <a:off x="0" y="-47625"/>
              <a:ext cx="19994880" cy="1071753"/>
            </a:xfrm>
            <a:prstGeom prst="rect">
              <a:avLst/>
            </a:prstGeom>
          </p:spPr>
          <p:txBody>
            <a:bodyPr anchor="ctr" rtlCol="false" tIns="0" lIns="0" bIns="0" rIns="0"/>
            <a:lstStyle/>
            <a:p>
              <a:pPr algn="l">
                <a:lnSpc>
                  <a:spcPts val="2999"/>
                </a:lnSpc>
              </a:pPr>
              <a:r>
                <a:rPr lang="en-US" sz="2499">
                  <a:solidFill>
                    <a:srgbClr val="1E293B"/>
                  </a:solidFill>
                  <a:latin typeface="Calibri (MS)"/>
                  <a:ea typeface="Calibri (MS)"/>
                  <a:cs typeface="Calibri (MS)"/>
                  <a:sym typeface="Calibri (MS)"/>
                </a:rPr>
                <a:t>OWASP Top Ten — owasp.org/www-project-top-ten</a:t>
              </a:r>
            </a:p>
          </p:txBody>
        </p:sp>
      </p:grpSp>
      <p:grpSp>
        <p:nvGrpSpPr>
          <p:cNvPr name="Group 63" id="63"/>
          <p:cNvGrpSpPr/>
          <p:nvPr/>
        </p:nvGrpSpPr>
        <p:grpSpPr>
          <a:xfrm rot="0">
            <a:off x="1097280" y="8833104"/>
            <a:ext cx="1005840" cy="548640"/>
            <a:chOff x="0" y="0"/>
            <a:chExt cx="1341120" cy="731520"/>
          </a:xfrm>
        </p:grpSpPr>
        <p:sp>
          <p:nvSpPr>
            <p:cNvPr name="Freeform 64" id="64"/>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solidFill>
              <a:srgbClr val="2563EB"/>
            </a:solidFill>
          </p:spPr>
          <p:txBody>
            <a:bodyPr/>
            <a:p/>
          </p:txBody>
        </p:sp>
      </p:grpSp>
      <p:grpSp>
        <p:nvGrpSpPr>
          <p:cNvPr name="Group 65" id="65"/>
          <p:cNvGrpSpPr/>
          <p:nvPr/>
        </p:nvGrpSpPr>
        <p:grpSpPr>
          <a:xfrm rot="0">
            <a:off x="1097280" y="8833104"/>
            <a:ext cx="1005840" cy="548640"/>
            <a:chOff x="0" y="0"/>
            <a:chExt cx="1341120" cy="731520"/>
          </a:xfrm>
        </p:grpSpPr>
        <p:sp>
          <p:nvSpPr>
            <p:cNvPr name="Freeform 66" id="66"/>
            <p:cNvSpPr/>
            <p:nvPr/>
          </p:nvSpPr>
          <p:spPr>
            <a:xfrm flipH="false" flipV="false" rot="0">
              <a:off x="0" y="0"/>
              <a:ext cx="1341120" cy="731520"/>
            </a:xfrm>
            <a:custGeom>
              <a:avLst/>
              <a:gdLst/>
              <a:ahLst/>
              <a:cxnLst/>
              <a:rect r="r" b="b" t="t" l="l"/>
              <a:pathLst>
                <a:path h="731520" w="1341120">
                  <a:moveTo>
                    <a:pt x="0" y="0"/>
                  </a:moveTo>
                  <a:lnTo>
                    <a:pt x="1341120" y="0"/>
                  </a:lnTo>
                  <a:lnTo>
                    <a:pt x="1341120" y="731520"/>
                  </a:lnTo>
                  <a:lnTo>
                    <a:pt x="0" y="731520"/>
                  </a:lnTo>
                  <a:close/>
                </a:path>
              </a:pathLst>
            </a:custGeom>
            <a:blipFill>
              <a:blip r:embed="rId3">
                <a:alphaModFix amt="0"/>
              </a:blip>
              <a:stretch>
                <a:fillRect l="-19983" t="0" r="-19983" b="0"/>
              </a:stretch>
            </a:blipFill>
          </p:spPr>
          <p:txBody>
            <a:bodyPr/>
            <a:p/>
          </p:txBody>
        </p:sp>
        <p:sp>
          <p:nvSpPr>
            <p:cNvPr name="TextBox 67" id="67"/>
            <p:cNvSpPr txBox="true"/>
            <p:nvPr/>
          </p:nvSpPr>
          <p:spPr>
            <a:xfrm>
              <a:off x="0" y="-38100"/>
              <a:ext cx="13411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[8]</a:t>
              </a:r>
            </a:p>
          </p:txBody>
        </p:sp>
      </p:grpSp>
      <p:grpSp>
        <p:nvGrpSpPr>
          <p:cNvPr name="Group 68" id="68"/>
          <p:cNvGrpSpPr/>
          <p:nvPr/>
        </p:nvGrpSpPr>
        <p:grpSpPr>
          <a:xfrm rot="0">
            <a:off x="2377440" y="8686800"/>
            <a:ext cx="14996160" cy="768096"/>
            <a:chOff x="0" y="0"/>
            <a:chExt cx="19994880" cy="1024128"/>
          </a:xfrm>
        </p:grpSpPr>
        <p:sp>
          <p:nvSpPr>
            <p:cNvPr name="Freeform 69" id="69"/>
            <p:cNvSpPr/>
            <p:nvPr/>
          </p:nvSpPr>
          <p:spPr>
            <a:xfrm flipH="false" flipV="false" rot="0">
              <a:off x="0" y="0"/>
              <a:ext cx="19994880" cy="1024128"/>
            </a:xfrm>
            <a:custGeom>
              <a:avLst/>
              <a:gdLst/>
              <a:ahLst/>
              <a:cxnLst/>
              <a:rect r="r" b="b" t="t" l="l"/>
              <a:pathLst>
                <a:path h="1024128" w="19994880">
                  <a:moveTo>
                    <a:pt x="0" y="0"/>
                  </a:moveTo>
                  <a:lnTo>
                    <a:pt x="19994880" y="0"/>
                  </a:lnTo>
                  <a:lnTo>
                    <a:pt x="19994880" y="1024128"/>
                  </a:lnTo>
                  <a:lnTo>
                    <a:pt x="0" y="1024128"/>
                  </a:lnTo>
                  <a:close/>
                </a:path>
              </a:pathLst>
            </a:custGeom>
            <a:blipFill>
              <a:blip r:embed="rId3">
                <a:alphaModFix amt="0"/>
              </a:blip>
              <a:stretch>
                <a:fillRect l="0" t="-330422" r="0" b="-330422"/>
              </a:stretch>
            </a:blipFill>
          </p:spPr>
          <p:txBody>
            <a:bodyPr/>
            <a:p/>
          </p:txBody>
        </p:sp>
        <p:sp>
          <p:nvSpPr>
            <p:cNvPr name="TextBox 70" id="70"/>
            <p:cNvSpPr txBox="true"/>
            <p:nvPr/>
          </p:nvSpPr>
          <p:spPr>
            <a:xfrm>
              <a:off x="0" y="-47625"/>
              <a:ext cx="19994880" cy="1071753"/>
            </a:xfrm>
            <a:prstGeom prst="rect">
              <a:avLst/>
            </a:prstGeom>
          </p:spPr>
          <p:txBody>
            <a:bodyPr anchor="ctr" rtlCol="false" tIns="0" lIns="0" bIns="0" rIns="0"/>
            <a:lstStyle/>
            <a:p>
              <a:r>
                <a:t>RGPD + loi marocaine 09-08 / CNDP</a:t>
              </a:r>
            </a:p>
          </p:txBody>
        </p:sp>
      </p:grpSp>
      <p:grpSp>
        <p:nvGrpSpPr>
          <p:cNvPr name="Group 71" id="71"/>
          <p:cNvGrpSpPr/>
          <p:nvPr/>
        </p:nvGrpSpPr>
        <p:grpSpPr>
          <a:xfrm rot="0">
            <a:off x="914400" y="9692640"/>
            <a:ext cx="16459200" cy="457200"/>
            <a:chOff x="0" y="0"/>
            <a:chExt cx="21945600" cy="609600"/>
          </a:xfrm>
        </p:grpSpPr>
        <p:sp>
          <p:nvSpPr>
            <p:cNvPr name="Freeform 72" id="72"/>
            <p:cNvSpPr/>
            <p:nvPr/>
          </p:nvSpPr>
          <p:spPr>
            <a:xfrm flipH="false" flipV="false" rot="0">
              <a:off x="0" y="0"/>
              <a:ext cx="21945600" cy="609600"/>
            </a:xfrm>
            <a:custGeom>
              <a:avLst/>
              <a:gdLst/>
              <a:ahLst/>
              <a:cxnLst/>
              <a:rect r="r" b="b" t="t" l="l"/>
              <a:pathLst>
                <a:path h="609600" w="21945600">
                  <a:moveTo>
                    <a:pt x="0" y="0"/>
                  </a:moveTo>
                  <a:lnTo>
                    <a:pt x="21945600" y="0"/>
                  </a:lnTo>
                  <a:lnTo>
                    <a:pt x="21945600" y="609600"/>
                  </a:lnTo>
                  <a:lnTo>
                    <a:pt x="0" y="609600"/>
                  </a:lnTo>
                  <a:close/>
                </a:path>
              </a:pathLst>
            </a:custGeom>
            <a:blipFill>
              <a:blip r:embed="rId3">
                <a:alphaModFix amt="0"/>
              </a:blip>
              <a:stretch>
                <a:fillRect l="0" t="-651461" r="0" b="-651461"/>
              </a:stretch>
            </a:blipFill>
          </p:spPr>
          <p:txBody>
            <a:bodyPr/>
            <a:p/>
          </p:txBody>
        </p:sp>
        <p:sp>
          <p:nvSpPr>
            <p:cNvPr name="TextBox 73" id="73"/>
            <p:cNvSpPr txBox="true"/>
            <p:nvPr/>
          </p:nvSpPr>
          <p:spPr>
            <a:xfrm>
              <a:off x="0" y="-38100"/>
              <a:ext cx="21945600" cy="647700"/>
            </a:xfrm>
            <a:prstGeom prst="rect">
              <a:avLst/>
            </a:prstGeom>
          </p:spPr>
          <p:txBody>
            <a:bodyPr anchor="ctr" rtlCol="false" tIns="0" lIns="0" bIns="0" rIns="0"/>
            <a:lstStyle/>
            <a:p>
              <a:r>
                <a:t>Toutes les ressources consultées en mai 2026</a:t>
              </a:r>
            </a:p>
          </p:txBody>
        </p:sp>
      </p:grpSp>
      <p:sp>
        <p:nvSpPr>
          <p:cNvPr name="TextBox 74" id="74"/>
          <p:cNvSpPr txBox="true"/>
          <p:nvPr/>
        </p:nvSpPr>
        <p:spPr>
          <a:xfrm rot="0">
            <a:off x="17259300" y="9210675"/>
            <a:ext cx="152400" cy="200025"/>
          </a:xfrm>
          <a:prstGeom prst="rect">
            <a:avLst/>
          </a:prstGeom>
        </p:spPr>
        <p:txBody>
          <a:bodyPr anchor="t" rtlCol="false" tIns="0" lIns="0" bIns="0" rIns="0" wrap="none">
            <a:spAutoFit/>
          </a:bodyPr>
          <a:lstStyle/>
          <a:p>
            <a:r>
              <a:t>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DAHJiDxaNzg</dc:identifier>
  <dcterms:modified xsi:type="dcterms:W3CDTF">2011-08-01T06:04:30Z</dcterms:modified>
  <cp:revision>1</cp:revision>
  <dc:title>Chatbot_USMS_Presentation.pptx</dc:title>
</cp:coreProperties>
</file>